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54" r:id="rId1"/>
  </p:sldMasterIdLst>
  <p:notesMasterIdLst>
    <p:notesMasterId r:id="rId30"/>
  </p:notesMasterIdLst>
  <p:sldIdLst>
    <p:sldId id="335" r:id="rId2"/>
    <p:sldId id="361" r:id="rId3"/>
    <p:sldId id="263" r:id="rId4"/>
    <p:sldId id="336" r:id="rId5"/>
    <p:sldId id="337" r:id="rId6"/>
    <p:sldId id="338" r:id="rId7"/>
    <p:sldId id="339" r:id="rId8"/>
    <p:sldId id="340" r:id="rId9"/>
    <p:sldId id="341" r:id="rId10"/>
    <p:sldId id="342" r:id="rId11"/>
    <p:sldId id="343" r:id="rId12"/>
    <p:sldId id="344" r:id="rId13"/>
    <p:sldId id="358" r:id="rId14"/>
    <p:sldId id="345" r:id="rId15"/>
    <p:sldId id="346" r:id="rId16"/>
    <p:sldId id="347" r:id="rId17"/>
    <p:sldId id="348" r:id="rId18"/>
    <p:sldId id="349" r:id="rId19"/>
    <p:sldId id="350" r:id="rId20"/>
    <p:sldId id="351" r:id="rId21"/>
    <p:sldId id="352" r:id="rId22"/>
    <p:sldId id="353" r:id="rId23"/>
    <p:sldId id="354" r:id="rId24"/>
    <p:sldId id="355" r:id="rId25"/>
    <p:sldId id="356" r:id="rId26"/>
    <p:sldId id="357" r:id="rId27"/>
    <p:sldId id="360" r:id="rId28"/>
    <p:sldId id="359" r:id="rId29"/>
  </p:sldIdLst>
  <p:sldSz cx="4610100" cy="3460750"/>
  <p:notesSz cx="4610100" cy="3460750"/>
  <p:custDataLst>
    <p:tags r:id="rId3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145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409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3544" autoAdjust="0"/>
  </p:normalViewPr>
  <p:slideViewPr>
    <p:cSldViewPr>
      <p:cViewPr varScale="1">
        <p:scale>
          <a:sx n="120" d="100"/>
          <a:sy n="120" d="100"/>
        </p:scale>
        <p:origin x="2011" y="72"/>
      </p:cViewPr>
      <p:guideLst>
        <p:guide orient="horz" pos="2880"/>
        <p:guide pos="1452"/>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gs" Target="tags/tag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1997075" cy="17303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2611438" y="0"/>
            <a:ext cx="1997075" cy="173038"/>
          </a:xfrm>
          <a:prstGeom prst="rect">
            <a:avLst/>
          </a:prstGeom>
        </p:spPr>
        <p:txBody>
          <a:bodyPr vert="horz" lIns="91440" tIns="45720" rIns="91440" bIns="45720" rtlCol="0"/>
          <a:lstStyle>
            <a:lvl1pPr algn="r">
              <a:defRPr sz="1200"/>
            </a:lvl1pPr>
          </a:lstStyle>
          <a:p>
            <a:fld id="{E3966DC4-B854-4385-9AE2-AEACC9CB556E}" type="datetimeFigureOut">
              <a:rPr lang="zh-CN" altLang="en-US" smtClean="0"/>
              <a:t>2025/11/18</a:t>
            </a:fld>
            <a:endParaRPr lang="zh-CN" altLang="en-US"/>
          </a:p>
        </p:txBody>
      </p:sp>
      <p:sp>
        <p:nvSpPr>
          <p:cNvPr id="4" name="幻灯片图像占位符 3"/>
          <p:cNvSpPr>
            <a:spLocks noGrp="1" noRot="1" noChangeAspect="1"/>
          </p:cNvSpPr>
          <p:nvPr>
            <p:ph type="sldImg" idx="2"/>
          </p:nvPr>
        </p:nvSpPr>
        <p:spPr>
          <a:xfrm>
            <a:off x="1527175" y="433388"/>
            <a:ext cx="1555750" cy="1166812"/>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460375" y="1665288"/>
            <a:ext cx="3689350" cy="1363662"/>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3287713"/>
            <a:ext cx="1997075" cy="17303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2611438" y="3287713"/>
            <a:ext cx="1997075" cy="173037"/>
          </a:xfrm>
          <a:prstGeom prst="rect">
            <a:avLst/>
          </a:prstGeom>
        </p:spPr>
        <p:txBody>
          <a:bodyPr vert="horz" lIns="91440" tIns="45720" rIns="91440" bIns="45720" rtlCol="0" anchor="b"/>
          <a:lstStyle>
            <a:lvl1pPr algn="r">
              <a:defRPr sz="1200"/>
            </a:lvl1pPr>
          </a:lstStyle>
          <a:p>
            <a:fld id="{1009F718-866D-47D2-8F9B-C4950FA0C7F0}" type="slidenum">
              <a:rPr lang="zh-CN" altLang="en-US" smtClean="0"/>
              <a:t>‹#›</a:t>
            </a:fld>
            <a:endParaRPr lang="zh-CN" altLang="en-US"/>
          </a:p>
        </p:txBody>
      </p:sp>
    </p:spTree>
    <p:extLst>
      <p:ext uri="{BB962C8B-B14F-4D97-AF65-F5344CB8AC3E}">
        <p14:creationId xmlns:p14="http://schemas.microsoft.com/office/powerpoint/2010/main" val="33873158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009F718-866D-47D2-8F9B-C4950FA0C7F0}" type="slidenum">
              <a:rPr lang="zh-CN" altLang="en-US" smtClean="0"/>
              <a:t>1</a:t>
            </a:fld>
            <a:endParaRPr lang="zh-CN" altLang="en-US"/>
          </a:p>
        </p:txBody>
      </p:sp>
    </p:spTree>
    <p:extLst>
      <p:ext uri="{BB962C8B-B14F-4D97-AF65-F5344CB8AC3E}">
        <p14:creationId xmlns:p14="http://schemas.microsoft.com/office/powerpoint/2010/main" val="32817007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dirty="0"/>
              <a:t>也可以叫重采样</a:t>
            </a:r>
          </a:p>
          <a:p>
            <a:endParaRPr lang="zh-CN" altLang="en-US" dirty="0"/>
          </a:p>
        </p:txBody>
      </p:sp>
      <p:sp>
        <p:nvSpPr>
          <p:cNvPr id="4" name="灯片编号占位符 3"/>
          <p:cNvSpPr>
            <a:spLocks noGrp="1"/>
          </p:cNvSpPr>
          <p:nvPr>
            <p:ph type="sldNum" sz="quarter" idx="5"/>
          </p:nvPr>
        </p:nvSpPr>
        <p:spPr/>
        <p:txBody>
          <a:bodyPr/>
          <a:lstStyle/>
          <a:p>
            <a:fld id="{B7279C98-257E-402F-ADE5-6A467BCAA4F0}" type="slidenum">
              <a:rPr lang="zh-CN" altLang="en-US" smtClean="0"/>
              <a:t>13</a:t>
            </a:fld>
            <a:endParaRPr lang="zh-CN" altLang="en-US"/>
          </a:p>
        </p:txBody>
      </p:sp>
    </p:spTree>
    <p:extLst>
      <p:ext uri="{BB962C8B-B14F-4D97-AF65-F5344CB8AC3E}">
        <p14:creationId xmlns:p14="http://schemas.microsoft.com/office/powerpoint/2010/main" val="41896276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托马斯</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贝叶斯（</a:t>
            </a:r>
            <a:r>
              <a:rPr lang="en-US" altLang="zh-CN" sz="1200" b="0" i="0" kern="1200" dirty="0">
                <a:solidFill>
                  <a:schemeClr val="tx1"/>
                </a:solidFill>
                <a:effectLst/>
                <a:latin typeface="+mn-lt"/>
                <a:ea typeface="+mn-ea"/>
                <a:cs typeface="+mn-cs"/>
              </a:rPr>
              <a:t>Thomas Bayes</a:t>
            </a:r>
            <a:r>
              <a:rPr lang="zh-CN" altLang="en-US" sz="1200" b="0" i="0" kern="1200" dirty="0">
                <a:solidFill>
                  <a:schemeClr val="tx1"/>
                </a:solidFill>
                <a:effectLst/>
                <a:latin typeface="+mn-lt"/>
                <a:ea typeface="+mn-ea"/>
                <a:cs typeface="+mn-cs"/>
              </a:rPr>
              <a:t>，约</a:t>
            </a:r>
            <a:r>
              <a:rPr lang="en-US" altLang="zh-CN" sz="1200" b="0" i="0" kern="1200" dirty="0">
                <a:solidFill>
                  <a:schemeClr val="tx1"/>
                </a:solidFill>
                <a:effectLst/>
                <a:latin typeface="+mn-lt"/>
                <a:ea typeface="+mn-ea"/>
                <a:cs typeface="+mn-cs"/>
              </a:rPr>
              <a:t>1702</a:t>
            </a:r>
            <a:r>
              <a:rPr lang="zh-CN" altLang="en-US" sz="1200" b="0" i="0" kern="1200" dirty="0">
                <a:solidFill>
                  <a:schemeClr val="tx1"/>
                </a:solidFill>
                <a:effectLst/>
                <a:latin typeface="+mn-lt"/>
                <a:ea typeface="+mn-ea"/>
                <a:cs typeface="+mn-cs"/>
              </a:rPr>
              <a:t>年－</a:t>
            </a:r>
            <a:r>
              <a:rPr lang="en-US" altLang="zh-CN" sz="1200" b="0" i="0" kern="1200" dirty="0">
                <a:solidFill>
                  <a:schemeClr val="tx1"/>
                </a:solidFill>
                <a:effectLst/>
                <a:latin typeface="+mn-lt"/>
                <a:ea typeface="+mn-ea"/>
                <a:cs typeface="+mn-cs"/>
              </a:rPr>
              <a:t>1761</a:t>
            </a:r>
            <a:r>
              <a:rPr lang="zh-CN" altLang="en-US" sz="1200" b="0" i="0" kern="1200" dirty="0">
                <a:solidFill>
                  <a:schemeClr val="tx1"/>
                </a:solidFill>
                <a:effectLst/>
                <a:latin typeface="+mn-lt"/>
                <a:ea typeface="+mn-ea"/>
                <a:cs typeface="+mn-cs"/>
              </a:rPr>
              <a:t>年</a:t>
            </a:r>
            <a:r>
              <a:rPr lang="en-US" altLang="zh-CN" sz="1200" b="0" i="0" kern="1200" dirty="0">
                <a:solidFill>
                  <a:schemeClr val="tx1"/>
                </a:solidFill>
                <a:effectLst/>
                <a:latin typeface="+mn-lt"/>
                <a:ea typeface="+mn-ea"/>
                <a:cs typeface="+mn-cs"/>
              </a:rPr>
              <a:t>4</a:t>
            </a:r>
            <a:r>
              <a:rPr lang="zh-CN" altLang="en-US" sz="1200" b="0" i="0" kern="1200" dirty="0">
                <a:solidFill>
                  <a:schemeClr val="tx1"/>
                </a:solidFill>
                <a:effectLst/>
                <a:latin typeface="+mn-lt"/>
                <a:ea typeface="+mn-ea"/>
                <a:cs typeface="+mn-cs"/>
              </a:rPr>
              <a:t>月</a:t>
            </a:r>
            <a:r>
              <a:rPr lang="en-US" altLang="zh-CN" sz="1200" b="0" i="0" kern="1200" dirty="0">
                <a:solidFill>
                  <a:schemeClr val="tx1"/>
                </a:solidFill>
                <a:effectLst/>
                <a:latin typeface="+mn-lt"/>
                <a:ea typeface="+mn-ea"/>
                <a:cs typeface="+mn-cs"/>
              </a:rPr>
              <a:t>7</a:t>
            </a:r>
            <a:r>
              <a:rPr lang="zh-CN" altLang="en-US" sz="1200" b="0" i="0" kern="1200" dirty="0">
                <a:solidFill>
                  <a:schemeClr val="tx1"/>
                </a:solidFill>
                <a:effectLst/>
                <a:latin typeface="+mn-lt"/>
                <a:ea typeface="+mn-ea"/>
                <a:cs typeface="+mn-cs"/>
              </a:rPr>
              <a:t>日），</a:t>
            </a:r>
            <a:r>
              <a:rPr lang="en-US" altLang="zh-CN" sz="1200" b="0" i="0" kern="1200" dirty="0">
                <a:solidFill>
                  <a:schemeClr val="tx1"/>
                </a:solidFill>
                <a:effectLst/>
                <a:latin typeface="+mn-lt"/>
                <a:ea typeface="+mn-ea"/>
                <a:cs typeface="+mn-cs"/>
              </a:rPr>
              <a:t>18</a:t>
            </a:r>
            <a:r>
              <a:rPr lang="zh-CN" altLang="en-US" sz="1200" b="0" i="0" kern="1200" dirty="0">
                <a:solidFill>
                  <a:schemeClr val="tx1"/>
                </a:solidFill>
                <a:effectLst/>
                <a:latin typeface="+mn-lt"/>
                <a:ea typeface="+mn-ea"/>
                <a:cs typeface="+mn-cs"/>
              </a:rPr>
              <a:t>世纪英国数学家。</a:t>
            </a:r>
            <a:r>
              <a:rPr lang="en-US" altLang="zh-CN" sz="1200" b="0" i="0" kern="1200" dirty="0">
                <a:solidFill>
                  <a:schemeClr val="tx1"/>
                </a:solidFill>
                <a:effectLst/>
                <a:latin typeface="+mn-lt"/>
                <a:ea typeface="+mn-ea"/>
                <a:cs typeface="+mn-cs"/>
              </a:rPr>
              <a:t>1742</a:t>
            </a:r>
            <a:r>
              <a:rPr lang="zh-CN" altLang="en-US" sz="1200" b="0" i="0" kern="1200" dirty="0">
                <a:solidFill>
                  <a:schemeClr val="tx1"/>
                </a:solidFill>
                <a:effectLst/>
                <a:latin typeface="+mn-lt"/>
                <a:ea typeface="+mn-ea"/>
                <a:cs typeface="+mn-cs"/>
              </a:rPr>
              <a:t>年成为英国皇家学会会员。</a:t>
            </a:r>
          </a:p>
          <a:p>
            <a:r>
              <a:rPr lang="zh-CN" altLang="en-US" sz="1200" b="1" i="0" kern="1200" dirty="0">
                <a:solidFill>
                  <a:schemeClr val="tx1"/>
                </a:solidFill>
                <a:effectLst/>
                <a:latin typeface="+mn-lt"/>
                <a:ea typeface="+mn-ea"/>
                <a:cs typeface="+mn-cs"/>
              </a:rPr>
              <a:t>贝叶斯以其在概率论领域的研究闻名于世</a:t>
            </a:r>
            <a:r>
              <a:rPr lang="zh-CN" altLang="en-US" sz="1200" b="0" i="0" kern="1200" dirty="0">
                <a:solidFill>
                  <a:schemeClr val="tx1"/>
                </a:solidFill>
                <a:effectLst/>
                <a:latin typeface="+mn-lt"/>
                <a:ea typeface="+mn-ea"/>
                <a:cs typeface="+mn-cs"/>
              </a:rPr>
              <a:t>，他提出的贝叶斯定理对于现代概率论和数理统计的发展有重要的影响。他还曾在长老会担任牧师。</a:t>
            </a:r>
          </a:p>
          <a:p>
            <a:r>
              <a:rPr lang="zh-CN" altLang="en-US" sz="1200" b="1" i="0" kern="1200" dirty="0">
                <a:solidFill>
                  <a:schemeClr val="tx1"/>
                </a:solidFill>
                <a:effectLst/>
                <a:latin typeface="+mn-lt"/>
                <a:ea typeface="+mn-ea"/>
                <a:cs typeface="+mn-cs"/>
              </a:rPr>
              <a:t>贝叶斯定理</a:t>
            </a:r>
            <a:endParaRPr lang="zh-CN" altLang="en-US" sz="1200" b="0" i="0" kern="1200" dirty="0">
              <a:solidFill>
                <a:schemeClr val="tx1"/>
              </a:solidFill>
              <a:effectLst/>
              <a:latin typeface="+mn-lt"/>
              <a:ea typeface="+mn-ea"/>
              <a:cs typeface="+mn-cs"/>
            </a:endParaRPr>
          </a:p>
          <a:p>
            <a:r>
              <a:rPr lang="zh-CN" altLang="en-US" sz="1200" b="1" i="0" kern="1200" dirty="0">
                <a:solidFill>
                  <a:schemeClr val="tx1"/>
                </a:solidFill>
                <a:effectLst/>
                <a:latin typeface="+mn-lt"/>
                <a:ea typeface="+mn-ea"/>
                <a:cs typeface="+mn-cs"/>
              </a:rPr>
              <a:t>贝叶斯定理（</a:t>
            </a:r>
            <a:r>
              <a:rPr lang="en-US" altLang="zh-CN" sz="1200" b="1" i="0" kern="1200" dirty="0">
                <a:solidFill>
                  <a:schemeClr val="tx1"/>
                </a:solidFill>
                <a:effectLst/>
                <a:latin typeface="+mn-lt"/>
                <a:ea typeface="+mn-ea"/>
                <a:cs typeface="+mn-cs"/>
              </a:rPr>
              <a:t>Bayes' theorem</a:t>
            </a:r>
            <a:r>
              <a:rPr lang="zh-CN" altLang="en-US" sz="1200" b="1" i="0" kern="1200" dirty="0">
                <a:solidFill>
                  <a:schemeClr val="tx1"/>
                </a:solidFill>
                <a:effectLst/>
                <a:latin typeface="+mn-lt"/>
                <a:ea typeface="+mn-ea"/>
                <a:cs typeface="+mn-cs"/>
              </a:rPr>
              <a:t>）是概率论中的一个定理，描述在已知一些条件下，某事件的发生机率</a:t>
            </a:r>
            <a:r>
              <a:rPr lang="zh-CN" altLang="en-US" sz="1200" b="0" i="0" kern="1200" dirty="0">
                <a:solidFill>
                  <a:schemeClr val="tx1"/>
                </a:solidFill>
                <a:effectLst/>
                <a:latin typeface="+mn-lt"/>
                <a:ea typeface="+mn-ea"/>
                <a:cs typeface="+mn-cs"/>
              </a:rPr>
              <a:t>。</a:t>
            </a:r>
          </a:p>
          <a:p>
            <a:r>
              <a:rPr lang="zh-CN" altLang="en-US" sz="1200" b="0" i="0" kern="1200" dirty="0">
                <a:solidFill>
                  <a:schemeClr val="tx1"/>
                </a:solidFill>
                <a:effectLst/>
                <a:latin typeface="+mn-lt"/>
                <a:ea typeface="+mn-ea"/>
                <a:cs typeface="+mn-cs"/>
              </a:rPr>
              <a:t>比如，如果已知某癌症与寿命有关，使用贝叶斯定理则可以通过得知某人年龄，来更加准确地计算出他罹患癌症的机率。</a:t>
            </a:r>
          </a:p>
          <a:p>
            <a:r>
              <a:rPr lang="zh-CN" altLang="en-US" sz="1200" b="0" i="0" kern="1200" dirty="0">
                <a:solidFill>
                  <a:schemeClr val="tx1"/>
                </a:solidFill>
                <a:effectLst/>
                <a:latin typeface="+mn-lt"/>
                <a:ea typeface="+mn-ea"/>
                <a:cs typeface="+mn-cs"/>
              </a:rPr>
              <a:t>通常，事件</a:t>
            </a:r>
            <a:r>
              <a:rPr lang="en-US" altLang="zh-CN" sz="1200" b="0" i="0" kern="1200" dirty="0">
                <a:solidFill>
                  <a:schemeClr val="tx1"/>
                </a:solidFill>
                <a:effectLst/>
                <a:latin typeface="+mn-lt"/>
                <a:ea typeface="+mn-ea"/>
                <a:cs typeface="+mn-cs"/>
              </a:rPr>
              <a:t>A</a:t>
            </a:r>
            <a:r>
              <a:rPr lang="zh-CN" altLang="en-US" sz="1200" b="0" i="0" kern="1200" dirty="0">
                <a:solidFill>
                  <a:schemeClr val="tx1"/>
                </a:solidFill>
                <a:effectLst/>
                <a:latin typeface="+mn-lt"/>
                <a:ea typeface="+mn-ea"/>
                <a:cs typeface="+mn-cs"/>
              </a:rPr>
              <a:t>在事件</a:t>
            </a:r>
            <a:r>
              <a:rPr lang="en-US" altLang="zh-CN" sz="1200" b="0" i="0" kern="1200" dirty="0">
                <a:solidFill>
                  <a:schemeClr val="tx1"/>
                </a:solidFill>
                <a:effectLst/>
                <a:latin typeface="+mn-lt"/>
                <a:ea typeface="+mn-ea"/>
                <a:cs typeface="+mn-cs"/>
              </a:rPr>
              <a:t>B</a:t>
            </a:r>
            <a:r>
              <a:rPr lang="zh-CN" altLang="en-US" sz="1200" b="0" i="0" kern="1200" dirty="0">
                <a:solidFill>
                  <a:schemeClr val="tx1"/>
                </a:solidFill>
                <a:effectLst/>
                <a:latin typeface="+mn-lt"/>
                <a:ea typeface="+mn-ea"/>
                <a:cs typeface="+mn-cs"/>
              </a:rPr>
              <a:t>已发生的条件下发生的机率，与事件</a:t>
            </a:r>
            <a:r>
              <a:rPr lang="en-US" altLang="zh-CN" sz="1200" b="0" i="0" kern="1200" dirty="0">
                <a:solidFill>
                  <a:schemeClr val="tx1"/>
                </a:solidFill>
                <a:effectLst/>
                <a:latin typeface="+mn-lt"/>
                <a:ea typeface="+mn-ea"/>
                <a:cs typeface="+mn-cs"/>
              </a:rPr>
              <a:t>B</a:t>
            </a:r>
            <a:r>
              <a:rPr lang="zh-CN" altLang="en-US" sz="1200" b="0" i="0" kern="1200" dirty="0">
                <a:solidFill>
                  <a:schemeClr val="tx1"/>
                </a:solidFill>
                <a:effectLst/>
                <a:latin typeface="+mn-lt"/>
                <a:ea typeface="+mn-ea"/>
                <a:cs typeface="+mn-cs"/>
              </a:rPr>
              <a:t>在事件</a:t>
            </a:r>
            <a:r>
              <a:rPr lang="en-US" altLang="zh-CN" sz="1200" b="0" i="0" kern="1200" dirty="0">
                <a:solidFill>
                  <a:schemeClr val="tx1"/>
                </a:solidFill>
                <a:effectLst/>
                <a:latin typeface="+mn-lt"/>
                <a:ea typeface="+mn-ea"/>
                <a:cs typeface="+mn-cs"/>
              </a:rPr>
              <a:t>A</a:t>
            </a:r>
            <a:r>
              <a:rPr lang="zh-CN" altLang="en-US" sz="1200" b="0" i="0" kern="1200" dirty="0">
                <a:solidFill>
                  <a:schemeClr val="tx1"/>
                </a:solidFill>
                <a:effectLst/>
                <a:latin typeface="+mn-lt"/>
                <a:ea typeface="+mn-ea"/>
                <a:cs typeface="+mn-cs"/>
              </a:rPr>
              <a:t>已发生的条件下发生的机率是不一样的。然而，这两者是有确定的关系的，贝叶斯定理就是这种关系的陈述。</a:t>
            </a:r>
          </a:p>
          <a:p>
            <a:endParaRPr lang="zh-CN" altLang="en-US" dirty="0"/>
          </a:p>
          <a:p>
            <a:endParaRPr lang="zh-CN" altLang="en-US" dirty="0"/>
          </a:p>
        </p:txBody>
      </p:sp>
      <p:sp>
        <p:nvSpPr>
          <p:cNvPr id="4" name="灯片编号占位符 3"/>
          <p:cNvSpPr>
            <a:spLocks noGrp="1"/>
          </p:cNvSpPr>
          <p:nvPr>
            <p:ph type="sldNum" sz="quarter" idx="5"/>
          </p:nvPr>
        </p:nvSpPr>
        <p:spPr/>
        <p:txBody>
          <a:bodyPr/>
          <a:lstStyle/>
          <a:p>
            <a:fld id="{1009F718-866D-47D2-8F9B-C4950FA0C7F0}" type="slidenum">
              <a:rPr lang="zh-CN" altLang="en-US" smtClean="0"/>
              <a:t>15</a:t>
            </a:fld>
            <a:endParaRPr lang="zh-CN" altLang="en-US"/>
          </a:p>
        </p:txBody>
      </p:sp>
    </p:spTree>
    <p:extLst>
      <p:ext uri="{BB962C8B-B14F-4D97-AF65-F5344CB8AC3E}">
        <p14:creationId xmlns:p14="http://schemas.microsoft.com/office/powerpoint/2010/main" val="24748463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约翰</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卡尔</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弗里德里希</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高斯（</a:t>
            </a:r>
            <a:r>
              <a:rPr lang="en-US" altLang="zh-CN" sz="1200" b="0" i="0" kern="1200" dirty="0">
                <a:solidFill>
                  <a:schemeClr val="tx1"/>
                </a:solidFill>
                <a:effectLst/>
                <a:latin typeface="+mn-lt"/>
                <a:ea typeface="+mn-ea"/>
                <a:cs typeface="+mn-cs"/>
              </a:rPr>
              <a:t>Johann Karl Friedrich </a:t>
            </a:r>
            <a:r>
              <a:rPr lang="en-US" altLang="zh-CN" sz="1200" b="0" i="0" kern="1200" dirty="0" err="1">
                <a:solidFill>
                  <a:schemeClr val="tx1"/>
                </a:solidFill>
                <a:effectLst/>
                <a:latin typeface="+mn-lt"/>
                <a:ea typeface="+mn-ea"/>
                <a:cs typeface="+mn-cs"/>
              </a:rPr>
              <a:t>Gauß</a:t>
            </a:r>
            <a:r>
              <a:rPr lang="zh-CN" altLang="en-US" sz="1200" b="0" i="0" kern="1200" dirty="0">
                <a:solidFill>
                  <a:schemeClr val="tx1"/>
                </a:solidFill>
                <a:effectLst/>
                <a:latin typeface="+mn-lt"/>
                <a:ea typeface="+mn-ea"/>
                <a:cs typeface="+mn-cs"/>
              </a:rPr>
              <a:t>， </a:t>
            </a:r>
            <a:r>
              <a:rPr lang="en-US" altLang="zh-CN" sz="1200" b="0" i="0" kern="1200" dirty="0">
                <a:solidFill>
                  <a:schemeClr val="tx1"/>
                </a:solidFill>
                <a:effectLst/>
                <a:latin typeface="+mn-lt"/>
                <a:ea typeface="+mn-ea"/>
                <a:cs typeface="+mn-cs"/>
              </a:rPr>
              <a:t>1777</a:t>
            </a:r>
            <a:r>
              <a:rPr lang="zh-CN" altLang="en-US" sz="1200" b="0" i="0" kern="1200" dirty="0">
                <a:solidFill>
                  <a:schemeClr val="tx1"/>
                </a:solidFill>
                <a:effectLst/>
                <a:latin typeface="+mn-lt"/>
                <a:ea typeface="+mn-ea"/>
                <a:cs typeface="+mn-cs"/>
              </a:rPr>
              <a:t>年</a:t>
            </a:r>
            <a:r>
              <a:rPr lang="en-US" altLang="zh-CN" sz="1200" b="0" i="0" kern="1200" dirty="0">
                <a:solidFill>
                  <a:schemeClr val="tx1"/>
                </a:solidFill>
                <a:effectLst/>
                <a:latin typeface="+mn-lt"/>
                <a:ea typeface="+mn-ea"/>
                <a:cs typeface="+mn-cs"/>
              </a:rPr>
              <a:t>4</a:t>
            </a:r>
            <a:r>
              <a:rPr lang="zh-CN" altLang="en-US" sz="1200" b="0" i="0" kern="1200" dirty="0">
                <a:solidFill>
                  <a:schemeClr val="tx1"/>
                </a:solidFill>
                <a:effectLst/>
                <a:latin typeface="+mn-lt"/>
                <a:ea typeface="+mn-ea"/>
                <a:cs typeface="+mn-cs"/>
              </a:rPr>
              <a:t>月</a:t>
            </a:r>
            <a:r>
              <a:rPr lang="en-US" altLang="zh-CN" sz="1200" b="0" i="0" kern="1200" dirty="0">
                <a:solidFill>
                  <a:schemeClr val="tx1"/>
                </a:solidFill>
                <a:effectLst/>
                <a:latin typeface="+mn-lt"/>
                <a:ea typeface="+mn-ea"/>
                <a:cs typeface="+mn-cs"/>
              </a:rPr>
              <a:t>30</a:t>
            </a:r>
            <a:r>
              <a:rPr lang="zh-CN" altLang="en-US" sz="1200" b="0" i="0" kern="1200" dirty="0">
                <a:solidFill>
                  <a:schemeClr val="tx1"/>
                </a:solidFill>
                <a:effectLst/>
                <a:latin typeface="+mn-lt"/>
                <a:ea typeface="+mn-ea"/>
                <a:cs typeface="+mn-cs"/>
              </a:rPr>
              <a:t>日－</a:t>
            </a:r>
            <a:r>
              <a:rPr lang="en-US" altLang="zh-CN" sz="1200" b="0" i="0" kern="1200" dirty="0">
                <a:solidFill>
                  <a:schemeClr val="tx1"/>
                </a:solidFill>
                <a:effectLst/>
                <a:latin typeface="+mn-lt"/>
                <a:ea typeface="+mn-ea"/>
                <a:cs typeface="+mn-cs"/>
              </a:rPr>
              <a:t>1855</a:t>
            </a:r>
            <a:r>
              <a:rPr lang="zh-CN" altLang="en-US" sz="1200" b="0" i="0" kern="1200" dirty="0">
                <a:solidFill>
                  <a:schemeClr val="tx1"/>
                </a:solidFill>
                <a:effectLst/>
                <a:latin typeface="+mn-lt"/>
                <a:ea typeface="+mn-ea"/>
                <a:cs typeface="+mn-cs"/>
              </a:rPr>
              <a:t>年</a:t>
            </a:r>
            <a:r>
              <a:rPr lang="en-US" altLang="zh-CN" sz="1200" b="0" i="0" kern="1200" dirty="0">
                <a:solidFill>
                  <a:schemeClr val="tx1"/>
                </a:solidFill>
                <a:effectLst/>
                <a:latin typeface="+mn-lt"/>
                <a:ea typeface="+mn-ea"/>
                <a:cs typeface="+mn-cs"/>
              </a:rPr>
              <a:t>2</a:t>
            </a:r>
            <a:r>
              <a:rPr lang="zh-CN" altLang="en-US" sz="1200" b="0" i="0" kern="1200" dirty="0">
                <a:solidFill>
                  <a:schemeClr val="tx1"/>
                </a:solidFill>
                <a:effectLst/>
                <a:latin typeface="+mn-lt"/>
                <a:ea typeface="+mn-ea"/>
                <a:cs typeface="+mn-cs"/>
              </a:rPr>
              <a:t>月</a:t>
            </a:r>
            <a:r>
              <a:rPr lang="en-US" altLang="zh-CN" sz="1200" b="0" i="0" kern="1200" dirty="0">
                <a:solidFill>
                  <a:schemeClr val="tx1"/>
                </a:solidFill>
                <a:effectLst/>
                <a:latin typeface="+mn-lt"/>
                <a:ea typeface="+mn-ea"/>
                <a:cs typeface="+mn-cs"/>
              </a:rPr>
              <a:t>23</a:t>
            </a:r>
            <a:r>
              <a:rPr lang="zh-CN" altLang="en-US" sz="1200" b="0" i="0" kern="1200" dirty="0">
                <a:solidFill>
                  <a:schemeClr val="tx1"/>
                </a:solidFill>
                <a:effectLst/>
                <a:latin typeface="+mn-lt"/>
                <a:ea typeface="+mn-ea"/>
                <a:cs typeface="+mn-cs"/>
              </a:rPr>
              <a:t>日）， 德国数学家、物理学家、天文学家、大地测量学家，生于布伦瑞克，卒于哥廷根。</a:t>
            </a:r>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b="1" i="0" kern="1200" dirty="0" smtClean="0">
                <a:solidFill>
                  <a:schemeClr val="tx1"/>
                </a:solidFill>
                <a:effectLst/>
                <a:latin typeface="+mn-lt"/>
                <a:ea typeface="+mn-ea"/>
                <a:cs typeface="+mn-cs"/>
              </a:rPr>
              <a:t>最小二乘法高斯被认为是历史上最重要的数学家之一，并有「数学王子」的美誉</a:t>
            </a:r>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18</a:t>
            </a:r>
            <a:r>
              <a:rPr lang="zh-CN" altLang="en-US" sz="1200" b="0" i="0" kern="1200" dirty="0" smtClean="0">
                <a:solidFill>
                  <a:schemeClr val="tx1"/>
                </a:solidFill>
                <a:effectLst/>
                <a:latin typeface="+mn-lt"/>
                <a:ea typeface="+mn-ea"/>
                <a:cs typeface="+mn-cs"/>
              </a:rPr>
              <a:t>岁的高斯发现了最小二乘法，并猜测了质数定理。高斯发现，通过对足够多的测量数据的处理后，可以得到一个新的、概率性质的测量结果。在这些基础之上，高斯随后专注于曲面与曲线的计算，并成功得到高斯钟形曲线（正态分布曲线）。其函数被命名为标准正态分布（或高斯分布），并在概率计算中大量使用。</a:t>
            </a:r>
          </a:p>
          <a:p>
            <a:endParaRPr lang="zh-CN" altLang="en-US" sz="1200" b="0" i="0" kern="1200" dirty="0">
              <a:solidFill>
                <a:schemeClr val="tx1"/>
              </a:solidFill>
              <a:effectLst/>
              <a:latin typeface="+mn-lt"/>
              <a:ea typeface="+mn-ea"/>
              <a:cs typeface="+mn-cs"/>
            </a:endParaRPr>
          </a:p>
          <a:p>
            <a:r>
              <a:rPr lang="zh-CN" altLang="en-US" sz="1200" b="1" i="0" kern="1200" dirty="0">
                <a:solidFill>
                  <a:schemeClr val="tx1"/>
                </a:solidFill>
                <a:effectLst/>
                <a:latin typeface="+mn-lt"/>
                <a:ea typeface="+mn-ea"/>
                <a:cs typeface="+mn-cs"/>
              </a:rPr>
              <a:t>最小二乘法（</a:t>
            </a:r>
            <a:r>
              <a:rPr lang="en-US" altLang="zh-CN" sz="1200" b="1" i="0" kern="1200" dirty="0">
                <a:solidFill>
                  <a:schemeClr val="tx1"/>
                </a:solidFill>
                <a:effectLst/>
                <a:latin typeface="+mn-lt"/>
                <a:ea typeface="+mn-ea"/>
                <a:cs typeface="+mn-cs"/>
              </a:rPr>
              <a:t>least squares method</a:t>
            </a:r>
            <a:r>
              <a:rPr lang="zh-CN" altLang="en-US" sz="1200" b="1" i="0" kern="1200" dirty="0">
                <a:solidFill>
                  <a:schemeClr val="tx1"/>
                </a:solidFill>
                <a:effectLst/>
                <a:latin typeface="+mn-lt"/>
                <a:ea typeface="+mn-ea"/>
                <a:cs typeface="+mn-cs"/>
              </a:rPr>
              <a:t>），又称最小平方法，是一种数学优化方法。</a:t>
            </a:r>
            <a:r>
              <a:rPr lang="zh-CN" altLang="en-US" sz="1200" b="0" i="0" kern="1200" dirty="0">
                <a:solidFill>
                  <a:schemeClr val="tx1"/>
                </a:solidFill>
                <a:effectLst/>
                <a:latin typeface="+mn-lt"/>
                <a:ea typeface="+mn-ea"/>
                <a:cs typeface="+mn-cs"/>
              </a:rPr>
              <a:t>它通过最小化误差的平方和寻找数据的最佳函数匹配。利用最小二乘法可以简便的求得未知的数据，并使得求得的数据与实际数据之间误差的平方和为最小。</a:t>
            </a:r>
          </a:p>
          <a:p>
            <a:r>
              <a:rPr lang="zh-CN" altLang="en-US" sz="1200" b="1" i="0" kern="1200" dirty="0">
                <a:solidFill>
                  <a:schemeClr val="tx1"/>
                </a:solidFill>
                <a:effectLst/>
                <a:latin typeface="+mn-lt"/>
                <a:ea typeface="+mn-ea"/>
                <a:cs typeface="+mn-cs"/>
              </a:rPr>
              <a:t>正态分布</a:t>
            </a:r>
            <a:endParaRPr lang="zh-CN" altLang="en-US" sz="1200" b="0" i="0" kern="1200" dirty="0">
              <a:solidFill>
                <a:schemeClr val="tx1"/>
              </a:solidFill>
              <a:effectLst/>
              <a:latin typeface="+mn-lt"/>
              <a:ea typeface="+mn-ea"/>
              <a:cs typeface="+mn-cs"/>
            </a:endParaRPr>
          </a:p>
          <a:p>
            <a:r>
              <a:rPr lang="zh-CN" altLang="en-US" sz="1200" b="1" i="0" kern="1200" dirty="0">
                <a:solidFill>
                  <a:schemeClr val="tx1"/>
                </a:solidFill>
                <a:effectLst/>
                <a:latin typeface="+mn-lt"/>
                <a:ea typeface="+mn-ea"/>
                <a:cs typeface="+mn-cs"/>
              </a:rPr>
              <a:t>正态分布（</a:t>
            </a:r>
            <a:r>
              <a:rPr lang="en-US" altLang="zh-CN" sz="1200" b="1" i="0" kern="1200" dirty="0">
                <a:solidFill>
                  <a:schemeClr val="tx1"/>
                </a:solidFill>
                <a:effectLst/>
                <a:latin typeface="+mn-lt"/>
                <a:ea typeface="+mn-ea"/>
                <a:cs typeface="+mn-cs"/>
              </a:rPr>
              <a:t>normal distribution</a:t>
            </a:r>
            <a:r>
              <a:rPr lang="zh-CN" altLang="en-US" sz="1200" b="1" i="0" kern="1200" dirty="0">
                <a:solidFill>
                  <a:schemeClr val="tx1"/>
                </a:solidFill>
                <a:effectLst/>
                <a:latin typeface="+mn-lt"/>
                <a:ea typeface="+mn-ea"/>
                <a:cs typeface="+mn-cs"/>
              </a:rPr>
              <a:t>）又名高斯分布（</a:t>
            </a:r>
            <a:r>
              <a:rPr lang="en-US" altLang="zh-CN" sz="1200" b="1" i="0" kern="1200" dirty="0">
                <a:solidFill>
                  <a:schemeClr val="tx1"/>
                </a:solidFill>
                <a:effectLst/>
                <a:latin typeface="+mn-lt"/>
                <a:ea typeface="+mn-ea"/>
                <a:cs typeface="+mn-cs"/>
              </a:rPr>
              <a:t>Gaussian distribution</a:t>
            </a:r>
            <a:r>
              <a:rPr lang="zh-CN" altLang="en-US" sz="1200" b="1" i="0" kern="1200" dirty="0">
                <a:solidFill>
                  <a:schemeClr val="tx1"/>
                </a:solidFill>
                <a:effectLst/>
                <a:latin typeface="+mn-lt"/>
                <a:ea typeface="+mn-ea"/>
                <a:cs typeface="+mn-cs"/>
              </a:rPr>
              <a:t>），是一个非常常见的连续机率分布。</a:t>
            </a:r>
            <a:r>
              <a:rPr lang="zh-CN" altLang="en-US" sz="1200" b="0" i="0" kern="1200" dirty="0">
                <a:solidFill>
                  <a:schemeClr val="tx1"/>
                </a:solidFill>
                <a:effectLst/>
                <a:latin typeface="+mn-lt"/>
                <a:ea typeface="+mn-ea"/>
                <a:cs typeface="+mn-cs"/>
              </a:rPr>
              <a:t>正态分布在统计学上十分重要，经常用在自然和社会科学来代表一个不明的随机变量。正态曲线呈钟型，两头低，中间高，左右对称，因其曲线呈钟形，因此人们又经常称之为</a:t>
            </a:r>
            <a:r>
              <a:rPr lang="zh-CN" altLang="en-US" sz="1200" b="1" i="0" kern="1200" dirty="0">
                <a:solidFill>
                  <a:schemeClr val="tx1"/>
                </a:solidFill>
                <a:effectLst/>
                <a:latin typeface="+mn-lt"/>
                <a:ea typeface="+mn-ea"/>
                <a:cs typeface="+mn-cs"/>
              </a:rPr>
              <a:t>钟形曲线</a:t>
            </a:r>
            <a:r>
              <a:rPr lang="zh-CN" altLang="en-US" sz="1200" b="0" i="0" kern="1200" dirty="0">
                <a:solidFill>
                  <a:schemeClr val="tx1"/>
                </a:solidFill>
                <a:effectLst/>
                <a:latin typeface="+mn-lt"/>
                <a:ea typeface="+mn-ea"/>
                <a:cs typeface="+mn-cs"/>
              </a:rPr>
              <a:t>。</a:t>
            </a:r>
          </a:p>
          <a:p>
            <a:r>
              <a:rPr lang="zh-CN" altLang="en-US" sz="1200" b="0" i="0" kern="1200" dirty="0">
                <a:solidFill>
                  <a:schemeClr val="tx1"/>
                </a:solidFill>
                <a:effectLst/>
                <a:latin typeface="+mn-lt"/>
                <a:ea typeface="+mn-ea"/>
                <a:cs typeface="+mn-cs"/>
              </a:rPr>
              <a:t>若随机变量</a:t>
            </a:r>
            <a:r>
              <a:rPr lang="en-US" altLang="zh-CN" sz="1200" b="0" i="0" kern="1200" dirty="0">
                <a:solidFill>
                  <a:schemeClr val="tx1"/>
                </a:solidFill>
                <a:effectLst/>
                <a:latin typeface="+mn-lt"/>
                <a:ea typeface="+mn-ea"/>
                <a:cs typeface="+mn-cs"/>
              </a:rPr>
              <a:t>X</a:t>
            </a:r>
            <a:r>
              <a:rPr lang="zh-CN" altLang="en-US" sz="1200" b="0" i="0" kern="1200" dirty="0">
                <a:solidFill>
                  <a:schemeClr val="tx1"/>
                </a:solidFill>
                <a:effectLst/>
                <a:latin typeface="+mn-lt"/>
                <a:ea typeface="+mn-ea"/>
                <a:cs typeface="+mn-cs"/>
              </a:rPr>
              <a:t>服从一个数学期望为</a:t>
            </a:r>
            <a:r>
              <a:rPr lang="en-US" altLang="zh-CN" sz="1200" b="0" i="0" kern="1200" dirty="0">
                <a:solidFill>
                  <a:schemeClr val="tx1"/>
                </a:solidFill>
                <a:effectLst/>
                <a:latin typeface="+mn-lt"/>
                <a:ea typeface="+mn-ea"/>
                <a:cs typeface="+mn-cs"/>
              </a:rPr>
              <a:t>μ</a:t>
            </a:r>
            <a:r>
              <a:rPr lang="zh-CN" altLang="en-US" sz="1200" b="0" i="0" kern="1200" dirty="0">
                <a:solidFill>
                  <a:schemeClr val="tx1"/>
                </a:solidFill>
                <a:effectLst/>
                <a:latin typeface="+mn-lt"/>
                <a:ea typeface="+mn-ea"/>
                <a:cs typeface="+mn-cs"/>
              </a:rPr>
              <a:t>、方差为</a:t>
            </a:r>
            <a:r>
              <a:rPr lang="en-US" altLang="zh-CN" sz="1200" b="0" i="0" kern="1200" dirty="0">
                <a:solidFill>
                  <a:schemeClr val="tx1"/>
                </a:solidFill>
                <a:effectLst/>
                <a:latin typeface="+mn-lt"/>
                <a:ea typeface="+mn-ea"/>
                <a:cs typeface="+mn-cs"/>
              </a:rPr>
              <a:t>σ^2</a:t>
            </a:r>
            <a:r>
              <a:rPr lang="zh-CN" altLang="en-US" sz="1200" b="0" i="0" kern="1200" dirty="0">
                <a:solidFill>
                  <a:schemeClr val="tx1"/>
                </a:solidFill>
                <a:effectLst/>
                <a:latin typeface="+mn-lt"/>
                <a:ea typeface="+mn-ea"/>
                <a:cs typeface="+mn-cs"/>
              </a:rPr>
              <a:t>的正态分布，记为</a:t>
            </a:r>
            <a:r>
              <a:rPr lang="en-US" altLang="zh-CN" sz="1200" b="0" i="0" kern="1200" dirty="0">
                <a:solidFill>
                  <a:schemeClr val="tx1"/>
                </a:solidFill>
                <a:effectLst/>
                <a:latin typeface="+mn-lt"/>
                <a:ea typeface="+mn-ea"/>
                <a:cs typeface="+mn-cs"/>
              </a:rPr>
              <a:t>N(μ</a:t>
            </a:r>
            <a:r>
              <a:rPr lang="zh-CN" altLang="en-US" sz="1200" b="0" i="0" kern="1200" dirty="0">
                <a:solidFill>
                  <a:schemeClr val="tx1"/>
                </a:solidFill>
                <a:effectLst/>
                <a:latin typeface="+mn-lt"/>
                <a:ea typeface="+mn-ea"/>
                <a:cs typeface="+mn-cs"/>
              </a:rPr>
              <a:t>，</a:t>
            </a:r>
            <a:r>
              <a:rPr lang="en-US" altLang="zh-CN" sz="1200" b="0" i="0" kern="1200" dirty="0">
                <a:solidFill>
                  <a:schemeClr val="tx1"/>
                </a:solidFill>
                <a:effectLst/>
                <a:latin typeface="+mn-lt"/>
                <a:ea typeface="+mn-ea"/>
                <a:cs typeface="+mn-cs"/>
              </a:rPr>
              <a:t>σ^2)</a:t>
            </a:r>
            <a:r>
              <a:rPr lang="zh-CN" altLang="en-US" sz="1200" b="0" i="0" kern="1200" dirty="0">
                <a:solidFill>
                  <a:schemeClr val="tx1"/>
                </a:solidFill>
                <a:effectLst/>
                <a:latin typeface="+mn-lt"/>
                <a:ea typeface="+mn-ea"/>
                <a:cs typeface="+mn-cs"/>
              </a:rPr>
              <a:t>。其概率密度函数为正态分布。期望值</a:t>
            </a:r>
            <a:r>
              <a:rPr lang="en-US" altLang="zh-CN" sz="1200" b="0" i="0" kern="1200" dirty="0">
                <a:solidFill>
                  <a:schemeClr val="tx1"/>
                </a:solidFill>
                <a:effectLst/>
                <a:latin typeface="+mn-lt"/>
                <a:ea typeface="+mn-ea"/>
                <a:cs typeface="+mn-cs"/>
              </a:rPr>
              <a:t>μ</a:t>
            </a:r>
            <a:r>
              <a:rPr lang="zh-CN" altLang="en-US" sz="1200" b="0" i="0" kern="1200" dirty="0">
                <a:solidFill>
                  <a:schemeClr val="tx1"/>
                </a:solidFill>
                <a:effectLst/>
                <a:latin typeface="+mn-lt"/>
                <a:ea typeface="+mn-ea"/>
                <a:cs typeface="+mn-cs"/>
              </a:rPr>
              <a:t>决定了其位置，其标准差</a:t>
            </a:r>
            <a:r>
              <a:rPr lang="en-US" altLang="zh-CN" sz="1200" b="0" i="0" kern="1200" dirty="0">
                <a:solidFill>
                  <a:schemeClr val="tx1"/>
                </a:solidFill>
                <a:effectLst/>
                <a:latin typeface="+mn-lt"/>
                <a:ea typeface="+mn-ea"/>
                <a:cs typeface="+mn-cs"/>
              </a:rPr>
              <a:t>σ</a:t>
            </a:r>
            <a:r>
              <a:rPr lang="zh-CN" altLang="en-US" sz="1200" b="0" i="0" kern="1200" dirty="0">
                <a:solidFill>
                  <a:schemeClr val="tx1"/>
                </a:solidFill>
                <a:effectLst/>
                <a:latin typeface="+mn-lt"/>
                <a:ea typeface="+mn-ea"/>
                <a:cs typeface="+mn-cs"/>
              </a:rPr>
              <a:t>决定了分布的幅度。当</a:t>
            </a:r>
            <a:r>
              <a:rPr lang="en-US" altLang="zh-CN" sz="1200" b="0" i="0" kern="1200" dirty="0">
                <a:solidFill>
                  <a:schemeClr val="tx1"/>
                </a:solidFill>
                <a:effectLst/>
                <a:latin typeface="+mn-lt"/>
                <a:ea typeface="+mn-ea"/>
                <a:cs typeface="+mn-cs"/>
              </a:rPr>
              <a:t>μ = 0,σ = 1</a:t>
            </a:r>
            <a:r>
              <a:rPr lang="zh-CN" altLang="en-US" sz="1200" b="0" i="0" kern="1200" dirty="0">
                <a:solidFill>
                  <a:schemeClr val="tx1"/>
                </a:solidFill>
                <a:effectLst/>
                <a:latin typeface="+mn-lt"/>
                <a:ea typeface="+mn-ea"/>
                <a:cs typeface="+mn-cs"/>
              </a:rPr>
              <a:t>时的正态分布是标准正态分布。</a:t>
            </a:r>
          </a:p>
          <a:p>
            <a:endParaRPr lang="zh-CN" altLang="en-US" dirty="0"/>
          </a:p>
          <a:p>
            <a:endParaRPr lang="zh-CN" altLang="en-US" dirty="0"/>
          </a:p>
        </p:txBody>
      </p:sp>
      <p:sp>
        <p:nvSpPr>
          <p:cNvPr id="4" name="灯片编号占位符 3"/>
          <p:cNvSpPr>
            <a:spLocks noGrp="1"/>
          </p:cNvSpPr>
          <p:nvPr>
            <p:ph type="sldNum" sz="quarter" idx="5"/>
          </p:nvPr>
        </p:nvSpPr>
        <p:spPr/>
        <p:txBody>
          <a:bodyPr/>
          <a:lstStyle/>
          <a:p>
            <a:fld id="{1009F718-866D-47D2-8F9B-C4950FA0C7F0}" type="slidenum">
              <a:rPr lang="zh-CN" altLang="en-US" smtClean="0"/>
              <a:t>16</a:t>
            </a:fld>
            <a:endParaRPr lang="zh-CN" altLang="en-US"/>
          </a:p>
        </p:txBody>
      </p:sp>
    </p:spTree>
    <p:extLst>
      <p:ext uri="{BB962C8B-B14F-4D97-AF65-F5344CB8AC3E}">
        <p14:creationId xmlns:p14="http://schemas.microsoft.com/office/powerpoint/2010/main" val="10768934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卡尔</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皮尔逊（</a:t>
            </a:r>
            <a:r>
              <a:rPr lang="en-US" altLang="zh-CN" sz="1200" b="0" i="0" kern="1200" dirty="0">
                <a:solidFill>
                  <a:schemeClr val="tx1"/>
                </a:solidFill>
                <a:effectLst/>
                <a:latin typeface="+mn-lt"/>
                <a:ea typeface="+mn-ea"/>
                <a:cs typeface="+mn-cs"/>
              </a:rPr>
              <a:t>Karl Pearson</a:t>
            </a:r>
            <a:r>
              <a:rPr lang="zh-CN" altLang="en-US" sz="1200" b="0" i="0" kern="1200" dirty="0">
                <a:solidFill>
                  <a:schemeClr val="tx1"/>
                </a:solidFill>
                <a:effectLst/>
                <a:latin typeface="+mn-lt"/>
                <a:ea typeface="+mn-ea"/>
                <a:cs typeface="+mn-cs"/>
              </a:rPr>
              <a:t>，</a:t>
            </a:r>
            <a:r>
              <a:rPr lang="en-US" altLang="zh-CN" sz="1200" b="0" i="0" kern="1200" dirty="0">
                <a:solidFill>
                  <a:schemeClr val="tx1"/>
                </a:solidFill>
                <a:effectLst/>
                <a:latin typeface="+mn-lt"/>
                <a:ea typeface="+mn-ea"/>
                <a:cs typeface="+mn-cs"/>
              </a:rPr>
              <a:t>1857</a:t>
            </a:r>
            <a:r>
              <a:rPr lang="zh-CN" altLang="en-US" sz="1200" b="0" i="0" kern="1200" dirty="0">
                <a:solidFill>
                  <a:schemeClr val="tx1"/>
                </a:solidFill>
                <a:effectLst/>
                <a:latin typeface="+mn-lt"/>
                <a:ea typeface="+mn-ea"/>
                <a:cs typeface="+mn-cs"/>
              </a:rPr>
              <a:t>年</a:t>
            </a:r>
            <a:r>
              <a:rPr lang="en-US" altLang="zh-CN" sz="1200" b="0" i="0" kern="1200" dirty="0">
                <a:solidFill>
                  <a:schemeClr val="tx1"/>
                </a:solidFill>
                <a:effectLst/>
                <a:latin typeface="+mn-lt"/>
                <a:ea typeface="+mn-ea"/>
                <a:cs typeface="+mn-cs"/>
              </a:rPr>
              <a:t>3</a:t>
            </a:r>
            <a:r>
              <a:rPr lang="zh-CN" altLang="en-US" sz="1200" b="0" i="0" kern="1200" dirty="0">
                <a:solidFill>
                  <a:schemeClr val="tx1"/>
                </a:solidFill>
                <a:effectLst/>
                <a:latin typeface="+mn-lt"/>
                <a:ea typeface="+mn-ea"/>
                <a:cs typeface="+mn-cs"/>
              </a:rPr>
              <a:t>月</a:t>
            </a:r>
            <a:r>
              <a:rPr lang="en-US" altLang="zh-CN" sz="1200" b="0" i="0" kern="1200" dirty="0">
                <a:solidFill>
                  <a:schemeClr val="tx1"/>
                </a:solidFill>
                <a:effectLst/>
                <a:latin typeface="+mn-lt"/>
                <a:ea typeface="+mn-ea"/>
                <a:cs typeface="+mn-cs"/>
              </a:rPr>
              <a:t>27</a:t>
            </a:r>
            <a:r>
              <a:rPr lang="zh-CN" altLang="en-US" sz="1200" b="0" i="0" kern="1200" dirty="0">
                <a:solidFill>
                  <a:schemeClr val="tx1"/>
                </a:solidFill>
                <a:effectLst/>
                <a:latin typeface="+mn-lt"/>
                <a:ea typeface="+mn-ea"/>
                <a:cs typeface="+mn-cs"/>
              </a:rPr>
              <a:t>日</a:t>
            </a:r>
            <a:r>
              <a:rPr lang="en-US" altLang="zh-CN" sz="1200" b="0" i="0" kern="1200" dirty="0">
                <a:solidFill>
                  <a:schemeClr val="tx1"/>
                </a:solidFill>
                <a:effectLst/>
                <a:latin typeface="+mn-lt"/>
                <a:ea typeface="+mn-ea"/>
                <a:cs typeface="+mn-cs"/>
              </a:rPr>
              <a:t>-1936</a:t>
            </a:r>
            <a:r>
              <a:rPr lang="zh-CN" altLang="en-US" sz="1200" b="0" i="0" kern="1200" dirty="0">
                <a:solidFill>
                  <a:schemeClr val="tx1"/>
                </a:solidFill>
                <a:effectLst/>
                <a:latin typeface="+mn-lt"/>
                <a:ea typeface="+mn-ea"/>
                <a:cs typeface="+mn-cs"/>
              </a:rPr>
              <a:t>年</a:t>
            </a:r>
            <a:r>
              <a:rPr lang="en-US" altLang="zh-CN" sz="1200" b="0" i="0" kern="1200" dirty="0">
                <a:solidFill>
                  <a:schemeClr val="tx1"/>
                </a:solidFill>
                <a:effectLst/>
                <a:latin typeface="+mn-lt"/>
                <a:ea typeface="+mn-ea"/>
                <a:cs typeface="+mn-cs"/>
              </a:rPr>
              <a:t>4</a:t>
            </a:r>
            <a:r>
              <a:rPr lang="zh-CN" altLang="en-US" sz="1200" b="0" i="0" kern="1200" dirty="0">
                <a:solidFill>
                  <a:schemeClr val="tx1"/>
                </a:solidFill>
                <a:effectLst/>
                <a:latin typeface="+mn-lt"/>
                <a:ea typeface="+mn-ea"/>
                <a:cs typeface="+mn-cs"/>
              </a:rPr>
              <a:t>月</a:t>
            </a:r>
            <a:r>
              <a:rPr lang="en-US" altLang="zh-CN" sz="1200" b="0" i="0" kern="1200" dirty="0">
                <a:solidFill>
                  <a:schemeClr val="tx1"/>
                </a:solidFill>
                <a:effectLst/>
                <a:latin typeface="+mn-lt"/>
                <a:ea typeface="+mn-ea"/>
                <a:cs typeface="+mn-cs"/>
              </a:rPr>
              <a:t>27</a:t>
            </a:r>
            <a:r>
              <a:rPr lang="zh-CN" altLang="en-US" sz="1200" b="0" i="0" kern="1200" dirty="0">
                <a:solidFill>
                  <a:schemeClr val="tx1"/>
                </a:solidFill>
                <a:effectLst/>
                <a:latin typeface="+mn-lt"/>
                <a:ea typeface="+mn-ea"/>
                <a:cs typeface="+mn-cs"/>
              </a:rPr>
              <a:t>日）是英国数学家、生物统计学家、数理统计学的创立者、自由思想者，他对生物统计学、气象学、社会达尔文主义理论和优生学做出了重大贡献。</a:t>
            </a:r>
          </a:p>
          <a:p>
            <a:r>
              <a:rPr lang="zh-CN" altLang="en-US" sz="1200" b="0" i="0" kern="1200" dirty="0">
                <a:solidFill>
                  <a:schemeClr val="tx1"/>
                </a:solidFill>
                <a:effectLst/>
                <a:latin typeface="+mn-lt"/>
                <a:ea typeface="+mn-ea"/>
                <a:cs typeface="+mn-cs"/>
              </a:rPr>
              <a:t>他被公认是</a:t>
            </a:r>
            <a:r>
              <a:rPr lang="zh-CN" altLang="en-US" sz="1200" b="1" i="0" kern="1200" dirty="0">
                <a:solidFill>
                  <a:schemeClr val="tx1"/>
                </a:solidFill>
                <a:effectLst/>
                <a:latin typeface="+mn-lt"/>
                <a:ea typeface="+mn-ea"/>
                <a:cs typeface="+mn-cs"/>
              </a:rPr>
              <a:t>旧派理学派和描述统计学派的代表人物</a:t>
            </a:r>
            <a:r>
              <a:rPr lang="zh-CN" altLang="en-US" sz="1200" b="0" i="0" kern="1200" dirty="0">
                <a:solidFill>
                  <a:schemeClr val="tx1"/>
                </a:solidFill>
                <a:effectLst/>
                <a:latin typeface="+mn-lt"/>
                <a:ea typeface="+mn-ea"/>
                <a:cs typeface="+mn-cs"/>
              </a:rPr>
              <a:t>，并被誉为现代统计科学的创立者。</a:t>
            </a:r>
            <a:r>
              <a:rPr lang="zh-CN" altLang="en-US" sz="1200" b="1" i="0" kern="1200" dirty="0">
                <a:solidFill>
                  <a:schemeClr val="tx1"/>
                </a:solidFill>
                <a:effectLst/>
                <a:latin typeface="+mn-lt"/>
                <a:ea typeface="+mn-ea"/>
                <a:cs typeface="+mn-cs"/>
              </a:rPr>
              <a:t>他对统计发展的影响是巨大的，他提出了包括统计假设检验，相关系数，卡方检验，</a:t>
            </a:r>
            <a:r>
              <a:rPr lang="en-US" altLang="zh-CN" sz="1200" b="1" i="0" kern="1200" dirty="0">
                <a:solidFill>
                  <a:schemeClr val="tx1"/>
                </a:solidFill>
                <a:effectLst/>
                <a:latin typeface="+mn-lt"/>
                <a:ea typeface="+mn-ea"/>
                <a:cs typeface="+mn-cs"/>
              </a:rPr>
              <a:t>P</a:t>
            </a:r>
            <a:r>
              <a:rPr lang="zh-CN" altLang="en-US" sz="1200" b="1" i="0" kern="1200" dirty="0">
                <a:solidFill>
                  <a:schemeClr val="tx1"/>
                </a:solidFill>
                <a:effectLst/>
                <a:latin typeface="+mn-lt"/>
                <a:ea typeface="+mn-ea"/>
                <a:cs typeface="+mn-cs"/>
              </a:rPr>
              <a:t>值等有名的概念。</a:t>
            </a:r>
            <a:endParaRPr lang="zh-CN" altLang="en-US" sz="1200" b="0" i="0" kern="1200" dirty="0">
              <a:solidFill>
                <a:schemeClr val="tx1"/>
              </a:solidFill>
              <a:effectLst/>
              <a:latin typeface="+mn-lt"/>
              <a:ea typeface="+mn-ea"/>
              <a:cs typeface="+mn-cs"/>
            </a:endParaRPr>
          </a:p>
          <a:p>
            <a:r>
              <a:rPr lang="zh-CN" altLang="en-US" sz="1200" b="1" i="0" kern="1200" dirty="0">
                <a:solidFill>
                  <a:schemeClr val="tx1"/>
                </a:solidFill>
                <a:effectLst/>
                <a:latin typeface="+mn-lt"/>
                <a:ea typeface="+mn-ea"/>
                <a:cs typeface="+mn-cs"/>
              </a:rPr>
              <a:t>统计假设检验</a:t>
            </a:r>
            <a:endParaRPr lang="zh-CN" altLang="en-US"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统计假设检验（</a:t>
            </a:r>
            <a:r>
              <a:rPr lang="en-US" altLang="zh-CN" sz="1200" b="0" i="0" kern="1200" dirty="0">
                <a:solidFill>
                  <a:schemeClr val="tx1"/>
                </a:solidFill>
                <a:effectLst/>
                <a:latin typeface="+mn-lt"/>
                <a:ea typeface="+mn-ea"/>
                <a:cs typeface="+mn-cs"/>
              </a:rPr>
              <a:t>Statistical hypothesis test</a:t>
            </a:r>
            <a:r>
              <a:rPr lang="zh-CN" altLang="en-US" sz="1200" b="0" i="0" kern="1200" dirty="0">
                <a:solidFill>
                  <a:schemeClr val="tx1"/>
                </a:solidFill>
                <a:effectLst/>
                <a:latin typeface="+mn-lt"/>
                <a:ea typeface="+mn-ea"/>
                <a:cs typeface="+mn-cs"/>
              </a:rPr>
              <a:t>）主要是验证所选的模型和所解释的公式，在结构上、形式上、变化方向上是否能代表客观情况。</a:t>
            </a:r>
          </a:p>
          <a:p>
            <a:r>
              <a:rPr lang="zh-CN" altLang="en-US" sz="1200" b="0" i="0" kern="1200" dirty="0">
                <a:solidFill>
                  <a:schemeClr val="tx1"/>
                </a:solidFill>
                <a:effectLst/>
                <a:latin typeface="+mn-lt"/>
                <a:ea typeface="+mn-ea"/>
                <a:cs typeface="+mn-cs"/>
              </a:rPr>
              <a:t>一般采用最小平方法解模时，必须进行统计假设检验，即应用统计推断的假设检验原理，通过特定的统计量进行各种显著性检验。</a:t>
            </a:r>
          </a:p>
          <a:p>
            <a:r>
              <a:rPr lang="zh-CN" altLang="en-US" sz="1200" b="1" i="0" kern="1200" dirty="0">
                <a:solidFill>
                  <a:schemeClr val="tx1"/>
                </a:solidFill>
                <a:effectLst/>
                <a:latin typeface="+mn-lt"/>
                <a:ea typeface="+mn-ea"/>
                <a:cs typeface="+mn-cs"/>
              </a:rPr>
              <a:t>相关系数</a:t>
            </a:r>
            <a:endParaRPr lang="zh-CN" altLang="en-US"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相关系数（</a:t>
            </a:r>
            <a:r>
              <a:rPr lang="en-US" altLang="zh-CN" sz="1200" b="0" i="0" kern="1200" dirty="0">
                <a:solidFill>
                  <a:schemeClr val="tx1"/>
                </a:solidFill>
                <a:effectLst/>
                <a:latin typeface="+mn-lt"/>
                <a:ea typeface="+mn-ea"/>
                <a:cs typeface="+mn-cs"/>
              </a:rPr>
              <a:t>Correlation coefficient</a:t>
            </a:r>
            <a:r>
              <a:rPr lang="zh-CN" altLang="en-US" sz="1200" b="0" i="0" kern="1200" dirty="0">
                <a:solidFill>
                  <a:schemeClr val="tx1"/>
                </a:solidFill>
                <a:effectLst/>
                <a:latin typeface="+mn-lt"/>
                <a:ea typeface="+mn-ea"/>
                <a:cs typeface="+mn-cs"/>
              </a:rPr>
              <a:t>）是研究变量之间线性相关程度的量，一般用字母 </a:t>
            </a:r>
            <a:r>
              <a:rPr lang="en-US" altLang="zh-CN" sz="1200" b="0" i="0" kern="1200" dirty="0">
                <a:solidFill>
                  <a:schemeClr val="tx1"/>
                </a:solidFill>
                <a:effectLst/>
                <a:latin typeface="+mn-lt"/>
                <a:ea typeface="+mn-ea"/>
                <a:cs typeface="+mn-cs"/>
              </a:rPr>
              <a:t>r </a:t>
            </a:r>
            <a:r>
              <a:rPr lang="zh-CN" altLang="en-US" sz="1200" b="0" i="0" kern="1200" dirty="0">
                <a:solidFill>
                  <a:schemeClr val="tx1"/>
                </a:solidFill>
                <a:effectLst/>
                <a:latin typeface="+mn-lt"/>
                <a:ea typeface="+mn-ea"/>
                <a:cs typeface="+mn-cs"/>
              </a:rPr>
              <a:t>表示。由于研究对象的不同，相关系数有多种定义方式，较为常用的是皮尔逊相关系数。定义式：</a:t>
            </a:r>
          </a:p>
          <a:p>
            <a:r>
              <a:rPr lang="zh-CN" altLang="en-US" sz="1200" b="0" i="0" kern="1200" dirty="0">
                <a:solidFill>
                  <a:schemeClr val="tx1"/>
                </a:solidFill>
                <a:effectLst/>
                <a:latin typeface="+mn-lt"/>
                <a:ea typeface="+mn-ea"/>
                <a:cs typeface="+mn-cs"/>
              </a:rPr>
              <a:t>其中，</a:t>
            </a:r>
            <a:r>
              <a:rPr lang="en-US" altLang="zh-CN" sz="1200" b="0" i="0" kern="1200" dirty="0" err="1">
                <a:solidFill>
                  <a:schemeClr val="tx1"/>
                </a:solidFill>
                <a:effectLst/>
                <a:latin typeface="+mn-lt"/>
                <a:ea typeface="+mn-ea"/>
                <a:cs typeface="+mn-cs"/>
              </a:rPr>
              <a:t>Cov</a:t>
            </a:r>
            <a:r>
              <a:rPr lang="en-US" altLang="zh-CN" sz="1200" b="0" i="0" kern="1200" dirty="0">
                <a:solidFill>
                  <a:schemeClr val="tx1"/>
                </a:solidFill>
                <a:effectLst/>
                <a:latin typeface="+mn-lt"/>
                <a:ea typeface="+mn-ea"/>
                <a:cs typeface="+mn-cs"/>
              </a:rPr>
              <a:t>(X,Y)</a:t>
            </a:r>
            <a:r>
              <a:rPr lang="zh-CN" altLang="en-US" sz="1200" b="0" i="0" kern="1200" dirty="0">
                <a:solidFill>
                  <a:schemeClr val="tx1"/>
                </a:solidFill>
                <a:effectLst/>
                <a:latin typeface="+mn-lt"/>
                <a:ea typeface="+mn-ea"/>
                <a:cs typeface="+mn-cs"/>
              </a:rPr>
              <a:t>为</a:t>
            </a:r>
            <a:r>
              <a:rPr lang="en-US" altLang="zh-CN" sz="1200" b="0" i="0" kern="1200" dirty="0">
                <a:solidFill>
                  <a:schemeClr val="tx1"/>
                </a:solidFill>
                <a:effectLst/>
                <a:latin typeface="+mn-lt"/>
                <a:ea typeface="+mn-ea"/>
                <a:cs typeface="+mn-cs"/>
              </a:rPr>
              <a:t>X</a:t>
            </a:r>
            <a:r>
              <a:rPr lang="zh-CN" altLang="en-US" sz="1200" b="0" i="0" kern="1200" dirty="0">
                <a:solidFill>
                  <a:schemeClr val="tx1"/>
                </a:solidFill>
                <a:effectLst/>
                <a:latin typeface="+mn-lt"/>
                <a:ea typeface="+mn-ea"/>
                <a:cs typeface="+mn-cs"/>
              </a:rPr>
              <a:t>与</a:t>
            </a:r>
            <a:r>
              <a:rPr lang="en-US" altLang="zh-CN" sz="1200" b="0" i="0" kern="1200" dirty="0">
                <a:solidFill>
                  <a:schemeClr val="tx1"/>
                </a:solidFill>
                <a:effectLst/>
                <a:latin typeface="+mn-lt"/>
                <a:ea typeface="+mn-ea"/>
                <a:cs typeface="+mn-cs"/>
              </a:rPr>
              <a:t>Y</a:t>
            </a:r>
            <a:r>
              <a:rPr lang="zh-CN" altLang="en-US" sz="1200" b="0" i="0" kern="1200" dirty="0">
                <a:solidFill>
                  <a:schemeClr val="tx1"/>
                </a:solidFill>
                <a:effectLst/>
                <a:latin typeface="+mn-lt"/>
                <a:ea typeface="+mn-ea"/>
                <a:cs typeface="+mn-cs"/>
              </a:rPr>
              <a:t>的协方差，</a:t>
            </a:r>
            <a:r>
              <a:rPr lang="en-US" altLang="zh-CN" sz="1200" b="0" i="0" kern="1200" dirty="0">
                <a:solidFill>
                  <a:schemeClr val="tx1"/>
                </a:solidFill>
                <a:effectLst/>
                <a:latin typeface="+mn-lt"/>
                <a:ea typeface="+mn-ea"/>
                <a:cs typeface="+mn-cs"/>
              </a:rPr>
              <a:t>Var[X]</a:t>
            </a:r>
            <a:r>
              <a:rPr lang="zh-CN" altLang="en-US" sz="1200" b="0" i="0" kern="1200" dirty="0">
                <a:solidFill>
                  <a:schemeClr val="tx1"/>
                </a:solidFill>
                <a:effectLst/>
                <a:latin typeface="+mn-lt"/>
                <a:ea typeface="+mn-ea"/>
                <a:cs typeface="+mn-cs"/>
              </a:rPr>
              <a:t>为</a:t>
            </a:r>
            <a:r>
              <a:rPr lang="en-US" altLang="zh-CN" sz="1200" b="0" i="0" kern="1200" dirty="0">
                <a:solidFill>
                  <a:schemeClr val="tx1"/>
                </a:solidFill>
                <a:effectLst/>
                <a:latin typeface="+mn-lt"/>
                <a:ea typeface="+mn-ea"/>
                <a:cs typeface="+mn-cs"/>
              </a:rPr>
              <a:t>X</a:t>
            </a:r>
            <a:r>
              <a:rPr lang="zh-CN" altLang="en-US" sz="1200" b="0" i="0" kern="1200" dirty="0">
                <a:solidFill>
                  <a:schemeClr val="tx1"/>
                </a:solidFill>
                <a:effectLst/>
                <a:latin typeface="+mn-lt"/>
                <a:ea typeface="+mn-ea"/>
                <a:cs typeface="+mn-cs"/>
              </a:rPr>
              <a:t>的方差，</a:t>
            </a:r>
            <a:r>
              <a:rPr lang="en-US" altLang="zh-CN" sz="1200" b="0" i="0" kern="1200" dirty="0">
                <a:solidFill>
                  <a:schemeClr val="tx1"/>
                </a:solidFill>
                <a:effectLst/>
                <a:latin typeface="+mn-lt"/>
                <a:ea typeface="+mn-ea"/>
                <a:cs typeface="+mn-cs"/>
              </a:rPr>
              <a:t>Var[Y]</a:t>
            </a:r>
            <a:r>
              <a:rPr lang="zh-CN" altLang="en-US" sz="1200" b="0" i="0" kern="1200" dirty="0">
                <a:solidFill>
                  <a:schemeClr val="tx1"/>
                </a:solidFill>
                <a:effectLst/>
                <a:latin typeface="+mn-lt"/>
                <a:ea typeface="+mn-ea"/>
                <a:cs typeface="+mn-cs"/>
              </a:rPr>
              <a:t>为</a:t>
            </a:r>
            <a:r>
              <a:rPr lang="en-US" altLang="zh-CN" sz="1200" b="0" i="0" kern="1200" dirty="0">
                <a:solidFill>
                  <a:schemeClr val="tx1"/>
                </a:solidFill>
                <a:effectLst/>
                <a:latin typeface="+mn-lt"/>
                <a:ea typeface="+mn-ea"/>
                <a:cs typeface="+mn-cs"/>
              </a:rPr>
              <a:t>Y</a:t>
            </a:r>
            <a:r>
              <a:rPr lang="zh-CN" altLang="en-US" sz="1200" b="0" i="0" kern="1200" dirty="0">
                <a:solidFill>
                  <a:schemeClr val="tx1"/>
                </a:solidFill>
                <a:effectLst/>
                <a:latin typeface="+mn-lt"/>
                <a:ea typeface="+mn-ea"/>
                <a:cs typeface="+mn-cs"/>
              </a:rPr>
              <a:t>的方差。</a:t>
            </a:r>
          </a:p>
          <a:p>
            <a:r>
              <a:rPr lang="zh-CN" altLang="en-US" sz="1200" b="1" i="0" kern="1200" dirty="0">
                <a:solidFill>
                  <a:schemeClr val="tx1"/>
                </a:solidFill>
                <a:effectLst/>
                <a:latin typeface="+mn-lt"/>
                <a:ea typeface="+mn-ea"/>
                <a:cs typeface="+mn-cs"/>
              </a:rPr>
              <a:t>卡方检验</a:t>
            </a:r>
            <a:endParaRPr lang="zh-CN" altLang="en-US"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卡方检验（</a:t>
            </a:r>
            <a:r>
              <a:rPr lang="en-US" altLang="zh-CN" sz="1200" b="0" i="0" kern="1200" dirty="0">
                <a:solidFill>
                  <a:schemeClr val="tx1"/>
                </a:solidFill>
                <a:effectLst/>
                <a:latin typeface="+mn-lt"/>
                <a:ea typeface="+mn-ea"/>
                <a:cs typeface="+mn-cs"/>
              </a:rPr>
              <a:t>X-square test</a:t>
            </a:r>
            <a:r>
              <a:rPr lang="zh-CN" altLang="en-US" sz="1200" b="0" i="0" kern="1200" dirty="0">
                <a:solidFill>
                  <a:schemeClr val="tx1"/>
                </a:solidFill>
                <a:effectLst/>
                <a:latin typeface="+mn-lt"/>
                <a:ea typeface="+mn-ea"/>
                <a:cs typeface="+mn-cs"/>
              </a:rPr>
              <a:t>）是统计样本的实际观测值与理论推断值之间的偏离程度，实际观测值与理论推断值之间的偏离程度决定卡方值的大小，如果卡方值越大，二者偏差程度越大；反之，二者偏差越小；若两个值完全相等时，卡方值就为</a:t>
            </a:r>
            <a:r>
              <a:rPr lang="en-US" altLang="zh-CN" sz="1200" b="0" i="0" kern="1200" dirty="0">
                <a:solidFill>
                  <a:schemeClr val="tx1"/>
                </a:solidFill>
                <a:effectLst/>
                <a:latin typeface="+mn-lt"/>
                <a:ea typeface="+mn-ea"/>
                <a:cs typeface="+mn-cs"/>
              </a:rPr>
              <a:t>0</a:t>
            </a:r>
            <a:r>
              <a:rPr lang="zh-CN" altLang="en-US" sz="1200" b="0" i="0" kern="1200" dirty="0">
                <a:solidFill>
                  <a:schemeClr val="tx1"/>
                </a:solidFill>
                <a:effectLst/>
                <a:latin typeface="+mn-lt"/>
                <a:ea typeface="+mn-ea"/>
                <a:cs typeface="+mn-cs"/>
              </a:rPr>
              <a:t>，表明与理论值完全符合。</a:t>
            </a:r>
          </a:p>
          <a:p>
            <a:r>
              <a:rPr lang="en-US" altLang="zh-CN" sz="1200" b="1" i="0" kern="1200" dirty="0">
                <a:solidFill>
                  <a:schemeClr val="tx1"/>
                </a:solidFill>
                <a:effectLst/>
                <a:latin typeface="+mn-lt"/>
                <a:ea typeface="+mn-ea"/>
                <a:cs typeface="+mn-cs"/>
              </a:rPr>
              <a:t>P</a:t>
            </a:r>
            <a:r>
              <a:rPr lang="zh-CN" altLang="en-US" sz="1200" b="1" i="0" kern="1200" dirty="0">
                <a:solidFill>
                  <a:schemeClr val="tx1"/>
                </a:solidFill>
                <a:effectLst/>
                <a:latin typeface="+mn-lt"/>
                <a:ea typeface="+mn-ea"/>
                <a:cs typeface="+mn-cs"/>
              </a:rPr>
              <a:t>值</a:t>
            </a:r>
            <a:endParaRPr lang="zh-CN" altLang="en-US" sz="1200" b="0" i="0" kern="1200" dirty="0">
              <a:solidFill>
                <a:schemeClr val="tx1"/>
              </a:solidFill>
              <a:effectLst/>
              <a:latin typeface="+mn-lt"/>
              <a:ea typeface="+mn-ea"/>
              <a:cs typeface="+mn-cs"/>
            </a:endParaRPr>
          </a:p>
          <a:p>
            <a:r>
              <a:rPr lang="en-US" altLang="zh-CN" sz="1200" b="0" i="0" kern="1200" dirty="0">
                <a:solidFill>
                  <a:schemeClr val="tx1"/>
                </a:solidFill>
                <a:effectLst/>
                <a:latin typeface="+mn-lt"/>
                <a:ea typeface="+mn-ea"/>
                <a:cs typeface="+mn-cs"/>
              </a:rPr>
              <a:t>P</a:t>
            </a:r>
            <a:r>
              <a:rPr lang="zh-CN" altLang="en-US" sz="1200" b="0" i="0" kern="1200" dirty="0">
                <a:solidFill>
                  <a:schemeClr val="tx1"/>
                </a:solidFill>
                <a:effectLst/>
                <a:latin typeface="+mn-lt"/>
                <a:ea typeface="+mn-ea"/>
                <a:cs typeface="+mn-cs"/>
              </a:rPr>
              <a:t>值（</a:t>
            </a:r>
            <a:r>
              <a:rPr lang="en-US" altLang="zh-CN" sz="1200" b="0" i="0" kern="1200" dirty="0">
                <a:solidFill>
                  <a:schemeClr val="tx1"/>
                </a:solidFill>
                <a:effectLst/>
                <a:latin typeface="+mn-lt"/>
                <a:ea typeface="+mn-ea"/>
                <a:cs typeface="+mn-cs"/>
              </a:rPr>
              <a:t>P value</a:t>
            </a:r>
            <a:r>
              <a:rPr lang="zh-CN" altLang="en-US" sz="1200" b="0" i="0" kern="1200" dirty="0">
                <a:solidFill>
                  <a:schemeClr val="tx1"/>
                </a:solidFill>
                <a:effectLst/>
                <a:latin typeface="+mn-lt"/>
                <a:ea typeface="+mn-ea"/>
                <a:cs typeface="+mn-cs"/>
              </a:rPr>
              <a:t>）就是当原假设为真时，比所得到的样本观察结果更极端的结果出现的概率。</a:t>
            </a:r>
          </a:p>
          <a:p>
            <a:r>
              <a:rPr lang="zh-CN" altLang="en-US" sz="1200" b="0" i="0" kern="1200" dirty="0">
                <a:solidFill>
                  <a:schemeClr val="tx1"/>
                </a:solidFill>
                <a:effectLst/>
                <a:latin typeface="+mn-lt"/>
                <a:ea typeface="+mn-ea"/>
                <a:cs typeface="+mn-cs"/>
              </a:rPr>
              <a:t>如果</a:t>
            </a:r>
            <a:r>
              <a:rPr lang="en-US" altLang="zh-CN" sz="1200" b="0" i="0" kern="1200" dirty="0">
                <a:solidFill>
                  <a:schemeClr val="tx1"/>
                </a:solidFill>
                <a:effectLst/>
                <a:latin typeface="+mn-lt"/>
                <a:ea typeface="+mn-ea"/>
                <a:cs typeface="+mn-cs"/>
              </a:rPr>
              <a:t>P</a:t>
            </a:r>
            <a:r>
              <a:rPr lang="zh-CN" altLang="en-US" sz="1200" b="0" i="0" kern="1200" dirty="0">
                <a:solidFill>
                  <a:schemeClr val="tx1"/>
                </a:solidFill>
                <a:effectLst/>
                <a:latin typeface="+mn-lt"/>
                <a:ea typeface="+mn-ea"/>
                <a:cs typeface="+mn-cs"/>
              </a:rPr>
              <a:t>值很小，说明原假设情况的发生的概率很小，而如果出现了，</a:t>
            </a:r>
            <a:r>
              <a:rPr lang="zh-CN" altLang="en-US" sz="1200" b="1" i="0" kern="1200" dirty="0">
                <a:solidFill>
                  <a:schemeClr val="tx1"/>
                </a:solidFill>
                <a:effectLst/>
                <a:latin typeface="+mn-lt"/>
                <a:ea typeface="+mn-ea"/>
                <a:cs typeface="+mn-cs"/>
              </a:rPr>
              <a:t>根据小概率原理，我们就有理由拒绝原假设</a:t>
            </a:r>
            <a:r>
              <a:rPr lang="zh-CN" altLang="en-US" sz="1200" b="0" i="0" kern="1200" dirty="0">
                <a:solidFill>
                  <a:schemeClr val="tx1"/>
                </a:solidFill>
                <a:effectLst/>
                <a:latin typeface="+mn-lt"/>
                <a:ea typeface="+mn-ea"/>
                <a:cs typeface="+mn-cs"/>
              </a:rPr>
              <a:t>，</a:t>
            </a:r>
            <a:r>
              <a:rPr lang="en-US" altLang="zh-CN" sz="1200" b="0" i="0" kern="1200" dirty="0">
                <a:solidFill>
                  <a:schemeClr val="tx1"/>
                </a:solidFill>
                <a:effectLst/>
                <a:latin typeface="+mn-lt"/>
                <a:ea typeface="+mn-ea"/>
                <a:cs typeface="+mn-cs"/>
              </a:rPr>
              <a:t>P</a:t>
            </a:r>
            <a:r>
              <a:rPr lang="zh-CN" altLang="en-US" sz="1200" b="0" i="0" kern="1200" dirty="0">
                <a:solidFill>
                  <a:schemeClr val="tx1"/>
                </a:solidFill>
                <a:effectLst/>
                <a:latin typeface="+mn-lt"/>
                <a:ea typeface="+mn-ea"/>
                <a:cs typeface="+mn-cs"/>
              </a:rPr>
              <a:t>值越小，我们拒绝原假设的理由越充分。总之，</a:t>
            </a:r>
            <a:r>
              <a:rPr lang="en-US" altLang="zh-CN" sz="1200" b="0" i="0" kern="1200" dirty="0">
                <a:solidFill>
                  <a:schemeClr val="tx1"/>
                </a:solidFill>
                <a:effectLst/>
                <a:latin typeface="+mn-lt"/>
                <a:ea typeface="+mn-ea"/>
                <a:cs typeface="+mn-cs"/>
              </a:rPr>
              <a:t>P</a:t>
            </a:r>
            <a:r>
              <a:rPr lang="zh-CN" altLang="en-US" sz="1200" b="0" i="0" kern="1200" dirty="0">
                <a:solidFill>
                  <a:schemeClr val="tx1"/>
                </a:solidFill>
                <a:effectLst/>
                <a:latin typeface="+mn-lt"/>
                <a:ea typeface="+mn-ea"/>
                <a:cs typeface="+mn-cs"/>
              </a:rPr>
              <a:t>值越小，表明结果越显著。</a:t>
            </a:r>
          </a:p>
          <a:p>
            <a:r>
              <a:rPr lang="zh-CN" altLang="en-US" sz="1200" b="1" i="0" kern="1200" dirty="0">
                <a:solidFill>
                  <a:schemeClr val="tx1"/>
                </a:solidFill>
                <a:effectLst/>
                <a:latin typeface="+mn-lt"/>
                <a:ea typeface="+mn-ea"/>
                <a:cs typeface="+mn-cs"/>
              </a:rPr>
              <a:t>统计学上，通常使用发生概率小于</a:t>
            </a:r>
            <a:r>
              <a:rPr lang="en-US" altLang="zh-CN" sz="1200" b="1" i="0" kern="1200" dirty="0">
                <a:solidFill>
                  <a:schemeClr val="tx1"/>
                </a:solidFill>
                <a:effectLst/>
                <a:latin typeface="+mn-lt"/>
                <a:ea typeface="+mn-ea"/>
                <a:cs typeface="+mn-cs"/>
              </a:rPr>
              <a:t>5%</a:t>
            </a:r>
            <a:r>
              <a:rPr lang="zh-CN" altLang="en-US" sz="1200" b="1" i="0" kern="1200" dirty="0">
                <a:solidFill>
                  <a:schemeClr val="tx1"/>
                </a:solidFill>
                <a:effectLst/>
                <a:latin typeface="+mn-lt"/>
                <a:ea typeface="+mn-ea"/>
                <a:cs typeface="+mn-cs"/>
              </a:rPr>
              <a:t>来定义极端事件。</a:t>
            </a:r>
            <a:r>
              <a:rPr lang="zh-CN" altLang="en-US" sz="1200" b="0" i="0" kern="1200" dirty="0">
                <a:solidFill>
                  <a:schemeClr val="tx1"/>
                </a:solidFill>
                <a:effectLst/>
                <a:latin typeface="+mn-lt"/>
                <a:ea typeface="+mn-ea"/>
                <a:cs typeface="+mn-cs"/>
              </a:rPr>
              <a:t>但是检验的结果究竟是“显著的”、“中度显著的”还是“高度显著的”需要我们自己根据</a:t>
            </a:r>
            <a:r>
              <a:rPr lang="en-US" altLang="zh-CN" sz="1200" b="0" i="0" kern="1200" dirty="0">
                <a:solidFill>
                  <a:schemeClr val="tx1"/>
                </a:solidFill>
                <a:effectLst/>
                <a:latin typeface="+mn-lt"/>
                <a:ea typeface="+mn-ea"/>
                <a:cs typeface="+mn-cs"/>
              </a:rPr>
              <a:t>P</a:t>
            </a:r>
            <a:r>
              <a:rPr lang="zh-CN" altLang="en-US" sz="1200" b="0" i="0" kern="1200" dirty="0">
                <a:solidFill>
                  <a:schemeClr val="tx1"/>
                </a:solidFill>
                <a:effectLst/>
                <a:latin typeface="+mn-lt"/>
                <a:ea typeface="+mn-ea"/>
                <a:cs typeface="+mn-cs"/>
              </a:rPr>
              <a:t>值的大小和实际问题来解决。</a:t>
            </a:r>
          </a:p>
          <a:p>
            <a:endParaRPr lang="zh-CN" altLang="en-US" dirty="0"/>
          </a:p>
          <a:p>
            <a:endParaRPr lang="zh-CN" altLang="en-US" dirty="0"/>
          </a:p>
        </p:txBody>
      </p:sp>
      <p:sp>
        <p:nvSpPr>
          <p:cNvPr id="4" name="灯片编号占位符 3"/>
          <p:cNvSpPr>
            <a:spLocks noGrp="1"/>
          </p:cNvSpPr>
          <p:nvPr>
            <p:ph type="sldNum" sz="quarter" idx="5"/>
          </p:nvPr>
        </p:nvSpPr>
        <p:spPr/>
        <p:txBody>
          <a:bodyPr/>
          <a:lstStyle/>
          <a:p>
            <a:fld id="{1009F718-866D-47D2-8F9B-C4950FA0C7F0}" type="slidenum">
              <a:rPr lang="zh-CN" altLang="en-US" smtClean="0"/>
              <a:t>17</a:t>
            </a:fld>
            <a:endParaRPr lang="zh-CN" altLang="en-US"/>
          </a:p>
        </p:txBody>
      </p:sp>
    </p:spTree>
    <p:extLst>
      <p:ext uri="{BB962C8B-B14F-4D97-AF65-F5344CB8AC3E}">
        <p14:creationId xmlns:p14="http://schemas.microsoft.com/office/powerpoint/2010/main" val="14833077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威廉</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戈塞（</a:t>
            </a:r>
            <a:r>
              <a:rPr lang="en-US" altLang="zh-CN" sz="1200" b="0" i="0" kern="1200" dirty="0">
                <a:solidFill>
                  <a:schemeClr val="tx1"/>
                </a:solidFill>
                <a:effectLst/>
                <a:latin typeface="+mn-lt"/>
                <a:ea typeface="+mn-ea"/>
                <a:cs typeface="+mn-cs"/>
              </a:rPr>
              <a:t>William Sealy </a:t>
            </a:r>
            <a:r>
              <a:rPr lang="en-US" altLang="zh-CN" sz="1200" b="0" i="0" kern="1200" dirty="0" err="1">
                <a:solidFill>
                  <a:schemeClr val="tx1"/>
                </a:solidFill>
                <a:effectLst/>
                <a:latin typeface="+mn-lt"/>
                <a:ea typeface="+mn-ea"/>
                <a:cs typeface="+mn-cs"/>
              </a:rPr>
              <a:t>Gosset</a:t>
            </a:r>
            <a:r>
              <a:rPr lang="zh-CN" altLang="en-US" sz="1200" b="0" i="0" kern="1200" dirty="0">
                <a:solidFill>
                  <a:schemeClr val="tx1"/>
                </a:solidFill>
                <a:effectLst/>
                <a:latin typeface="+mn-lt"/>
                <a:ea typeface="+mn-ea"/>
                <a:cs typeface="+mn-cs"/>
              </a:rPr>
              <a:t>，</a:t>
            </a:r>
            <a:r>
              <a:rPr lang="en-US" altLang="zh-CN" sz="1200" b="0" i="0" kern="1200" dirty="0">
                <a:solidFill>
                  <a:schemeClr val="tx1"/>
                </a:solidFill>
                <a:effectLst/>
                <a:latin typeface="+mn-lt"/>
                <a:ea typeface="+mn-ea"/>
                <a:cs typeface="+mn-cs"/>
              </a:rPr>
              <a:t>1876</a:t>
            </a:r>
            <a:r>
              <a:rPr lang="zh-CN" altLang="en-US" sz="1200" b="0" i="0" kern="1200" dirty="0">
                <a:solidFill>
                  <a:schemeClr val="tx1"/>
                </a:solidFill>
                <a:effectLst/>
                <a:latin typeface="+mn-lt"/>
                <a:ea typeface="+mn-ea"/>
                <a:cs typeface="+mn-cs"/>
              </a:rPr>
              <a:t>年</a:t>
            </a:r>
            <a:r>
              <a:rPr lang="en-US" altLang="zh-CN" sz="1200" b="0" i="0" kern="1200" dirty="0">
                <a:solidFill>
                  <a:schemeClr val="tx1"/>
                </a:solidFill>
                <a:effectLst/>
                <a:latin typeface="+mn-lt"/>
                <a:ea typeface="+mn-ea"/>
                <a:cs typeface="+mn-cs"/>
              </a:rPr>
              <a:t>6</a:t>
            </a:r>
            <a:r>
              <a:rPr lang="zh-CN" altLang="en-US" sz="1200" b="0" i="0" kern="1200" dirty="0">
                <a:solidFill>
                  <a:schemeClr val="tx1"/>
                </a:solidFill>
                <a:effectLst/>
                <a:latin typeface="+mn-lt"/>
                <a:ea typeface="+mn-ea"/>
                <a:cs typeface="+mn-cs"/>
              </a:rPr>
              <a:t>月</a:t>
            </a:r>
            <a:r>
              <a:rPr lang="en-US" altLang="zh-CN" sz="1200" b="0" i="0" kern="1200" dirty="0">
                <a:solidFill>
                  <a:schemeClr val="tx1"/>
                </a:solidFill>
                <a:effectLst/>
                <a:latin typeface="+mn-lt"/>
                <a:ea typeface="+mn-ea"/>
                <a:cs typeface="+mn-cs"/>
              </a:rPr>
              <a:t>13</a:t>
            </a:r>
            <a:r>
              <a:rPr lang="zh-CN" altLang="en-US" sz="1200" b="0" i="0" kern="1200" dirty="0">
                <a:solidFill>
                  <a:schemeClr val="tx1"/>
                </a:solidFill>
                <a:effectLst/>
                <a:latin typeface="+mn-lt"/>
                <a:ea typeface="+mn-ea"/>
                <a:cs typeface="+mn-cs"/>
              </a:rPr>
              <a:t>日－</a:t>
            </a:r>
            <a:r>
              <a:rPr lang="en-US" altLang="zh-CN" sz="1200" b="0" i="0" kern="1200" dirty="0">
                <a:solidFill>
                  <a:schemeClr val="tx1"/>
                </a:solidFill>
                <a:effectLst/>
                <a:latin typeface="+mn-lt"/>
                <a:ea typeface="+mn-ea"/>
                <a:cs typeface="+mn-cs"/>
              </a:rPr>
              <a:t>1937</a:t>
            </a:r>
            <a:r>
              <a:rPr lang="zh-CN" altLang="en-US" sz="1200" b="0" i="0" kern="1200" dirty="0">
                <a:solidFill>
                  <a:schemeClr val="tx1"/>
                </a:solidFill>
                <a:effectLst/>
                <a:latin typeface="+mn-lt"/>
                <a:ea typeface="+mn-ea"/>
                <a:cs typeface="+mn-cs"/>
              </a:rPr>
              <a:t>年</a:t>
            </a:r>
            <a:r>
              <a:rPr lang="en-US" altLang="zh-CN" sz="1200" b="0" i="0" kern="1200" dirty="0">
                <a:solidFill>
                  <a:schemeClr val="tx1"/>
                </a:solidFill>
                <a:effectLst/>
                <a:latin typeface="+mn-lt"/>
                <a:ea typeface="+mn-ea"/>
                <a:cs typeface="+mn-cs"/>
              </a:rPr>
              <a:t>10</a:t>
            </a:r>
            <a:r>
              <a:rPr lang="zh-CN" altLang="en-US" sz="1200" b="0" i="0" kern="1200" dirty="0">
                <a:solidFill>
                  <a:schemeClr val="tx1"/>
                </a:solidFill>
                <a:effectLst/>
                <a:latin typeface="+mn-lt"/>
                <a:ea typeface="+mn-ea"/>
                <a:cs typeface="+mn-cs"/>
              </a:rPr>
              <a:t>月</a:t>
            </a:r>
            <a:r>
              <a:rPr lang="en-US" altLang="zh-CN" sz="1200" b="0" i="0" kern="1200" dirty="0">
                <a:solidFill>
                  <a:schemeClr val="tx1"/>
                </a:solidFill>
                <a:effectLst/>
                <a:latin typeface="+mn-lt"/>
                <a:ea typeface="+mn-ea"/>
                <a:cs typeface="+mn-cs"/>
              </a:rPr>
              <a:t>16</a:t>
            </a:r>
            <a:r>
              <a:rPr lang="zh-CN" altLang="en-US" sz="1200" b="0" i="0" kern="1200" dirty="0">
                <a:solidFill>
                  <a:schemeClr val="tx1"/>
                </a:solidFill>
                <a:effectLst/>
                <a:latin typeface="+mn-lt"/>
                <a:ea typeface="+mn-ea"/>
                <a:cs typeface="+mn-cs"/>
              </a:rPr>
              <a:t>日），全名威廉</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希利</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戈塞，英国化学家、数学家与统计学家。</a:t>
            </a:r>
          </a:p>
          <a:p>
            <a:r>
              <a:rPr lang="zh-CN" altLang="en-US" sz="1200" b="1" i="0" kern="1200" dirty="0">
                <a:solidFill>
                  <a:schemeClr val="tx1"/>
                </a:solidFill>
                <a:effectLst/>
                <a:latin typeface="+mn-lt"/>
                <a:ea typeface="+mn-ea"/>
                <a:cs typeface="+mn-cs"/>
              </a:rPr>
              <a:t>英国现代统计方法发展的先驱，小样本理论研究的先驱，为研究样本分布理论奠定了重要基础。</a:t>
            </a:r>
            <a:endParaRPr lang="zh-CN" altLang="en-US" sz="1200" b="0" i="0" kern="1200" dirty="0">
              <a:solidFill>
                <a:schemeClr val="tx1"/>
              </a:solidFill>
              <a:effectLst/>
              <a:latin typeface="+mn-lt"/>
              <a:ea typeface="+mn-ea"/>
              <a:cs typeface="+mn-cs"/>
            </a:endParaRPr>
          </a:p>
          <a:p>
            <a:r>
              <a:rPr lang="en-US" altLang="zh-CN" sz="1200" b="0" i="0" kern="1200" dirty="0">
                <a:solidFill>
                  <a:schemeClr val="tx1"/>
                </a:solidFill>
                <a:effectLst/>
                <a:latin typeface="+mn-lt"/>
                <a:ea typeface="+mn-ea"/>
                <a:cs typeface="+mn-cs"/>
              </a:rPr>
              <a:t>1908</a:t>
            </a:r>
            <a:r>
              <a:rPr lang="zh-CN" altLang="en-US" sz="1200" b="0" i="0" kern="1200" dirty="0">
                <a:solidFill>
                  <a:schemeClr val="tx1"/>
                </a:solidFill>
                <a:effectLst/>
                <a:latin typeface="+mn-lt"/>
                <a:ea typeface="+mn-ea"/>
                <a:cs typeface="+mn-cs"/>
              </a:rPr>
              <a:t>年，戈塞以“学生（</a:t>
            </a:r>
            <a:r>
              <a:rPr lang="en-US" altLang="zh-CN" sz="1200" b="0" i="0" kern="1200" dirty="0">
                <a:solidFill>
                  <a:schemeClr val="tx1"/>
                </a:solidFill>
                <a:effectLst/>
                <a:latin typeface="+mn-lt"/>
                <a:ea typeface="+mn-ea"/>
                <a:cs typeface="+mn-cs"/>
              </a:rPr>
              <a:t>Student</a:t>
            </a:r>
            <a:r>
              <a:rPr lang="zh-CN" altLang="en-US" sz="1200" b="0" i="0" kern="1200" dirty="0">
                <a:solidFill>
                  <a:schemeClr val="tx1"/>
                </a:solidFill>
                <a:effectLst/>
                <a:latin typeface="+mn-lt"/>
                <a:ea typeface="+mn-ea"/>
                <a:cs typeface="+mn-cs"/>
              </a:rPr>
              <a:t>）”为笔名在</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生物计量学</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杂志发表了论文</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平均数的规律误差</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，提出了</a:t>
            </a:r>
            <a:r>
              <a:rPr lang="zh-CN" altLang="en-US" sz="1200" b="1" i="0" kern="1200" dirty="0">
                <a:solidFill>
                  <a:schemeClr val="tx1"/>
                </a:solidFill>
                <a:effectLst/>
                <a:latin typeface="+mn-lt"/>
                <a:ea typeface="+mn-ea"/>
                <a:cs typeface="+mn-cs"/>
              </a:rPr>
              <a:t>统计学</a:t>
            </a:r>
            <a:r>
              <a:rPr lang="en-US" altLang="zh-CN" sz="1200" b="1" i="0" kern="1200" dirty="0">
                <a:solidFill>
                  <a:schemeClr val="tx1"/>
                </a:solidFill>
                <a:effectLst/>
                <a:latin typeface="+mn-lt"/>
                <a:ea typeface="+mn-ea"/>
                <a:cs typeface="+mn-cs"/>
              </a:rPr>
              <a:t>t</a:t>
            </a:r>
            <a:r>
              <a:rPr lang="zh-CN" altLang="en-US" sz="1200" b="1" i="0" kern="1200" dirty="0">
                <a:solidFill>
                  <a:schemeClr val="tx1"/>
                </a:solidFill>
                <a:effectLst/>
                <a:latin typeface="+mn-lt"/>
                <a:ea typeface="+mn-ea"/>
                <a:cs typeface="+mn-cs"/>
              </a:rPr>
              <a:t>检验</a:t>
            </a:r>
            <a:r>
              <a:rPr lang="zh-CN" altLang="en-US" sz="1200" b="0" i="0" kern="1200" dirty="0">
                <a:solidFill>
                  <a:schemeClr val="tx1"/>
                </a:solidFill>
                <a:effectLst/>
                <a:latin typeface="+mn-lt"/>
                <a:ea typeface="+mn-ea"/>
                <a:cs typeface="+mn-cs"/>
              </a:rPr>
              <a:t>，之后它广泛运用于小样本平均数之间的差别测试 。这篇论文开创了小样本统计理论的先河，为研究样本分布理论奠定了重要基础，被统计学家誉为统计推断理论发展史上的里程碑。</a:t>
            </a:r>
          </a:p>
          <a:p>
            <a:r>
              <a:rPr lang="en-US" altLang="zh-CN" sz="1200" b="0" i="0" kern="1200" dirty="0">
                <a:solidFill>
                  <a:schemeClr val="tx1"/>
                </a:solidFill>
                <a:effectLst/>
                <a:latin typeface="+mn-lt"/>
                <a:ea typeface="+mn-ea"/>
                <a:cs typeface="+mn-cs"/>
              </a:rPr>
              <a:t>t</a:t>
            </a:r>
            <a:r>
              <a:rPr lang="zh-CN" altLang="en-US" sz="1200" b="0" i="0" kern="1200" dirty="0">
                <a:solidFill>
                  <a:schemeClr val="tx1"/>
                </a:solidFill>
                <a:effectLst/>
                <a:latin typeface="+mn-lt"/>
                <a:ea typeface="+mn-ea"/>
                <a:cs typeface="+mn-cs"/>
              </a:rPr>
              <a:t>检验是戈塞为了观测酿酒质量而发明的。戈塞在位于都柏林的健力士酿酒厂担任统计学家。戈塞于</a:t>
            </a:r>
            <a:r>
              <a:rPr lang="en-US" altLang="zh-CN" sz="1200" b="0" i="0" kern="1200" dirty="0">
                <a:solidFill>
                  <a:schemeClr val="tx1"/>
                </a:solidFill>
                <a:effectLst/>
                <a:latin typeface="+mn-lt"/>
                <a:ea typeface="+mn-ea"/>
                <a:cs typeface="+mn-cs"/>
              </a:rPr>
              <a:t>1908</a:t>
            </a:r>
            <a:r>
              <a:rPr lang="zh-CN" altLang="en-US" sz="1200" b="0" i="0" kern="1200" dirty="0">
                <a:solidFill>
                  <a:schemeClr val="tx1"/>
                </a:solidFill>
                <a:effectLst/>
                <a:latin typeface="+mn-lt"/>
                <a:ea typeface="+mn-ea"/>
                <a:cs typeface="+mn-cs"/>
              </a:rPr>
              <a:t>年在</a:t>
            </a:r>
            <a:r>
              <a:rPr lang="en-US" altLang="zh-CN" sz="1200" b="0" i="0" kern="1200" dirty="0" err="1">
                <a:solidFill>
                  <a:schemeClr val="tx1"/>
                </a:solidFill>
                <a:effectLst/>
                <a:latin typeface="+mn-lt"/>
                <a:ea typeface="+mn-ea"/>
                <a:cs typeface="+mn-cs"/>
              </a:rPr>
              <a:t>Biometrika</a:t>
            </a:r>
            <a:r>
              <a:rPr lang="zh-CN" altLang="en-US" sz="1200" b="0" i="0" kern="1200" dirty="0">
                <a:solidFill>
                  <a:schemeClr val="tx1"/>
                </a:solidFill>
                <a:effectLst/>
                <a:latin typeface="+mn-lt"/>
                <a:ea typeface="+mn-ea"/>
                <a:cs typeface="+mn-cs"/>
              </a:rPr>
              <a:t>上公布</a:t>
            </a:r>
            <a:r>
              <a:rPr lang="en-US" altLang="zh-CN" sz="1200" b="0" i="0" kern="1200" dirty="0">
                <a:solidFill>
                  <a:schemeClr val="tx1"/>
                </a:solidFill>
                <a:effectLst/>
                <a:latin typeface="+mn-lt"/>
                <a:ea typeface="+mn-ea"/>
                <a:cs typeface="+mn-cs"/>
              </a:rPr>
              <a:t>T</a:t>
            </a:r>
            <a:r>
              <a:rPr lang="zh-CN" altLang="en-US" sz="1200" b="0" i="0" kern="1200" dirty="0">
                <a:solidFill>
                  <a:schemeClr val="tx1"/>
                </a:solidFill>
                <a:effectLst/>
                <a:latin typeface="+mn-lt"/>
                <a:ea typeface="+mn-ea"/>
                <a:cs typeface="+mn-cs"/>
              </a:rPr>
              <a:t>检验，但因其老板认为其为商业机密而被迫使用笔名（学生）。</a:t>
            </a:r>
          </a:p>
          <a:p>
            <a:r>
              <a:rPr lang="en-US" altLang="zh-CN" sz="1200" b="1" i="0" kern="1200" dirty="0">
                <a:solidFill>
                  <a:schemeClr val="tx1"/>
                </a:solidFill>
                <a:effectLst/>
                <a:latin typeface="+mn-lt"/>
                <a:ea typeface="+mn-ea"/>
                <a:cs typeface="+mn-cs"/>
              </a:rPr>
              <a:t>t</a:t>
            </a:r>
            <a:r>
              <a:rPr lang="zh-CN" altLang="en-US" sz="1200" b="1" i="0" kern="1200" dirty="0">
                <a:solidFill>
                  <a:schemeClr val="tx1"/>
                </a:solidFill>
                <a:effectLst/>
                <a:latin typeface="+mn-lt"/>
                <a:ea typeface="+mn-ea"/>
                <a:cs typeface="+mn-cs"/>
              </a:rPr>
              <a:t>检验</a:t>
            </a:r>
            <a:endParaRPr lang="zh-CN" altLang="en-US" sz="1200" b="0" i="0" kern="1200" dirty="0">
              <a:solidFill>
                <a:schemeClr val="tx1"/>
              </a:solidFill>
              <a:effectLst/>
              <a:latin typeface="+mn-lt"/>
              <a:ea typeface="+mn-ea"/>
              <a:cs typeface="+mn-cs"/>
            </a:endParaRPr>
          </a:p>
          <a:p>
            <a:r>
              <a:rPr lang="en-US" altLang="zh-CN" sz="1200" b="0" i="0" kern="1200" dirty="0">
                <a:solidFill>
                  <a:schemeClr val="tx1"/>
                </a:solidFill>
                <a:effectLst/>
                <a:latin typeface="+mn-lt"/>
                <a:ea typeface="+mn-ea"/>
                <a:cs typeface="+mn-cs"/>
              </a:rPr>
              <a:t>t</a:t>
            </a:r>
            <a:r>
              <a:rPr lang="zh-CN" altLang="en-US" sz="1200" b="0" i="0" kern="1200" dirty="0">
                <a:solidFill>
                  <a:schemeClr val="tx1"/>
                </a:solidFill>
                <a:effectLst/>
                <a:latin typeface="+mn-lt"/>
                <a:ea typeface="+mn-ea"/>
                <a:cs typeface="+mn-cs"/>
              </a:rPr>
              <a:t>检验，亦称</a:t>
            </a:r>
            <a:r>
              <a:rPr lang="en-US" altLang="zh-CN" sz="1200" b="0" i="0" kern="1200" dirty="0">
                <a:solidFill>
                  <a:schemeClr val="tx1"/>
                </a:solidFill>
                <a:effectLst/>
                <a:latin typeface="+mn-lt"/>
                <a:ea typeface="+mn-ea"/>
                <a:cs typeface="+mn-cs"/>
              </a:rPr>
              <a:t>student t</a:t>
            </a:r>
            <a:r>
              <a:rPr lang="zh-CN" altLang="en-US" sz="1200" b="0" i="0" kern="1200" dirty="0">
                <a:solidFill>
                  <a:schemeClr val="tx1"/>
                </a:solidFill>
                <a:effectLst/>
                <a:latin typeface="+mn-lt"/>
                <a:ea typeface="+mn-ea"/>
                <a:cs typeface="+mn-cs"/>
              </a:rPr>
              <a:t>检验（</a:t>
            </a:r>
            <a:r>
              <a:rPr lang="en-US" altLang="zh-CN" sz="1200" b="0" i="0" kern="1200" dirty="0">
                <a:solidFill>
                  <a:schemeClr val="tx1"/>
                </a:solidFill>
                <a:effectLst/>
                <a:latin typeface="+mn-lt"/>
                <a:ea typeface="+mn-ea"/>
                <a:cs typeface="+mn-cs"/>
              </a:rPr>
              <a:t>Student's t test</a:t>
            </a:r>
            <a:r>
              <a:rPr lang="zh-CN" altLang="en-US" sz="1200" b="0" i="0" kern="1200" dirty="0">
                <a:solidFill>
                  <a:schemeClr val="tx1"/>
                </a:solidFill>
                <a:effectLst/>
                <a:latin typeface="+mn-lt"/>
                <a:ea typeface="+mn-ea"/>
                <a:cs typeface="+mn-cs"/>
              </a:rPr>
              <a:t>），主要用于样本含量较小（例如</a:t>
            </a:r>
            <a:r>
              <a:rPr lang="en-US" altLang="zh-CN" sz="1200" b="0" i="0" kern="1200" dirty="0">
                <a:solidFill>
                  <a:schemeClr val="tx1"/>
                </a:solidFill>
                <a:effectLst/>
                <a:latin typeface="+mn-lt"/>
                <a:ea typeface="+mn-ea"/>
                <a:cs typeface="+mn-cs"/>
              </a:rPr>
              <a:t>n&lt;30</a:t>
            </a:r>
            <a:r>
              <a:rPr lang="zh-CN" altLang="en-US" sz="1200" b="0" i="0" kern="1200" dirty="0">
                <a:solidFill>
                  <a:schemeClr val="tx1"/>
                </a:solidFill>
                <a:effectLst/>
                <a:latin typeface="+mn-lt"/>
                <a:ea typeface="+mn-ea"/>
                <a:cs typeface="+mn-cs"/>
              </a:rPr>
              <a:t>），总体标准差</a:t>
            </a:r>
            <a:r>
              <a:rPr lang="en-US" altLang="zh-CN" sz="1200" b="0" i="0" kern="1200" dirty="0">
                <a:solidFill>
                  <a:schemeClr val="tx1"/>
                </a:solidFill>
                <a:effectLst/>
                <a:latin typeface="+mn-lt"/>
                <a:ea typeface="+mn-ea"/>
                <a:cs typeface="+mn-cs"/>
              </a:rPr>
              <a:t>σ</a:t>
            </a:r>
            <a:r>
              <a:rPr lang="zh-CN" altLang="en-US" sz="1200" b="0" i="0" kern="1200" dirty="0">
                <a:solidFill>
                  <a:schemeClr val="tx1"/>
                </a:solidFill>
                <a:effectLst/>
                <a:latin typeface="+mn-lt"/>
                <a:ea typeface="+mn-ea"/>
                <a:cs typeface="+mn-cs"/>
              </a:rPr>
              <a:t>未知的正态分布资料。</a:t>
            </a:r>
            <a:r>
              <a:rPr lang="en-US" altLang="zh-CN" sz="1200" b="0" i="0" kern="1200" dirty="0">
                <a:solidFill>
                  <a:schemeClr val="tx1"/>
                </a:solidFill>
                <a:effectLst/>
                <a:latin typeface="+mn-lt"/>
                <a:ea typeface="+mn-ea"/>
                <a:cs typeface="+mn-cs"/>
              </a:rPr>
              <a:t>t</a:t>
            </a:r>
            <a:r>
              <a:rPr lang="zh-CN" altLang="en-US" sz="1200" b="0" i="0" kern="1200" dirty="0">
                <a:solidFill>
                  <a:schemeClr val="tx1"/>
                </a:solidFill>
                <a:effectLst/>
                <a:latin typeface="+mn-lt"/>
                <a:ea typeface="+mn-ea"/>
                <a:cs typeface="+mn-cs"/>
              </a:rPr>
              <a:t>检验是用于小样本（样本容量小于</a:t>
            </a:r>
            <a:r>
              <a:rPr lang="en-US" altLang="zh-CN" sz="1200" b="0" i="0" kern="1200" dirty="0">
                <a:solidFill>
                  <a:schemeClr val="tx1"/>
                </a:solidFill>
                <a:effectLst/>
                <a:latin typeface="+mn-lt"/>
                <a:ea typeface="+mn-ea"/>
                <a:cs typeface="+mn-cs"/>
              </a:rPr>
              <a:t>30</a:t>
            </a:r>
            <a:r>
              <a:rPr lang="zh-CN" altLang="en-US" sz="1200" b="0" i="0" kern="1200" dirty="0">
                <a:solidFill>
                  <a:schemeClr val="tx1"/>
                </a:solidFill>
                <a:effectLst/>
                <a:latin typeface="+mn-lt"/>
                <a:ea typeface="+mn-ea"/>
                <a:cs typeface="+mn-cs"/>
              </a:rPr>
              <a:t>）的两个平均值差异程度的检验方法。它是用</a:t>
            </a:r>
            <a:r>
              <a:rPr lang="en-US" altLang="zh-CN" sz="1200" b="0" i="0" kern="1200" dirty="0">
                <a:solidFill>
                  <a:schemeClr val="tx1"/>
                </a:solidFill>
                <a:effectLst/>
                <a:latin typeface="+mn-lt"/>
                <a:ea typeface="+mn-ea"/>
                <a:cs typeface="+mn-cs"/>
              </a:rPr>
              <a:t>t</a:t>
            </a:r>
            <a:r>
              <a:rPr lang="zh-CN" altLang="en-US" sz="1200" b="0" i="0" kern="1200" dirty="0">
                <a:solidFill>
                  <a:schemeClr val="tx1"/>
                </a:solidFill>
                <a:effectLst/>
                <a:latin typeface="+mn-lt"/>
                <a:ea typeface="+mn-ea"/>
                <a:cs typeface="+mn-cs"/>
              </a:rPr>
              <a:t>分布理论来推断差异发生的概率，从而判定两个平均数的差异是否显著。</a:t>
            </a:r>
            <a:r>
              <a:rPr lang="en-US" altLang="zh-CN" sz="1200" b="0" i="0" kern="1200" dirty="0">
                <a:solidFill>
                  <a:schemeClr val="tx1"/>
                </a:solidFill>
                <a:effectLst/>
                <a:latin typeface="+mn-lt"/>
                <a:ea typeface="+mn-ea"/>
                <a:cs typeface="+mn-cs"/>
              </a:rPr>
              <a:t>T</a:t>
            </a:r>
            <a:r>
              <a:rPr lang="zh-CN" altLang="en-US" sz="1200" b="0" i="0" kern="1200" dirty="0">
                <a:solidFill>
                  <a:schemeClr val="tx1"/>
                </a:solidFill>
                <a:effectLst/>
                <a:latin typeface="+mn-lt"/>
                <a:ea typeface="+mn-ea"/>
                <a:cs typeface="+mn-cs"/>
              </a:rPr>
              <a:t>检验的适用条件：正态分布资料。例如，</a:t>
            </a:r>
            <a:r>
              <a:rPr lang="en-US" altLang="zh-CN" sz="1200" b="0" i="0" kern="1200" dirty="0">
                <a:solidFill>
                  <a:schemeClr val="tx1"/>
                </a:solidFill>
                <a:effectLst/>
                <a:latin typeface="+mn-lt"/>
                <a:ea typeface="+mn-ea"/>
                <a:cs typeface="+mn-cs"/>
              </a:rPr>
              <a:t>t</a:t>
            </a:r>
            <a:r>
              <a:rPr lang="zh-CN" altLang="en-US" sz="1200" b="0" i="0" kern="1200" dirty="0">
                <a:solidFill>
                  <a:schemeClr val="tx1"/>
                </a:solidFill>
                <a:effectLst/>
                <a:latin typeface="+mn-lt"/>
                <a:ea typeface="+mn-ea"/>
                <a:cs typeface="+mn-cs"/>
              </a:rPr>
              <a:t>检验可用于比较药物治疗组与安慰剂治疗组病人的测量差别。</a:t>
            </a:r>
          </a:p>
          <a:p>
            <a:endParaRPr lang="zh-CN" altLang="en-US" dirty="0"/>
          </a:p>
          <a:p>
            <a:endParaRPr lang="zh-CN" altLang="en-US" dirty="0"/>
          </a:p>
        </p:txBody>
      </p:sp>
      <p:sp>
        <p:nvSpPr>
          <p:cNvPr id="4" name="灯片编号占位符 3"/>
          <p:cNvSpPr>
            <a:spLocks noGrp="1"/>
          </p:cNvSpPr>
          <p:nvPr>
            <p:ph type="sldNum" sz="quarter" idx="5"/>
          </p:nvPr>
        </p:nvSpPr>
        <p:spPr/>
        <p:txBody>
          <a:bodyPr/>
          <a:lstStyle/>
          <a:p>
            <a:fld id="{1009F718-866D-47D2-8F9B-C4950FA0C7F0}" type="slidenum">
              <a:rPr lang="zh-CN" altLang="en-US" smtClean="0"/>
              <a:t>18</a:t>
            </a:fld>
            <a:endParaRPr lang="zh-CN" altLang="en-US"/>
          </a:p>
        </p:txBody>
      </p:sp>
    </p:spTree>
    <p:extLst>
      <p:ext uri="{BB962C8B-B14F-4D97-AF65-F5344CB8AC3E}">
        <p14:creationId xmlns:p14="http://schemas.microsoft.com/office/powerpoint/2010/main" val="6837638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1" i="0" kern="1200" dirty="0">
                <a:solidFill>
                  <a:schemeClr val="tx1"/>
                </a:solidFill>
                <a:effectLst/>
                <a:latin typeface="+mn-lt"/>
                <a:ea typeface="+mn-ea"/>
                <a:cs typeface="+mn-cs"/>
              </a:rPr>
              <a:t>罗纳德</a:t>
            </a:r>
            <a:r>
              <a:rPr lang="en-US" altLang="zh-CN" sz="1200" b="1" i="0" kern="1200" dirty="0">
                <a:solidFill>
                  <a:schemeClr val="tx1"/>
                </a:solidFill>
                <a:effectLst/>
                <a:latin typeface="+mn-lt"/>
                <a:ea typeface="+mn-ea"/>
                <a:cs typeface="+mn-cs"/>
              </a:rPr>
              <a:t>·</a:t>
            </a:r>
            <a:r>
              <a:rPr lang="zh-CN" altLang="en-US" sz="1200" b="1" i="0" kern="1200" dirty="0">
                <a:solidFill>
                  <a:schemeClr val="tx1"/>
                </a:solidFill>
                <a:effectLst/>
                <a:latin typeface="+mn-lt"/>
                <a:ea typeface="+mn-ea"/>
                <a:cs typeface="+mn-cs"/>
              </a:rPr>
              <a:t>费雪</a:t>
            </a:r>
            <a:r>
              <a:rPr lang="zh-CN" altLang="en-US" sz="1200" b="0" i="0" kern="1200" dirty="0">
                <a:solidFill>
                  <a:schemeClr val="tx1"/>
                </a:solidFill>
                <a:effectLst/>
                <a:latin typeface="+mn-lt"/>
                <a:ea typeface="+mn-ea"/>
                <a:cs typeface="+mn-cs"/>
              </a:rPr>
              <a:t>（</a:t>
            </a:r>
            <a:r>
              <a:rPr lang="en-US" altLang="zh-CN" sz="1200" b="0" i="0" kern="1200" dirty="0">
                <a:solidFill>
                  <a:schemeClr val="tx1"/>
                </a:solidFill>
                <a:effectLst/>
                <a:latin typeface="+mn-lt"/>
                <a:ea typeface="+mn-ea"/>
                <a:cs typeface="+mn-cs"/>
              </a:rPr>
              <a:t>Sir Ronald Aylmer Fisher, FRS</a:t>
            </a:r>
            <a:r>
              <a:rPr lang="zh-CN" altLang="en-US" sz="1200" b="0" i="0" kern="1200" dirty="0">
                <a:solidFill>
                  <a:schemeClr val="tx1"/>
                </a:solidFill>
                <a:effectLst/>
                <a:latin typeface="+mn-lt"/>
                <a:ea typeface="+mn-ea"/>
                <a:cs typeface="+mn-cs"/>
              </a:rPr>
              <a:t>，</a:t>
            </a:r>
            <a:r>
              <a:rPr lang="en-US" altLang="zh-CN" sz="1200" b="0" i="0" kern="1200" dirty="0">
                <a:solidFill>
                  <a:schemeClr val="tx1"/>
                </a:solidFill>
                <a:effectLst/>
                <a:latin typeface="+mn-lt"/>
                <a:ea typeface="+mn-ea"/>
                <a:cs typeface="+mn-cs"/>
              </a:rPr>
              <a:t>1890.2.17</a:t>
            </a:r>
            <a:r>
              <a:rPr lang="zh-CN" altLang="en-US" sz="1200" b="0" i="0" kern="1200" dirty="0">
                <a:solidFill>
                  <a:schemeClr val="tx1"/>
                </a:solidFill>
                <a:effectLst/>
                <a:latin typeface="+mn-lt"/>
                <a:ea typeface="+mn-ea"/>
                <a:cs typeface="+mn-cs"/>
              </a:rPr>
              <a:t>－</a:t>
            </a:r>
            <a:r>
              <a:rPr lang="en-US" altLang="zh-CN" sz="1200" b="0" i="0" kern="1200" dirty="0">
                <a:solidFill>
                  <a:schemeClr val="tx1"/>
                </a:solidFill>
                <a:effectLst/>
                <a:latin typeface="+mn-lt"/>
                <a:ea typeface="+mn-ea"/>
                <a:cs typeface="+mn-cs"/>
              </a:rPr>
              <a:t>1962.7.29</a:t>
            </a:r>
            <a:r>
              <a:rPr lang="zh-CN" altLang="en-US" sz="1200" b="0" i="0" kern="1200" dirty="0">
                <a:solidFill>
                  <a:schemeClr val="tx1"/>
                </a:solidFill>
                <a:effectLst/>
                <a:latin typeface="+mn-lt"/>
                <a:ea typeface="+mn-ea"/>
                <a:cs typeface="+mn-cs"/>
              </a:rPr>
              <a:t>）现代统计学与现代演化论的奠基者之一；安德斯</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哈尔德称他是“一位几乎独自建立现代统计科学的天才”；理查</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道金斯则认为他是“达尔文最伟大的继承者”。他生于伦敦，卒于 </a:t>
            </a:r>
            <a:r>
              <a:rPr lang="en-US" altLang="zh-CN" sz="1200" b="0" i="0" kern="1200" dirty="0" err="1">
                <a:solidFill>
                  <a:schemeClr val="tx1"/>
                </a:solidFill>
                <a:effectLst/>
                <a:latin typeface="+mn-lt"/>
                <a:ea typeface="+mn-ea"/>
                <a:cs typeface="+mn-cs"/>
              </a:rPr>
              <a:t>Adleaide</a:t>
            </a:r>
            <a:r>
              <a:rPr lang="zh-CN" altLang="en-US" sz="1200" b="0" i="0" kern="1200" dirty="0">
                <a:solidFill>
                  <a:schemeClr val="tx1"/>
                </a:solidFill>
                <a:effectLst/>
                <a:latin typeface="+mn-lt"/>
                <a:ea typeface="+mn-ea"/>
                <a:cs typeface="+mn-cs"/>
              </a:rPr>
              <a:t>（澳洲）。</a:t>
            </a:r>
            <a:r>
              <a:rPr lang="en-US" altLang="zh-CN" sz="1200" b="0" i="0" kern="1200" dirty="0">
                <a:solidFill>
                  <a:schemeClr val="tx1"/>
                </a:solidFill>
                <a:effectLst/>
                <a:latin typeface="+mn-lt"/>
                <a:ea typeface="+mn-ea"/>
                <a:cs typeface="+mn-cs"/>
              </a:rPr>
              <a:t>Fisher</a:t>
            </a:r>
            <a:r>
              <a:rPr lang="zh-CN" altLang="en-US" sz="1200" b="0" i="0" kern="1200" dirty="0">
                <a:solidFill>
                  <a:schemeClr val="tx1"/>
                </a:solidFill>
                <a:effectLst/>
                <a:latin typeface="+mn-lt"/>
                <a:ea typeface="+mn-ea"/>
                <a:cs typeface="+mn-cs"/>
              </a:rPr>
              <a:t>可能是当今使用的统计技术发展中最重要的英文单词，他发明了方差分析和</a:t>
            </a:r>
            <a:r>
              <a:rPr lang="en-US" altLang="zh-CN" sz="1200" b="0" i="0" kern="1200" dirty="0">
                <a:solidFill>
                  <a:schemeClr val="tx1"/>
                </a:solidFill>
                <a:effectLst/>
                <a:latin typeface="+mn-lt"/>
                <a:ea typeface="+mn-ea"/>
                <a:cs typeface="+mn-cs"/>
              </a:rPr>
              <a:t>Fisher </a:t>
            </a:r>
            <a:r>
              <a:rPr lang="zh-CN" altLang="en-US" sz="1200" b="0" i="0" kern="1200" dirty="0">
                <a:solidFill>
                  <a:schemeClr val="tx1"/>
                </a:solidFill>
                <a:effectLst/>
                <a:latin typeface="+mn-lt"/>
                <a:ea typeface="+mn-ea"/>
                <a:cs typeface="+mn-cs"/>
              </a:rPr>
              <a:t>精确检验来分析交叉列表数据（卡方检验仅是近似值）。</a:t>
            </a:r>
          </a:p>
          <a:p>
            <a:r>
              <a:rPr lang="zh-CN" altLang="en-US" sz="1200" b="1" i="0" kern="1200" dirty="0">
                <a:solidFill>
                  <a:schemeClr val="tx1"/>
                </a:solidFill>
                <a:effectLst/>
                <a:latin typeface="+mn-lt"/>
                <a:ea typeface="+mn-ea"/>
                <a:cs typeface="+mn-cs"/>
              </a:rPr>
              <a:t>方差分析</a:t>
            </a:r>
            <a:r>
              <a:rPr lang="en-US" altLang="zh-CN" sz="1200" b="1" i="0" kern="1200" dirty="0">
                <a:solidFill>
                  <a:schemeClr val="tx1"/>
                </a:solidFill>
                <a:effectLst/>
                <a:latin typeface="+mn-lt"/>
                <a:ea typeface="+mn-ea"/>
                <a:cs typeface="+mn-cs"/>
              </a:rPr>
              <a:t>(Analysis of Variance</a:t>
            </a:r>
            <a:r>
              <a:rPr lang="zh-CN" altLang="en-US" sz="1200" b="1" i="0" kern="1200" dirty="0">
                <a:solidFill>
                  <a:schemeClr val="tx1"/>
                </a:solidFill>
                <a:effectLst/>
                <a:latin typeface="+mn-lt"/>
                <a:ea typeface="+mn-ea"/>
                <a:cs typeface="+mn-cs"/>
              </a:rPr>
              <a:t>，简称</a:t>
            </a:r>
            <a:r>
              <a:rPr lang="en-US" altLang="zh-CN" sz="1200" b="1" i="0" kern="1200" dirty="0">
                <a:solidFill>
                  <a:schemeClr val="tx1"/>
                </a:solidFill>
                <a:effectLst/>
                <a:latin typeface="+mn-lt"/>
                <a:ea typeface="+mn-ea"/>
                <a:cs typeface="+mn-cs"/>
              </a:rPr>
              <a:t>ANOVA)</a:t>
            </a:r>
            <a:r>
              <a:rPr lang="zh-CN" altLang="en-US" sz="1200" b="1"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又称“变异数分析”，用于两个及两个以上样本均数差别的显著性检验。 由于各种因素的影响，研究所得的数据呈现波动状。造成波动的原因可分成两类，一是不可控的随机因素，另一是研究中施加的对结果形成影响的可控因素。方差分析的基本思想是：通过分析研究不同来源的变异对总变异的贡献大小，从而确定可控因素对研究结果影响力的大小。关注投必得医学，我们之后会介绍其具体内容及</a:t>
            </a:r>
            <a:r>
              <a:rPr lang="en-US" altLang="zh-CN" sz="1200" b="0" i="0" kern="1200" dirty="0">
                <a:solidFill>
                  <a:schemeClr val="tx1"/>
                </a:solidFill>
                <a:effectLst/>
                <a:latin typeface="+mn-lt"/>
                <a:ea typeface="+mn-ea"/>
                <a:cs typeface="+mn-cs"/>
              </a:rPr>
              <a:t>R</a:t>
            </a:r>
            <a:r>
              <a:rPr lang="zh-CN" altLang="en-US" sz="1200" b="0" i="0" kern="1200" dirty="0">
                <a:solidFill>
                  <a:schemeClr val="tx1"/>
                </a:solidFill>
                <a:effectLst/>
                <a:latin typeface="+mn-lt"/>
                <a:ea typeface="+mn-ea"/>
                <a:cs typeface="+mn-cs"/>
              </a:rPr>
              <a:t>实现噢～</a:t>
            </a:r>
          </a:p>
          <a:p>
            <a:r>
              <a:rPr lang="en-US" altLang="zh-CN" sz="1200" b="1" i="0" kern="1200" dirty="0">
                <a:solidFill>
                  <a:schemeClr val="tx1"/>
                </a:solidFill>
                <a:effectLst/>
                <a:latin typeface="+mn-lt"/>
                <a:ea typeface="+mn-ea"/>
                <a:cs typeface="+mn-cs"/>
              </a:rPr>
              <a:t>Fisher</a:t>
            </a:r>
            <a:r>
              <a:rPr lang="zh-CN" altLang="en-US" sz="1200" b="1" i="0" kern="1200" dirty="0">
                <a:solidFill>
                  <a:schemeClr val="tx1"/>
                </a:solidFill>
                <a:effectLst/>
                <a:latin typeface="+mn-lt"/>
                <a:ea typeface="+mn-ea"/>
                <a:cs typeface="+mn-cs"/>
              </a:rPr>
              <a:t>精确检验（</a:t>
            </a:r>
            <a:r>
              <a:rPr lang="en-US" altLang="zh-CN" sz="1200" b="1" i="0" kern="1200" dirty="0">
                <a:solidFill>
                  <a:schemeClr val="tx1"/>
                </a:solidFill>
                <a:effectLst/>
                <a:latin typeface="+mn-lt"/>
                <a:ea typeface="+mn-ea"/>
                <a:cs typeface="+mn-cs"/>
              </a:rPr>
              <a:t>Fisher's exact test</a:t>
            </a:r>
            <a:r>
              <a:rPr lang="zh-CN" altLang="en-US" sz="1200" b="1"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是用于分析</a:t>
            </a:r>
            <a:r>
              <a:rPr lang="en-US" altLang="zh-CN" sz="1200" b="0" i="0" kern="1200" dirty="0">
                <a:solidFill>
                  <a:schemeClr val="tx1"/>
                </a:solidFill>
                <a:effectLst/>
                <a:latin typeface="+mn-lt"/>
                <a:ea typeface="+mn-ea"/>
                <a:cs typeface="+mn-cs"/>
              </a:rPr>
              <a:t>RC</a:t>
            </a:r>
            <a:r>
              <a:rPr lang="zh-CN" altLang="en-US" sz="1200" b="0" i="0" kern="1200" dirty="0">
                <a:solidFill>
                  <a:schemeClr val="tx1"/>
                </a:solidFill>
                <a:effectLst/>
                <a:latin typeface="+mn-lt"/>
                <a:ea typeface="+mn-ea"/>
                <a:cs typeface="+mn-cs"/>
              </a:rPr>
              <a:t>列联表统计显著性检验方法，它用于检验两个分类的关联。实际操作中常使用于小数据情况，但同样适用于大样本的情况。虽然大样本情况目前一般用卡方检验居多。它可以进准地算出</a:t>
            </a:r>
            <a:r>
              <a:rPr lang="en-US" altLang="zh-CN" sz="1200" b="0" i="0" kern="1200" dirty="0">
                <a:solidFill>
                  <a:schemeClr val="tx1"/>
                </a:solidFill>
                <a:effectLst/>
                <a:latin typeface="+mn-lt"/>
                <a:ea typeface="+mn-ea"/>
                <a:cs typeface="+mn-cs"/>
              </a:rPr>
              <a:t>P</a:t>
            </a:r>
            <a:r>
              <a:rPr lang="zh-CN" altLang="en-US" sz="1200" b="0" i="0" kern="1200" dirty="0">
                <a:solidFill>
                  <a:schemeClr val="tx1"/>
                </a:solidFill>
                <a:effectLst/>
                <a:latin typeface="+mn-lt"/>
                <a:ea typeface="+mn-ea"/>
                <a:cs typeface="+mn-cs"/>
              </a:rPr>
              <a:t>的概率，而不需要根据卡方值和自由度查表查询</a:t>
            </a:r>
            <a:r>
              <a:rPr lang="en-US" altLang="zh-CN" sz="1200" b="0" i="0" kern="1200" dirty="0">
                <a:solidFill>
                  <a:schemeClr val="tx1"/>
                </a:solidFill>
                <a:effectLst/>
                <a:latin typeface="+mn-lt"/>
                <a:ea typeface="+mn-ea"/>
                <a:cs typeface="+mn-cs"/>
              </a:rPr>
              <a:t>P</a:t>
            </a:r>
            <a:r>
              <a:rPr lang="zh-CN" altLang="en-US" sz="1200" b="0" i="0" kern="1200" dirty="0">
                <a:solidFill>
                  <a:schemeClr val="tx1"/>
                </a:solidFill>
                <a:effectLst/>
                <a:latin typeface="+mn-lt"/>
                <a:ea typeface="+mn-ea"/>
                <a:cs typeface="+mn-cs"/>
              </a:rPr>
              <a:t>值。关注投必得医学，我们之后会介绍其具体内容及</a:t>
            </a:r>
            <a:r>
              <a:rPr lang="en-US" altLang="zh-CN" sz="1200" b="0" i="0" kern="1200" dirty="0">
                <a:solidFill>
                  <a:schemeClr val="tx1"/>
                </a:solidFill>
                <a:effectLst/>
                <a:latin typeface="+mn-lt"/>
                <a:ea typeface="+mn-ea"/>
                <a:cs typeface="+mn-cs"/>
              </a:rPr>
              <a:t>R</a:t>
            </a:r>
            <a:r>
              <a:rPr lang="zh-CN" altLang="en-US" sz="1200" b="0" i="0" kern="1200" dirty="0">
                <a:solidFill>
                  <a:schemeClr val="tx1"/>
                </a:solidFill>
                <a:effectLst/>
                <a:latin typeface="+mn-lt"/>
                <a:ea typeface="+mn-ea"/>
                <a:cs typeface="+mn-cs"/>
              </a:rPr>
              <a:t>实现噢～</a:t>
            </a:r>
          </a:p>
          <a:p>
            <a:endParaRPr lang="zh-CN" altLang="en-US" dirty="0"/>
          </a:p>
          <a:p>
            <a:endParaRPr lang="zh-CN" altLang="en-US" dirty="0"/>
          </a:p>
        </p:txBody>
      </p:sp>
      <p:sp>
        <p:nvSpPr>
          <p:cNvPr id="4" name="灯片编号占位符 3"/>
          <p:cNvSpPr>
            <a:spLocks noGrp="1"/>
          </p:cNvSpPr>
          <p:nvPr>
            <p:ph type="sldNum" sz="quarter" idx="5"/>
          </p:nvPr>
        </p:nvSpPr>
        <p:spPr/>
        <p:txBody>
          <a:bodyPr/>
          <a:lstStyle/>
          <a:p>
            <a:fld id="{1009F718-866D-47D2-8F9B-C4950FA0C7F0}" type="slidenum">
              <a:rPr lang="zh-CN" altLang="en-US" smtClean="0"/>
              <a:t>19</a:t>
            </a:fld>
            <a:endParaRPr lang="zh-CN" altLang="en-US"/>
          </a:p>
        </p:txBody>
      </p:sp>
    </p:spTree>
    <p:extLst>
      <p:ext uri="{BB962C8B-B14F-4D97-AF65-F5344CB8AC3E}">
        <p14:creationId xmlns:p14="http://schemas.microsoft.com/office/powerpoint/2010/main" val="17575589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https://www.mathgenealogy.org/id.php?id=46924</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1009F718-866D-47D2-8F9B-C4950FA0C7F0}" type="slidenum">
              <a:rPr lang="zh-CN" altLang="en-US" smtClean="0"/>
              <a:t>20</a:t>
            </a:fld>
            <a:endParaRPr lang="zh-CN" altLang="en-US"/>
          </a:p>
        </p:txBody>
      </p:sp>
    </p:spTree>
    <p:extLst>
      <p:ext uri="{BB962C8B-B14F-4D97-AF65-F5344CB8AC3E}">
        <p14:creationId xmlns:p14="http://schemas.microsoft.com/office/powerpoint/2010/main" val="24771893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https://zhuanlan.zhihu.com/p/398238688</a:t>
            </a:r>
          </a:p>
          <a:p>
            <a:endParaRPr lang="zh-CN" altLang="en-US" dirty="0"/>
          </a:p>
        </p:txBody>
      </p:sp>
      <p:sp>
        <p:nvSpPr>
          <p:cNvPr id="4" name="灯片编号占位符 3"/>
          <p:cNvSpPr>
            <a:spLocks noGrp="1"/>
          </p:cNvSpPr>
          <p:nvPr>
            <p:ph type="sldNum" sz="quarter" idx="5"/>
          </p:nvPr>
        </p:nvSpPr>
        <p:spPr/>
        <p:txBody>
          <a:bodyPr/>
          <a:lstStyle/>
          <a:p>
            <a:fld id="{1009F718-866D-47D2-8F9B-C4950FA0C7F0}" type="slidenum">
              <a:rPr lang="zh-CN" altLang="en-US" smtClean="0"/>
              <a:t>21</a:t>
            </a:fld>
            <a:endParaRPr lang="zh-CN" altLang="en-US"/>
          </a:p>
        </p:txBody>
      </p:sp>
    </p:spTree>
    <p:extLst>
      <p:ext uri="{BB962C8B-B14F-4D97-AF65-F5344CB8AC3E}">
        <p14:creationId xmlns:p14="http://schemas.microsoft.com/office/powerpoint/2010/main" val="8473847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弗罗伦斯</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南丁格尔（</a:t>
            </a:r>
            <a:r>
              <a:rPr lang="en-US" altLang="zh-CN" sz="1200" b="0" i="0" kern="1200" dirty="0">
                <a:solidFill>
                  <a:schemeClr val="tx1"/>
                </a:solidFill>
                <a:effectLst/>
                <a:latin typeface="+mn-lt"/>
                <a:ea typeface="+mn-ea"/>
                <a:cs typeface="+mn-cs"/>
              </a:rPr>
              <a:t>Florence Nightingale</a:t>
            </a:r>
            <a:r>
              <a:rPr lang="zh-CN" altLang="en-US" sz="1200" b="0" i="0" kern="1200" dirty="0">
                <a:solidFill>
                  <a:schemeClr val="tx1"/>
                </a:solidFill>
                <a:effectLst/>
                <a:latin typeface="+mn-lt"/>
                <a:ea typeface="+mn-ea"/>
                <a:cs typeface="+mn-cs"/>
              </a:rPr>
              <a:t>，</a:t>
            </a:r>
            <a:r>
              <a:rPr lang="en-US" altLang="zh-CN" sz="1200" b="0" i="0" kern="1200" dirty="0">
                <a:solidFill>
                  <a:schemeClr val="tx1"/>
                </a:solidFill>
                <a:effectLst/>
                <a:latin typeface="+mn-lt"/>
                <a:ea typeface="+mn-ea"/>
                <a:cs typeface="+mn-cs"/>
              </a:rPr>
              <a:t>1820</a:t>
            </a:r>
            <a:r>
              <a:rPr lang="zh-CN" altLang="en-US" sz="1200" b="0" i="0" kern="1200" dirty="0">
                <a:solidFill>
                  <a:schemeClr val="tx1"/>
                </a:solidFill>
                <a:effectLst/>
                <a:latin typeface="+mn-lt"/>
                <a:ea typeface="+mn-ea"/>
                <a:cs typeface="+mn-cs"/>
              </a:rPr>
              <a:t>年</a:t>
            </a:r>
            <a:r>
              <a:rPr lang="en-US" altLang="zh-CN" sz="1200" b="0" i="0" kern="1200" dirty="0">
                <a:solidFill>
                  <a:schemeClr val="tx1"/>
                </a:solidFill>
                <a:effectLst/>
                <a:latin typeface="+mn-lt"/>
                <a:ea typeface="+mn-ea"/>
                <a:cs typeface="+mn-cs"/>
              </a:rPr>
              <a:t>5</a:t>
            </a:r>
            <a:r>
              <a:rPr lang="zh-CN" altLang="en-US" sz="1200" b="0" i="0" kern="1200" dirty="0">
                <a:solidFill>
                  <a:schemeClr val="tx1"/>
                </a:solidFill>
                <a:effectLst/>
                <a:latin typeface="+mn-lt"/>
                <a:ea typeface="+mn-ea"/>
                <a:cs typeface="+mn-cs"/>
              </a:rPr>
              <a:t>月</a:t>
            </a:r>
            <a:r>
              <a:rPr lang="en-US" altLang="zh-CN" sz="1200" b="0" i="0" kern="1200" dirty="0">
                <a:solidFill>
                  <a:schemeClr val="tx1"/>
                </a:solidFill>
                <a:effectLst/>
                <a:latin typeface="+mn-lt"/>
                <a:ea typeface="+mn-ea"/>
                <a:cs typeface="+mn-cs"/>
              </a:rPr>
              <a:t>12</a:t>
            </a:r>
            <a:r>
              <a:rPr lang="zh-CN" altLang="en-US" sz="1200" b="0" i="0" kern="1200" dirty="0">
                <a:solidFill>
                  <a:schemeClr val="tx1"/>
                </a:solidFill>
                <a:effectLst/>
                <a:latin typeface="+mn-lt"/>
                <a:ea typeface="+mn-ea"/>
                <a:cs typeface="+mn-cs"/>
              </a:rPr>
              <a:t>日－</a:t>
            </a:r>
            <a:r>
              <a:rPr lang="en-US" altLang="zh-CN" sz="1200" b="0" i="0" kern="1200" dirty="0">
                <a:solidFill>
                  <a:schemeClr val="tx1"/>
                </a:solidFill>
                <a:effectLst/>
                <a:latin typeface="+mn-lt"/>
                <a:ea typeface="+mn-ea"/>
                <a:cs typeface="+mn-cs"/>
              </a:rPr>
              <a:t>1910</a:t>
            </a:r>
            <a:r>
              <a:rPr lang="zh-CN" altLang="en-US" sz="1200" b="0" i="0" kern="1200" dirty="0">
                <a:solidFill>
                  <a:schemeClr val="tx1"/>
                </a:solidFill>
                <a:effectLst/>
                <a:latin typeface="+mn-lt"/>
                <a:ea typeface="+mn-ea"/>
                <a:cs typeface="+mn-cs"/>
              </a:rPr>
              <a:t>年</a:t>
            </a:r>
            <a:r>
              <a:rPr lang="en-US" altLang="zh-CN" sz="1200" b="0" i="0" kern="1200" dirty="0">
                <a:solidFill>
                  <a:schemeClr val="tx1"/>
                </a:solidFill>
                <a:effectLst/>
                <a:latin typeface="+mn-lt"/>
                <a:ea typeface="+mn-ea"/>
                <a:cs typeface="+mn-cs"/>
              </a:rPr>
              <a:t>8</a:t>
            </a:r>
            <a:r>
              <a:rPr lang="zh-CN" altLang="en-US" sz="1200" b="0" i="0" kern="1200" dirty="0">
                <a:solidFill>
                  <a:schemeClr val="tx1"/>
                </a:solidFill>
                <a:effectLst/>
                <a:latin typeface="+mn-lt"/>
                <a:ea typeface="+mn-ea"/>
                <a:cs typeface="+mn-cs"/>
              </a:rPr>
              <a:t>月</a:t>
            </a:r>
            <a:r>
              <a:rPr lang="en-US" altLang="zh-CN" sz="1200" b="0" i="0" kern="1200" dirty="0">
                <a:solidFill>
                  <a:schemeClr val="tx1"/>
                </a:solidFill>
                <a:effectLst/>
                <a:latin typeface="+mn-lt"/>
                <a:ea typeface="+mn-ea"/>
                <a:cs typeface="+mn-cs"/>
              </a:rPr>
              <a:t>13</a:t>
            </a:r>
            <a:r>
              <a:rPr lang="zh-CN" altLang="en-US" sz="1200" b="0" i="0" kern="1200" dirty="0">
                <a:solidFill>
                  <a:schemeClr val="tx1"/>
                </a:solidFill>
                <a:effectLst/>
                <a:latin typeface="+mn-lt"/>
                <a:ea typeface="+mn-ea"/>
                <a:cs typeface="+mn-cs"/>
              </a:rPr>
              <a:t>日），英国护士和统计学家，出生于意大利的一个英国上流社会的家庭。在德国学习护理后，曾往伦敦的医院工作。于</a:t>
            </a:r>
            <a:r>
              <a:rPr lang="en-US" altLang="zh-CN" sz="1200" b="0" i="0" kern="1200" dirty="0">
                <a:solidFill>
                  <a:schemeClr val="tx1"/>
                </a:solidFill>
                <a:effectLst/>
                <a:latin typeface="+mn-lt"/>
                <a:ea typeface="+mn-ea"/>
                <a:cs typeface="+mn-cs"/>
              </a:rPr>
              <a:t>1853</a:t>
            </a:r>
            <a:r>
              <a:rPr lang="zh-CN" altLang="en-US" sz="1200" b="0" i="0" kern="1200" dirty="0">
                <a:solidFill>
                  <a:schemeClr val="tx1"/>
                </a:solidFill>
                <a:effectLst/>
                <a:latin typeface="+mn-lt"/>
                <a:ea typeface="+mn-ea"/>
                <a:cs typeface="+mn-cs"/>
              </a:rPr>
              <a:t>年成为伦敦慈善医院的护士长。</a:t>
            </a:r>
          </a:p>
          <a:p>
            <a:r>
              <a:rPr lang="zh-CN" altLang="en-US" sz="1200" b="1" i="0" kern="1200" dirty="0">
                <a:solidFill>
                  <a:schemeClr val="tx1"/>
                </a:solidFill>
                <a:effectLst/>
                <a:latin typeface="+mn-lt"/>
                <a:ea typeface="+mn-ea"/>
                <a:cs typeface="+mn-cs"/>
              </a:rPr>
              <a:t>南丁格尔是视觉表现和统计图形的先驱。</a:t>
            </a:r>
            <a:r>
              <a:rPr lang="zh-CN" altLang="en-US" sz="1200" b="0" i="0" kern="1200" dirty="0">
                <a:solidFill>
                  <a:schemeClr val="tx1"/>
                </a:solidFill>
                <a:effectLst/>
                <a:latin typeface="+mn-lt"/>
                <a:ea typeface="+mn-ea"/>
                <a:cs typeface="+mn-cs"/>
              </a:rPr>
              <a:t>南丁格尔被描述为“</a:t>
            </a:r>
            <a:r>
              <a:rPr lang="zh-CN" altLang="en-US" sz="1200" b="1" i="0" kern="1200" dirty="0">
                <a:solidFill>
                  <a:schemeClr val="tx1"/>
                </a:solidFill>
                <a:effectLst/>
                <a:latin typeface="+mn-lt"/>
                <a:ea typeface="+mn-ea"/>
                <a:cs typeface="+mn-cs"/>
              </a:rPr>
              <a:t>在统计的图形显示方法上，是一个真正的先驱</a:t>
            </a:r>
            <a:r>
              <a:rPr lang="zh-CN" altLang="en-US" sz="1200" b="0" i="0" kern="1200" dirty="0">
                <a:solidFill>
                  <a:schemeClr val="tx1"/>
                </a:solidFill>
                <a:effectLst/>
                <a:latin typeface="+mn-lt"/>
                <a:ea typeface="+mn-ea"/>
                <a:cs typeface="+mn-cs"/>
              </a:rPr>
              <a:t>”，</a:t>
            </a:r>
            <a:r>
              <a:rPr lang="zh-CN" altLang="en-US" sz="1200" b="1" i="0" kern="1200" dirty="0">
                <a:solidFill>
                  <a:schemeClr val="tx1"/>
                </a:solidFill>
                <a:effectLst/>
                <a:latin typeface="+mn-lt"/>
                <a:ea typeface="+mn-ea"/>
                <a:cs typeface="+mn-cs"/>
              </a:rPr>
              <a:t>她发展出极座标图饼图的形式，或称为南丁格尔玫瑰图</a:t>
            </a:r>
            <a:r>
              <a:rPr lang="zh-CN" altLang="en-US" sz="1200" b="0" i="0" kern="1200" dirty="0">
                <a:solidFill>
                  <a:schemeClr val="tx1"/>
                </a:solidFill>
                <a:effectLst/>
                <a:latin typeface="+mn-lt"/>
                <a:ea typeface="+mn-ea"/>
                <a:cs typeface="+mn-cs"/>
              </a:rPr>
              <a:t>，相当于现代圆形直方图。</a:t>
            </a:r>
          </a:p>
          <a:p>
            <a:r>
              <a:rPr lang="zh-CN" altLang="en-US" sz="1200" b="0" i="0" kern="1200" dirty="0">
                <a:solidFill>
                  <a:schemeClr val="tx1"/>
                </a:solidFill>
                <a:effectLst/>
                <a:latin typeface="+mn-lt"/>
                <a:ea typeface="+mn-ea"/>
                <a:cs typeface="+mn-cs"/>
              </a:rPr>
              <a:t>她利用这个图形来说明她在管理的野战医院内，病人死亡率在不同季节的变化。她使用极座标图饼图，向不会阅读统计报告的国会议员，报告克里米亚战争的医疗条件，使得议员们能轻松听懂。</a:t>
            </a:r>
          </a:p>
          <a:p>
            <a:r>
              <a:rPr lang="zh-CN" altLang="en-US" sz="1200" b="0" i="0" kern="1200" dirty="0">
                <a:solidFill>
                  <a:schemeClr val="tx1"/>
                </a:solidFill>
                <a:effectLst/>
                <a:latin typeface="+mn-lt"/>
                <a:ea typeface="+mn-ea"/>
                <a:cs typeface="+mn-cs"/>
              </a:rPr>
              <a:t>后来，南丁格尔对于印度的农村生活，做了全面的卫生统计研究，并在印度改善医疗和公共卫生服务。</a:t>
            </a:r>
          </a:p>
          <a:p>
            <a:r>
              <a:rPr lang="zh-CN" altLang="en-US" sz="1200" b="0" i="0" kern="1200" dirty="0">
                <a:solidFill>
                  <a:schemeClr val="tx1"/>
                </a:solidFill>
                <a:effectLst/>
                <a:latin typeface="+mn-lt"/>
                <a:ea typeface="+mn-ea"/>
                <a:cs typeface="+mn-cs"/>
              </a:rPr>
              <a:t>现在疫情期间，大家看到的人民日报的疫情图，便是南丁格尔玫瑰图。</a:t>
            </a:r>
            <a:r>
              <a:rPr lang="zh-CN" altLang="en-US" sz="1200" b="1" i="0" kern="1200" dirty="0">
                <a:solidFill>
                  <a:schemeClr val="tx1"/>
                </a:solidFill>
                <a:effectLst/>
                <a:latin typeface="+mn-lt"/>
                <a:ea typeface="+mn-ea"/>
                <a:cs typeface="+mn-cs"/>
              </a:rPr>
              <a:t>关注投必得医学，我们之后会介绍其具体内容及</a:t>
            </a:r>
            <a:r>
              <a:rPr lang="en-US" altLang="zh-CN" sz="1200" b="1" i="0" kern="1200" dirty="0">
                <a:solidFill>
                  <a:schemeClr val="tx1"/>
                </a:solidFill>
                <a:effectLst/>
                <a:latin typeface="+mn-lt"/>
                <a:ea typeface="+mn-ea"/>
                <a:cs typeface="+mn-cs"/>
              </a:rPr>
              <a:t>R</a:t>
            </a:r>
            <a:r>
              <a:rPr lang="zh-CN" altLang="en-US" sz="1200" b="1" i="0" kern="1200" dirty="0">
                <a:solidFill>
                  <a:schemeClr val="tx1"/>
                </a:solidFill>
                <a:effectLst/>
                <a:latin typeface="+mn-lt"/>
                <a:ea typeface="+mn-ea"/>
                <a:cs typeface="+mn-cs"/>
              </a:rPr>
              <a:t>实现噢～</a:t>
            </a:r>
            <a:endParaRPr lang="zh-CN" altLang="en-US" sz="1200" b="0" i="0" kern="1200" dirty="0">
              <a:solidFill>
                <a:schemeClr val="tx1"/>
              </a:solidFill>
              <a:effectLst/>
              <a:latin typeface="+mn-lt"/>
              <a:ea typeface="+mn-ea"/>
              <a:cs typeface="+mn-cs"/>
            </a:endParaRPr>
          </a:p>
          <a:p>
            <a:endParaRPr lang="zh-CN" altLang="en-US" dirty="0"/>
          </a:p>
          <a:p>
            <a:endParaRPr lang="zh-CN" altLang="en-US" dirty="0"/>
          </a:p>
        </p:txBody>
      </p:sp>
      <p:sp>
        <p:nvSpPr>
          <p:cNvPr id="4" name="灯片编号占位符 3"/>
          <p:cNvSpPr>
            <a:spLocks noGrp="1"/>
          </p:cNvSpPr>
          <p:nvPr>
            <p:ph type="sldNum" sz="quarter" idx="5"/>
          </p:nvPr>
        </p:nvSpPr>
        <p:spPr/>
        <p:txBody>
          <a:bodyPr/>
          <a:lstStyle/>
          <a:p>
            <a:fld id="{1009F718-866D-47D2-8F9B-C4950FA0C7F0}" type="slidenum">
              <a:rPr lang="zh-CN" altLang="en-US" smtClean="0"/>
              <a:t>22</a:t>
            </a:fld>
            <a:endParaRPr lang="zh-CN" altLang="en-US"/>
          </a:p>
        </p:txBody>
      </p:sp>
    </p:spTree>
    <p:extLst>
      <p:ext uri="{BB962C8B-B14F-4D97-AF65-F5344CB8AC3E}">
        <p14:creationId xmlns:p14="http://schemas.microsoft.com/office/powerpoint/2010/main" val="10202278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009F718-866D-47D2-8F9B-C4950FA0C7F0}" type="slidenum">
              <a:rPr lang="zh-CN" altLang="en-US" smtClean="0"/>
              <a:t>23</a:t>
            </a:fld>
            <a:endParaRPr lang="zh-CN" altLang="en-US"/>
          </a:p>
        </p:txBody>
      </p:sp>
    </p:spTree>
    <p:extLst>
      <p:ext uri="{BB962C8B-B14F-4D97-AF65-F5344CB8AC3E}">
        <p14:creationId xmlns:p14="http://schemas.microsoft.com/office/powerpoint/2010/main" val="42593002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009F718-866D-47D2-8F9B-C4950FA0C7F0}" type="slidenum">
              <a:rPr lang="zh-CN" altLang="en-US" smtClean="0"/>
              <a:t>24</a:t>
            </a:fld>
            <a:endParaRPr lang="zh-CN" altLang="en-US"/>
          </a:p>
        </p:txBody>
      </p:sp>
    </p:spTree>
    <p:extLst>
      <p:ext uri="{BB962C8B-B14F-4D97-AF65-F5344CB8AC3E}">
        <p14:creationId xmlns:p14="http://schemas.microsoft.com/office/powerpoint/2010/main" val="41527922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009F718-866D-47D2-8F9B-C4950FA0C7F0}" type="slidenum">
              <a:rPr lang="zh-CN" altLang="en-US" smtClean="0"/>
              <a:t>25</a:t>
            </a:fld>
            <a:endParaRPr lang="zh-CN" altLang="en-US"/>
          </a:p>
        </p:txBody>
      </p:sp>
    </p:spTree>
    <p:extLst>
      <p:ext uri="{BB962C8B-B14F-4D97-AF65-F5344CB8AC3E}">
        <p14:creationId xmlns:p14="http://schemas.microsoft.com/office/powerpoint/2010/main" val="362259979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009F718-866D-47D2-8F9B-C4950FA0C7F0}" type="slidenum">
              <a:rPr lang="zh-CN" altLang="en-US" smtClean="0"/>
              <a:t>26</a:t>
            </a:fld>
            <a:endParaRPr lang="zh-CN" altLang="en-US"/>
          </a:p>
        </p:txBody>
      </p:sp>
    </p:spTree>
    <p:extLst>
      <p:ext uri="{BB962C8B-B14F-4D97-AF65-F5344CB8AC3E}">
        <p14:creationId xmlns:p14="http://schemas.microsoft.com/office/powerpoint/2010/main" val="41681363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009F718-866D-47D2-8F9B-C4950FA0C7F0}" type="slidenum">
              <a:rPr lang="zh-CN" altLang="en-US" smtClean="0"/>
              <a:t>27</a:t>
            </a:fld>
            <a:endParaRPr lang="zh-CN" altLang="en-US"/>
          </a:p>
        </p:txBody>
      </p:sp>
    </p:spTree>
    <p:extLst>
      <p:ext uri="{BB962C8B-B14F-4D97-AF65-F5344CB8AC3E}">
        <p14:creationId xmlns:p14="http://schemas.microsoft.com/office/powerpoint/2010/main" val="230438029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dirty="0"/>
              <a:t>也可以叫重采样</a:t>
            </a:r>
          </a:p>
          <a:p>
            <a:endParaRPr lang="zh-CN" altLang="en-US" dirty="0"/>
          </a:p>
        </p:txBody>
      </p:sp>
      <p:sp>
        <p:nvSpPr>
          <p:cNvPr id="4" name="灯片编号占位符 3"/>
          <p:cNvSpPr>
            <a:spLocks noGrp="1"/>
          </p:cNvSpPr>
          <p:nvPr>
            <p:ph type="sldNum" sz="quarter" idx="5"/>
          </p:nvPr>
        </p:nvSpPr>
        <p:spPr/>
        <p:txBody>
          <a:bodyPr/>
          <a:lstStyle/>
          <a:p>
            <a:fld id="{B7279C98-257E-402F-ADE5-6A467BCAA4F0}" type="slidenum">
              <a:rPr lang="zh-CN" altLang="en-US" smtClean="0"/>
              <a:t>28</a:t>
            </a:fld>
            <a:endParaRPr lang="zh-CN" altLang="en-US"/>
          </a:p>
        </p:txBody>
      </p:sp>
    </p:spTree>
    <p:extLst>
      <p:ext uri="{BB962C8B-B14F-4D97-AF65-F5344CB8AC3E}">
        <p14:creationId xmlns:p14="http://schemas.microsoft.com/office/powerpoint/2010/main" val="5143846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2" name="文本框 1">
            <a:extLst>
              <a:ext uri="{FF2B5EF4-FFF2-40B4-BE49-F238E27FC236}">
                <a16:creationId xmlns="" xmlns:a16="http://schemas.microsoft.com/office/drawing/2014/main" id="{AB5A7A5E-C991-5D18-FEA8-4E4F48120E2A}"/>
              </a:ext>
            </a:extLst>
          </p:cNvPr>
          <p:cNvSpPr txBox="1"/>
          <p:nvPr userDrawn="1"/>
        </p:nvSpPr>
        <p:spPr>
          <a:xfrm>
            <a:off x="4210050" y="2949575"/>
            <a:ext cx="361271" cy="251607"/>
          </a:xfrm>
          <a:prstGeom prst="rect">
            <a:avLst/>
          </a:prstGeom>
          <a:noFill/>
        </p:spPr>
        <p:txBody>
          <a:bodyPr wrap="square" rtlCol="0">
            <a:spAutoFit/>
          </a:bodyPr>
          <a:lstStyle/>
          <a:p>
            <a:pPr algn="l"/>
            <a:fld id="{27110B32-E406-4E4E-95D7-5073F70C3E23}" type="slidenum">
              <a:rPr lang="zh-CN" altLang="en-US" sz="1035" smtClean="0">
                <a:solidFill>
                  <a:srgbClr val="004098"/>
                </a:solidFill>
              </a:rPr>
              <a:t>‹#›</a:t>
            </a:fld>
            <a:endParaRPr lang="zh-CN" altLang="en-US" sz="1035" dirty="0">
              <a:solidFill>
                <a:srgbClr val="004098"/>
              </a:solidFill>
            </a:endParaRPr>
          </a:p>
        </p:txBody>
      </p:sp>
    </p:spTree>
    <p:extLst>
      <p:ext uri="{BB962C8B-B14F-4D97-AF65-F5344CB8AC3E}">
        <p14:creationId xmlns:p14="http://schemas.microsoft.com/office/powerpoint/2010/main" val="3853001753"/>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7095771"/>
      </p:ext>
    </p:extLst>
  </p:cSld>
  <p:clrMap bg1="lt1" tx1="dk1" bg2="lt2" tx2="dk2" accent1="accent1" accent2="accent2" accent3="accent3" accent4="accent4" accent5="accent5" accent6="accent6" hlink="hlink" folHlink="folHlink"/>
  <p:sldLayoutIdLst>
    <p:sldLayoutId id="2147483655" r:id="rId1"/>
  </p:sldLayoutIdLst>
  <p:hf hdr="0" ftr="0" dt="0"/>
  <p:txStyles>
    <p:titleStyle>
      <a:lvl1pPr algn="l" defTabSz="394198" rtl="0" eaLnBrk="1" latinLnBrk="0" hangingPunct="1">
        <a:lnSpc>
          <a:spcPct val="90000"/>
        </a:lnSpc>
        <a:spcBef>
          <a:spcPct val="0"/>
        </a:spcBef>
        <a:buNone/>
        <a:defRPr sz="1897" kern="1200">
          <a:solidFill>
            <a:schemeClr val="tx1"/>
          </a:solidFill>
          <a:latin typeface="+mj-lt"/>
          <a:ea typeface="+mj-ea"/>
          <a:cs typeface="+mj-cs"/>
        </a:defRPr>
      </a:lvl1pPr>
    </p:titleStyle>
    <p:bodyStyle>
      <a:lvl1pPr marL="98549" indent="-98549" algn="l" defTabSz="394198" rtl="0" eaLnBrk="1" latinLnBrk="0" hangingPunct="1">
        <a:lnSpc>
          <a:spcPct val="90000"/>
        </a:lnSpc>
        <a:spcBef>
          <a:spcPts val="431"/>
        </a:spcBef>
        <a:buFont typeface="Arial" panose="020B0604020202020204" pitchFamily="34" charset="0"/>
        <a:buChar char="•"/>
        <a:defRPr sz="1207" kern="1200">
          <a:solidFill>
            <a:schemeClr val="tx1"/>
          </a:solidFill>
          <a:latin typeface="+mn-lt"/>
          <a:ea typeface="+mn-ea"/>
          <a:cs typeface="+mn-cs"/>
        </a:defRPr>
      </a:lvl1pPr>
      <a:lvl2pPr marL="295648" indent="-98549" algn="l" defTabSz="394198" rtl="0" eaLnBrk="1" latinLnBrk="0" hangingPunct="1">
        <a:lnSpc>
          <a:spcPct val="90000"/>
        </a:lnSpc>
        <a:spcBef>
          <a:spcPts val="216"/>
        </a:spcBef>
        <a:buFont typeface="Arial" panose="020B0604020202020204" pitchFamily="34" charset="0"/>
        <a:buChar char="•"/>
        <a:defRPr sz="1035" kern="1200">
          <a:solidFill>
            <a:schemeClr val="tx1"/>
          </a:solidFill>
          <a:latin typeface="+mn-lt"/>
          <a:ea typeface="+mn-ea"/>
          <a:cs typeface="+mn-cs"/>
        </a:defRPr>
      </a:lvl2pPr>
      <a:lvl3pPr marL="492747" indent="-98549" algn="l" defTabSz="394198" rtl="0" eaLnBrk="1" latinLnBrk="0" hangingPunct="1">
        <a:lnSpc>
          <a:spcPct val="90000"/>
        </a:lnSpc>
        <a:spcBef>
          <a:spcPts val="216"/>
        </a:spcBef>
        <a:buFont typeface="Arial" panose="020B0604020202020204" pitchFamily="34" charset="0"/>
        <a:buChar char="•"/>
        <a:defRPr sz="862" kern="1200">
          <a:solidFill>
            <a:schemeClr val="tx1"/>
          </a:solidFill>
          <a:latin typeface="+mn-lt"/>
          <a:ea typeface="+mn-ea"/>
          <a:cs typeface="+mn-cs"/>
        </a:defRPr>
      </a:lvl3pPr>
      <a:lvl4pPr marL="689846" indent="-98549" algn="l" defTabSz="394198" rtl="0" eaLnBrk="1" latinLnBrk="0" hangingPunct="1">
        <a:lnSpc>
          <a:spcPct val="90000"/>
        </a:lnSpc>
        <a:spcBef>
          <a:spcPts val="216"/>
        </a:spcBef>
        <a:buFont typeface="Arial" panose="020B0604020202020204" pitchFamily="34" charset="0"/>
        <a:buChar char="•"/>
        <a:defRPr sz="776" kern="1200">
          <a:solidFill>
            <a:schemeClr val="tx1"/>
          </a:solidFill>
          <a:latin typeface="+mn-lt"/>
          <a:ea typeface="+mn-ea"/>
          <a:cs typeface="+mn-cs"/>
        </a:defRPr>
      </a:lvl4pPr>
      <a:lvl5pPr marL="886945" indent="-98549" algn="l" defTabSz="394198" rtl="0" eaLnBrk="1" latinLnBrk="0" hangingPunct="1">
        <a:lnSpc>
          <a:spcPct val="90000"/>
        </a:lnSpc>
        <a:spcBef>
          <a:spcPts val="216"/>
        </a:spcBef>
        <a:buFont typeface="Arial" panose="020B0604020202020204" pitchFamily="34" charset="0"/>
        <a:buChar char="•"/>
        <a:defRPr sz="776" kern="1200">
          <a:solidFill>
            <a:schemeClr val="tx1"/>
          </a:solidFill>
          <a:latin typeface="+mn-lt"/>
          <a:ea typeface="+mn-ea"/>
          <a:cs typeface="+mn-cs"/>
        </a:defRPr>
      </a:lvl5pPr>
      <a:lvl6pPr marL="1084044" indent="-98549" algn="l" defTabSz="394198" rtl="0" eaLnBrk="1" latinLnBrk="0" hangingPunct="1">
        <a:lnSpc>
          <a:spcPct val="90000"/>
        </a:lnSpc>
        <a:spcBef>
          <a:spcPts val="216"/>
        </a:spcBef>
        <a:buFont typeface="Arial" panose="020B0604020202020204" pitchFamily="34" charset="0"/>
        <a:buChar char="•"/>
        <a:defRPr sz="776" kern="1200">
          <a:solidFill>
            <a:schemeClr val="tx1"/>
          </a:solidFill>
          <a:latin typeface="+mn-lt"/>
          <a:ea typeface="+mn-ea"/>
          <a:cs typeface="+mn-cs"/>
        </a:defRPr>
      </a:lvl6pPr>
      <a:lvl7pPr marL="1281143" indent="-98549" algn="l" defTabSz="394198" rtl="0" eaLnBrk="1" latinLnBrk="0" hangingPunct="1">
        <a:lnSpc>
          <a:spcPct val="90000"/>
        </a:lnSpc>
        <a:spcBef>
          <a:spcPts val="216"/>
        </a:spcBef>
        <a:buFont typeface="Arial" panose="020B0604020202020204" pitchFamily="34" charset="0"/>
        <a:buChar char="•"/>
        <a:defRPr sz="776" kern="1200">
          <a:solidFill>
            <a:schemeClr val="tx1"/>
          </a:solidFill>
          <a:latin typeface="+mn-lt"/>
          <a:ea typeface="+mn-ea"/>
          <a:cs typeface="+mn-cs"/>
        </a:defRPr>
      </a:lvl7pPr>
      <a:lvl8pPr marL="1478242" indent="-98549" algn="l" defTabSz="394198" rtl="0" eaLnBrk="1" latinLnBrk="0" hangingPunct="1">
        <a:lnSpc>
          <a:spcPct val="90000"/>
        </a:lnSpc>
        <a:spcBef>
          <a:spcPts val="216"/>
        </a:spcBef>
        <a:buFont typeface="Arial" panose="020B0604020202020204" pitchFamily="34" charset="0"/>
        <a:buChar char="•"/>
        <a:defRPr sz="776" kern="1200">
          <a:solidFill>
            <a:schemeClr val="tx1"/>
          </a:solidFill>
          <a:latin typeface="+mn-lt"/>
          <a:ea typeface="+mn-ea"/>
          <a:cs typeface="+mn-cs"/>
        </a:defRPr>
      </a:lvl8pPr>
      <a:lvl9pPr marL="1675341" indent="-98549" algn="l" defTabSz="394198" rtl="0" eaLnBrk="1" latinLnBrk="0" hangingPunct="1">
        <a:lnSpc>
          <a:spcPct val="90000"/>
        </a:lnSpc>
        <a:spcBef>
          <a:spcPts val="216"/>
        </a:spcBef>
        <a:buFont typeface="Arial" panose="020B0604020202020204" pitchFamily="34" charset="0"/>
        <a:buChar char="•"/>
        <a:defRPr sz="776" kern="1200">
          <a:solidFill>
            <a:schemeClr val="tx1"/>
          </a:solidFill>
          <a:latin typeface="+mn-lt"/>
          <a:ea typeface="+mn-ea"/>
          <a:cs typeface="+mn-cs"/>
        </a:defRPr>
      </a:lvl9pPr>
    </p:bodyStyle>
    <p:otherStyle>
      <a:defPPr>
        <a:defRPr lang="zh-CN"/>
      </a:defPPr>
      <a:lvl1pPr marL="0" algn="l" defTabSz="394198" rtl="0" eaLnBrk="1" latinLnBrk="0" hangingPunct="1">
        <a:defRPr sz="776" kern="1200">
          <a:solidFill>
            <a:schemeClr val="tx1"/>
          </a:solidFill>
          <a:latin typeface="+mn-lt"/>
          <a:ea typeface="+mn-ea"/>
          <a:cs typeface="+mn-cs"/>
        </a:defRPr>
      </a:lvl1pPr>
      <a:lvl2pPr marL="197099" algn="l" defTabSz="394198" rtl="0" eaLnBrk="1" latinLnBrk="0" hangingPunct="1">
        <a:defRPr sz="776" kern="1200">
          <a:solidFill>
            <a:schemeClr val="tx1"/>
          </a:solidFill>
          <a:latin typeface="+mn-lt"/>
          <a:ea typeface="+mn-ea"/>
          <a:cs typeface="+mn-cs"/>
        </a:defRPr>
      </a:lvl2pPr>
      <a:lvl3pPr marL="394198" algn="l" defTabSz="394198" rtl="0" eaLnBrk="1" latinLnBrk="0" hangingPunct="1">
        <a:defRPr sz="776" kern="1200">
          <a:solidFill>
            <a:schemeClr val="tx1"/>
          </a:solidFill>
          <a:latin typeface="+mn-lt"/>
          <a:ea typeface="+mn-ea"/>
          <a:cs typeface="+mn-cs"/>
        </a:defRPr>
      </a:lvl3pPr>
      <a:lvl4pPr marL="591297" algn="l" defTabSz="394198" rtl="0" eaLnBrk="1" latinLnBrk="0" hangingPunct="1">
        <a:defRPr sz="776" kern="1200">
          <a:solidFill>
            <a:schemeClr val="tx1"/>
          </a:solidFill>
          <a:latin typeface="+mn-lt"/>
          <a:ea typeface="+mn-ea"/>
          <a:cs typeface="+mn-cs"/>
        </a:defRPr>
      </a:lvl4pPr>
      <a:lvl5pPr marL="788396" algn="l" defTabSz="394198" rtl="0" eaLnBrk="1" latinLnBrk="0" hangingPunct="1">
        <a:defRPr sz="776" kern="1200">
          <a:solidFill>
            <a:schemeClr val="tx1"/>
          </a:solidFill>
          <a:latin typeface="+mn-lt"/>
          <a:ea typeface="+mn-ea"/>
          <a:cs typeface="+mn-cs"/>
        </a:defRPr>
      </a:lvl5pPr>
      <a:lvl6pPr marL="985495" algn="l" defTabSz="394198" rtl="0" eaLnBrk="1" latinLnBrk="0" hangingPunct="1">
        <a:defRPr sz="776" kern="1200">
          <a:solidFill>
            <a:schemeClr val="tx1"/>
          </a:solidFill>
          <a:latin typeface="+mn-lt"/>
          <a:ea typeface="+mn-ea"/>
          <a:cs typeface="+mn-cs"/>
        </a:defRPr>
      </a:lvl6pPr>
      <a:lvl7pPr marL="1182594" algn="l" defTabSz="394198" rtl="0" eaLnBrk="1" latinLnBrk="0" hangingPunct="1">
        <a:defRPr sz="776" kern="1200">
          <a:solidFill>
            <a:schemeClr val="tx1"/>
          </a:solidFill>
          <a:latin typeface="+mn-lt"/>
          <a:ea typeface="+mn-ea"/>
          <a:cs typeface="+mn-cs"/>
        </a:defRPr>
      </a:lvl7pPr>
      <a:lvl8pPr marL="1379692" algn="l" defTabSz="394198" rtl="0" eaLnBrk="1" latinLnBrk="0" hangingPunct="1">
        <a:defRPr sz="776" kern="1200">
          <a:solidFill>
            <a:schemeClr val="tx1"/>
          </a:solidFill>
          <a:latin typeface="+mn-lt"/>
          <a:ea typeface="+mn-ea"/>
          <a:cs typeface="+mn-cs"/>
        </a:defRPr>
      </a:lvl8pPr>
      <a:lvl9pPr marL="1576791" algn="l" defTabSz="394198" rtl="0" eaLnBrk="1" latinLnBrk="0" hangingPunct="1">
        <a:defRPr sz="776"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jpe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png"/></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png"/></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20.jpeg"/><Relationship Id="rId4" Type="http://schemas.openxmlformats.org/officeDocument/2006/relationships/image" Target="../media/image19.png"/></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png"/></Relationships>
</file>

<file path=ppt/slides/_rels/slide23.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6.png"/><Relationship Id="rId11" Type="http://schemas.openxmlformats.org/officeDocument/2006/relationships/image" Target="../media/image31.jpeg"/><Relationship Id="rId5" Type="http://schemas.openxmlformats.org/officeDocument/2006/relationships/image" Target="../media/image25.png"/><Relationship Id="rId10" Type="http://schemas.openxmlformats.org/officeDocument/2006/relationships/image" Target="../media/image30.png"/><Relationship Id="rId4" Type="http://schemas.openxmlformats.org/officeDocument/2006/relationships/image" Target="../media/image24.png"/><Relationship Id="rId9" Type="http://schemas.openxmlformats.org/officeDocument/2006/relationships/image" Target="../media/image29.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3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 xmlns:a16="http://schemas.microsoft.com/office/drawing/2014/main" id="{5E6AE8A7-63A3-9B2B-DECB-D06656336CE1}"/>
              </a:ext>
            </a:extLst>
          </p:cNvPr>
          <p:cNvSpPr txBox="1"/>
          <p:nvPr/>
        </p:nvSpPr>
        <p:spPr>
          <a:xfrm>
            <a:off x="420539" y="618378"/>
            <a:ext cx="3890866" cy="994888"/>
          </a:xfrm>
          <a:prstGeom prst="rect">
            <a:avLst/>
          </a:prstGeom>
          <a:noFill/>
        </p:spPr>
        <p:txBody>
          <a:bodyPr wrap="square" rtlCol="0">
            <a:spAutoFit/>
          </a:bodyPr>
          <a:lstStyle/>
          <a:p>
            <a:pPr algn="ctr" defTabSz="345751"/>
            <a:r>
              <a:rPr lang="zh-CN" altLang="en-US" sz="1815" dirty="0">
                <a:solidFill>
                  <a:srgbClr val="004098"/>
                </a:solidFill>
                <a:latin typeface="华文新魏" panose="02010800040101010101" pitchFamily="2" charset="-122"/>
                <a:ea typeface="华文新魏" panose="02010800040101010101" pitchFamily="2" charset="-122"/>
              </a:rPr>
              <a:t> </a:t>
            </a:r>
            <a:r>
              <a:rPr lang="zh-CN" altLang="en-US" sz="2000" dirty="0">
                <a:solidFill>
                  <a:srgbClr val="004098"/>
                </a:solidFill>
                <a:latin typeface="华文新魏" panose="02010800040101010101" pitchFamily="2" charset="-122"/>
                <a:ea typeface="华文新魏" panose="02010800040101010101" pitchFamily="2" charset="-122"/>
              </a:rPr>
              <a:t>统计学习导论</a:t>
            </a:r>
            <a:endParaRPr lang="en-US" altLang="zh-CN" sz="1815" dirty="0">
              <a:solidFill>
                <a:srgbClr val="004098"/>
              </a:solidFill>
              <a:latin typeface="华文新魏" panose="02010800040101010101" pitchFamily="2" charset="-122"/>
              <a:ea typeface="华文新魏" panose="02010800040101010101" pitchFamily="2" charset="-122"/>
            </a:endParaRPr>
          </a:p>
          <a:p>
            <a:pPr algn="ctr" defTabSz="345751"/>
            <a:r>
              <a:rPr kumimoji="0" lang="en-US" altLang="zh-CN" sz="2050" b="1" i="0" u="none" strike="noStrike" kern="0" cap="none" spc="165" normalizeH="0" baseline="0" noProof="0" dirty="0">
                <a:ln>
                  <a:noFill/>
                </a:ln>
                <a:solidFill>
                  <a:schemeClr val="accent1">
                    <a:lumMod val="75000"/>
                  </a:schemeClr>
                </a:solidFill>
                <a:effectLst/>
                <a:uLnTx/>
                <a:uFillTx/>
                <a:latin typeface="Calibri" panose="020F0502020204030204"/>
                <a:ea typeface="宋体" panose="02010600030101010101" pitchFamily="2" charset="-122"/>
                <a:cs typeface="Calibri" panose="020F0502020204030204"/>
              </a:rPr>
              <a:t>(</a:t>
            </a:r>
            <a:r>
              <a:rPr kumimoji="0" lang="en-US" altLang="zh-CN" sz="2050" b="1" i="0" u="none" strike="noStrike" kern="0" cap="none" spc="165" normalizeH="0" baseline="0" noProof="0" dirty="0">
                <a:ln>
                  <a:noFill/>
                </a:ln>
                <a:solidFill>
                  <a:schemeClr val="accent1">
                    <a:lumMod val="75000"/>
                  </a:schemeClr>
                </a:solidFill>
                <a:effectLst/>
                <a:uLnTx/>
                <a:uFillTx/>
                <a:latin typeface="Calibri" panose="020F0502020204030204"/>
                <a:ea typeface="+mj-ea"/>
                <a:cs typeface="Calibri" panose="020F0502020204030204"/>
              </a:rPr>
              <a:t>Statistical</a:t>
            </a:r>
            <a:r>
              <a:rPr kumimoji="0" lang="en-US" altLang="zh-CN" sz="2050" b="1" i="0" u="none" strike="noStrike" kern="0" cap="none" spc="235" normalizeH="0" baseline="0" noProof="0" dirty="0">
                <a:ln>
                  <a:noFill/>
                </a:ln>
                <a:solidFill>
                  <a:schemeClr val="accent1">
                    <a:lumMod val="75000"/>
                  </a:schemeClr>
                </a:solidFill>
                <a:effectLst/>
                <a:uLnTx/>
                <a:uFillTx/>
                <a:latin typeface="Calibri" panose="020F0502020204030204"/>
                <a:ea typeface="+mj-ea"/>
                <a:cs typeface="Calibri" panose="020F0502020204030204"/>
              </a:rPr>
              <a:t> </a:t>
            </a:r>
            <a:r>
              <a:rPr kumimoji="0" lang="en-US" altLang="zh-CN" sz="2050" b="1" i="0" u="none" strike="noStrike" kern="0" cap="none" spc="200" normalizeH="0" baseline="0" noProof="0" dirty="0">
                <a:ln>
                  <a:noFill/>
                </a:ln>
                <a:solidFill>
                  <a:schemeClr val="accent1">
                    <a:lumMod val="75000"/>
                  </a:schemeClr>
                </a:solidFill>
                <a:effectLst/>
                <a:uLnTx/>
                <a:uFillTx/>
                <a:latin typeface="Calibri" panose="020F0502020204030204"/>
                <a:ea typeface="+mj-ea"/>
                <a:cs typeface="Calibri" panose="020F0502020204030204"/>
              </a:rPr>
              <a:t>Learning)</a:t>
            </a:r>
            <a:endParaRPr lang="en-US" altLang="zh-CN" sz="1815" dirty="0">
              <a:solidFill>
                <a:schemeClr val="accent1">
                  <a:lumMod val="75000"/>
                </a:schemeClr>
              </a:solidFill>
              <a:latin typeface="华文新魏" panose="02010800040101010101" pitchFamily="2" charset="-122"/>
              <a:ea typeface="华文新魏" panose="02010800040101010101" pitchFamily="2" charset="-122"/>
            </a:endParaRPr>
          </a:p>
          <a:p>
            <a:pPr algn="ctr" defTabSz="345751"/>
            <a:endParaRPr lang="zh-CN" altLang="en-US" sz="1815" dirty="0">
              <a:solidFill>
                <a:srgbClr val="004098"/>
              </a:solidFill>
              <a:latin typeface="华文新魏" panose="02010800040101010101" pitchFamily="2" charset="-122"/>
              <a:ea typeface="华文新魏" panose="02010800040101010101" pitchFamily="2" charset="-122"/>
            </a:endParaRPr>
          </a:p>
        </p:txBody>
      </p:sp>
      <p:sp>
        <p:nvSpPr>
          <p:cNvPr id="3" name="矩形: 剪去对角 2">
            <a:extLst>
              <a:ext uri="{FF2B5EF4-FFF2-40B4-BE49-F238E27FC236}">
                <a16:creationId xmlns="" xmlns:a16="http://schemas.microsoft.com/office/drawing/2014/main" id="{8089F2CE-86D6-5928-CF37-3A4980CB295E}"/>
              </a:ext>
            </a:extLst>
          </p:cNvPr>
          <p:cNvSpPr/>
          <p:nvPr/>
        </p:nvSpPr>
        <p:spPr>
          <a:xfrm flipH="1">
            <a:off x="4028926" y="3213260"/>
            <a:ext cx="581174" cy="247490"/>
          </a:xfrm>
          <a:prstGeom prst="snip2DiagRect">
            <a:avLst>
              <a:gd name="adj1" fmla="val 0"/>
              <a:gd name="adj2" fmla="val 50000"/>
            </a:avLst>
          </a:prstGeom>
          <a:solidFill>
            <a:srgbClr val="0040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5751"/>
            <a:endParaRPr lang="zh-CN" altLang="en-US" sz="681">
              <a:solidFill>
                <a:prstClr val="white"/>
              </a:solidFill>
              <a:latin typeface="等线"/>
              <a:ea typeface="等线" panose="02010600030101010101" pitchFamily="2" charset="-122"/>
            </a:endParaRPr>
          </a:p>
        </p:txBody>
      </p:sp>
      <p:sp>
        <p:nvSpPr>
          <p:cNvPr id="4" name="矩形: 剪去对角 3">
            <a:extLst>
              <a:ext uri="{FF2B5EF4-FFF2-40B4-BE49-F238E27FC236}">
                <a16:creationId xmlns="" xmlns:a16="http://schemas.microsoft.com/office/drawing/2014/main" id="{DE4C0943-7EE5-BE4D-C00E-0AE0A7EBBF62}"/>
              </a:ext>
            </a:extLst>
          </p:cNvPr>
          <p:cNvSpPr/>
          <p:nvPr/>
        </p:nvSpPr>
        <p:spPr>
          <a:xfrm>
            <a:off x="0" y="3216860"/>
            <a:ext cx="607805" cy="247490"/>
          </a:xfrm>
          <a:prstGeom prst="snip2DiagRect">
            <a:avLst>
              <a:gd name="adj1" fmla="val 0"/>
              <a:gd name="adj2" fmla="val 50000"/>
            </a:avLst>
          </a:prstGeom>
          <a:solidFill>
            <a:srgbClr val="0040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5751"/>
            <a:endParaRPr lang="zh-CN" altLang="en-US" sz="681">
              <a:solidFill>
                <a:prstClr val="white"/>
              </a:solidFill>
              <a:latin typeface="等线"/>
              <a:ea typeface="等线" panose="02010600030101010101" pitchFamily="2" charset="-122"/>
            </a:endParaRPr>
          </a:p>
        </p:txBody>
      </p:sp>
      <p:sp>
        <p:nvSpPr>
          <p:cNvPr id="5" name="矩形 4">
            <a:extLst>
              <a:ext uri="{FF2B5EF4-FFF2-40B4-BE49-F238E27FC236}">
                <a16:creationId xmlns="" xmlns:a16="http://schemas.microsoft.com/office/drawing/2014/main" id="{827D8DE0-C88E-53AC-AA4C-81B75ED76EC4}"/>
              </a:ext>
            </a:extLst>
          </p:cNvPr>
          <p:cNvSpPr/>
          <p:nvPr/>
        </p:nvSpPr>
        <p:spPr>
          <a:xfrm>
            <a:off x="230" y="3376471"/>
            <a:ext cx="4609871" cy="120744"/>
          </a:xfrm>
          <a:prstGeom prst="rect">
            <a:avLst/>
          </a:prstGeom>
          <a:solidFill>
            <a:srgbClr val="004098"/>
          </a:solidFill>
          <a:ln>
            <a:noFill/>
          </a:ln>
        </p:spPr>
        <p:style>
          <a:lnRef idx="2">
            <a:schemeClr val="dk1">
              <a:shade val="50000"/>
            </a:schemeClr>
          </a:lnRef>
          <a:fillRef idx="1">
            <a:schemeClr val="dk1"/>
          </a:fillRef>
          <a:effectRef idx="0">
            <a:schemeClr val="dk1"/>
          </a:effectRef>
          <a:fontRef idx="minor">
            <a:schemeClr val="lt1"/>
          </a:fontRef>
        </p:style>
        <p:txBody>
          <a:bodyPr anchor="ctr"/>
          <a:lstStyle/>
          <a:p>
            <a:pPr algn="ctr" defTabSz="345612">
              <a:defRPr/>
            </a:pPr>
            <a:endParaRPr lang="zh-CN" altLang="en-US" sz="680">
              <a:solidFill>
                <a:prstClr val="white"/>
              </a:solidFill>
              <a:latin typeface="Constantia"/>
              <a:ea typeface="宋体" panose="02010600030101010101" pitchFamily="2" charset="-122"/>
            </a:endParaRPr>
          </a:p>
        </p:txBody>
      </p:sp>
      <p:pic>
        <p:nvPicPr>
          <p:cNvPr id="6" name="图片 5" descr="图片1">
            <a:extLst>
              <a:ext uri="{FF2B5EF4-FFF2-40B4-BE49-F238E27FC236}">
                <a16:creationId xmlns="" xmlns:a16="http://schemas.microsoft.com/office/drawing/2014/main" id="{8F0FE3E9-8AD9-F15A-F9D7-BBE585EB9068}"/>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2463" y="3390024"/>
            <a:ext cx="2523764" cy="84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图片 6" descr="图片1">
            <a:extLst>
              <a:ext uri="{FF2B5EF4-FFF2-40B4-BE49-F238E27FC236}">
                <a16:creationId xmlns="" xmlns:a16="http://schemas.microsoft.com/office/drawing/2014/main" id="{23B5AF6D-041C-1A07-2C36-112ADDCD00D9}"/>
              </a:ext>
            </a:extLst>
          </p:cNvPr>
          <p:cNvPicPr>
            <a:picLocks noChangeAspect="1"/>
          </p:cNvPicPr>
          <p:nvPr/>
        </p:nvPicPr>
        <p:blipFill>
          <a:blip r:embed="rId4" cstate="print">
            <a:extLst>
              <a:ext uri="{28A0092B-C50C-407E-A947-70E740481C1C}">
                <a14:useLocalDpi xmlns:a14="http://schemas.microsoft.com/office/drawing/2010/main" val="0"/>
              </a:ext>
            </a:extLst>
          </a:blip>
          <a:srcRect r="16708" b="7407"/>
          <a:stretch>
            <a:fillRect/>
          </a:stretch>
        </p:blipFill>
        <p:spPr bwMode="auto">
          <a:xfrm>
            <a:off x="2382909" y="3390856"/>
            <a:ext cx="2218800" cy="82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8" name="直接连接符 7">
            <a:extLst>
              <a:ext uri="{FF2B5EF4-FFF2-40B4-BE49-F238E27FC236}">
                <a16:creationId xmlns="" xmlns:a16="http://schemas.microsoft.com/office/drawing/2014/main" id="{8431C8DA-E4A8-9FAA-5310-D66E3D83F87A}"/>
              </a:ext>
            </a:extLst>
          </p:cNvPr>
          <p:cNvCxnSpPr/>
          <p:nvPr/>
        </p:nvCxnSpPr>
        <p:spPr>
          <a:xfrm>
            <a:off x="420539" y="583575"/>
            <a:ext cx="3890866" cy="0"/>
          </a:xfrm>
          <a:prstGeom prst="line">
            <a:avLst/>
          </a:prstGeom>
          <a:ln>
            <a:solidFill>
              <a:srgbClr val="004098"/>
            </a:solidFill>
          </a:ln>
        </p:spPr>
        <p:style>
          <a:lnRef idx="3">
            <a:schemeClr val="accent1"/>
          </a:lnRef>
          <a:fillRef idx="0">
            <a:schemeClr val="accent1"/>
          </a:fillRef>
          <a:effectRef idx="2">
            <a:schemeClr val="accent1"/>
          </a:effectRef>
          <a:fontRef idx="minor">
            <a:schemeClr val="tx1"/>
          </a:fontRef>
        </p:style>
      </p:cxnSp>
      <p:cxnSp>
        <p:nvCxnSpPr>
          <p:cNvPr id="9" name="直接连接符 8">
            <a:extLst>
              <a:ext uri="{FF2B5EF4-FFF2-40B4-BE49-F238E27FC236}">
                <a16:creationId xmlns="" xmlns:a16="http://schemas.microsoft.com/office/drawing/2014/main" id="{9E18A66F-120B-0591-2550-9395B369ADFD}"/>
              </a:ext>
            </a:extLst>
          </p:cNvPr>
          <p:cNvCxnSpPr/>
          <p:nvPr/>
        </p:nvCxnSpPr>
        <p:spPr>
          <a:xfrm>
            <a:off x="445868" y="1348371"/>
            <a:ext cx="3890866" cy="0"/>
          </a:xfrm>
          <a:prstGeom prst="line">
            <a:avLst/>
          </a:prstGeom>
          <a:ln>
            <a:solidFill>
              <a:srgbClr val="004098"/>
            </a:solidFill>
          </a:ln>
        </p:spPr>
        <p:style>
          <a:lnRef idx="3">
            <a:schemeClr val="accent1"/>
          </a:lnRef>
          <a:fillRef idx="0">
            <a:schemeClr val="accent1"/>
          </a:fillRef>
          <a:effectRef idx="2">
            <a:schemeClr val="accent1"/>
          </a:effectRef>
          <a:fontRef idx="minor">
            <a:schemeClr val="tx1"/>
          </a:fontRef>
        </p:style>
      </p:cxnSp>
      <p:pic>
        <p:nvPicPr>
          <p:cNvPr id="13" name="图片 12">
            <a:extLst>
              <a:ext uri="{FF2B5EF4-FFF2-40B4-BE49-F238E27FC236}">
                <a16:creationId xmlns="" xmlns:a16="http://schemas.microsoft.com/office/drawing/2014/main" id="{AC12B830-7D80-839E-749E-12E205DD5B11}"/>
              </a:ext>
            </a:extLst>
          </p:cNvPr>
          <p:cNvPicPr>
            <a:picLocks noChangeAspect="1"/>
          </p:cNvPicPr>
          <p:nvPr/>
        </p:nvPicPr>
        <p:blipFill>
          <a:blip r:embed="rId5"/>
          <a:stretch>
            <a:fillRect/>
          </a:stretch>
        </p:blipFill>
        <p:spPr>
          <a:xfrm>
            <a:off x="1471239" y="1474076"/>
            <a:ext cx="1823339" cy="1714739"/>
          </a:xfrm>
          <a:prstGeom prst="rect">
            <a:avLst/>
          </a:prstGeom>
        </p:spPr>
      </p:pic>
    </p:spTree>
    <p:extLst>
      <p:ext uri="{BB962C8B-B14F-4D97-AF65-F5344CB8AC3E}">
        <p14:creationId xmlns:p14="http://schemas.microsoft.com/office/powerpoint/2010/main" val="354634882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原创设计师QQ598969553      _2">
            <a:extLst>
              <a:ext uri="{FF2B5EF4-FFF2-40B4-BE49-F238E27FC236}">
                <a16:creationId xmlns="" xmlns:a16="http://schemas.microsoft.com/office/drawing/2014/main" id="{7C4725B1-D255-CC63-745B-0C08A542F8E6}"/>
              </a:ext>
            </a:extLst>
          </p:cNvPr>
          <p:cNvSpPr txBox="1"/>
          <p:nvPr/>
        </p:nvSpPr>
        <p:spPr>
          <a:xfrm>
            <a:off x="570876" y="194245"/>
            <a:ext cx="2343774" cy="204379"/>
          </a:xfrm>
          <a:prstGeom prst="rect">
            <a:avLst/>
          </a:prstGeom>
          <a:noFill/>
        </p:spPr>
        <p:txBody>
          <a:bodyPr wrap="square" lIns="34762" tIns="17381" rIns="34762" bIns="17381" rtlCol="0">
            <a:spAutoFit/>
          </a:bodyPr>
          <a:lstStyle/>
          <a:p>
            <a:r>
              <a:rPr lang="zh-CN" altLang="en-US" sz="1100" b="1" dirty="0">
                <a:latin typeface="微软雅黑" panose="020B0503020204020204" pitchFamily="34" charset="-122"/>
                <a:ea typeface="微软雅黑" panose="020B0503020204020204" pitchFamily="34" charset="-122"/>
              </a:rPr>
              <a:t>统计</a:t>
            </a:r>
            <a:r>
              <a:rPr lang="zh-CN" altLang="en-US" sz="1100" b="1" dirty="0" smtClean="0">
                <a:latin typeface="微软雅黑" panose="020B0503020204020204" pitchFamily="34" charset="-122"/>
                <a:ea typeface="微软雅黑" panose="020B0503020204020204" pitchFamily="34" charset="-122"/>
              </a:rPr>
              <a:t>学习</a:t>
            </a:r>
            <a:endParaRPr sz="1100" b="1" dirty="0">
              <a:latin typeface="微软雅黑" panose="020B0503020204020204" pitchFamily="34" charset="-122"/>
              <a:ea typeface="微软雅黑" panose="020B0503020204020204" pitchFamily="34" charset="-122"/>
            </a:endParaRPr>
          </a:p>
        </p:txBody>
      </p:sp>
      <p:grpSp>
        <p:nvGrpSpPr>
          <p:cNvPr id="68" name="原创设计师QQ598969553      _9">
            <a:extLst>
              <a:ext uri="{FF2B5EF4-FFF2-40B4-BE49-F238E27FC236}">
                <a16:creationId xmlns="" xmlns:a16="http://schemas.microsoft.com/office/drawing/2014/main" id="{EC33079E-1247-70DE-8763-3ACDD65E706D}"/>
              </a:ext>
            </a:extLst>
          </p:cNvPr>
          <p:cNvGrpSpPr/>
          <p:nvPr/>
        </p:nvGrpSpPr>
        <p:grpSpPr>
          <a:xfrm>
            <a:off x="188162" y="153558"/>
            <a:ext cx="304678" cy="243737"/>
            <a:chOff x="4268208" y="2118116"/>
            <a:chExt cx="2653565" cy="2214136"/>
          </a:xfrm>
        </p:grpSpPr>
        <p:grpSp>
          <p:nvGrpSpPr>
            <p:cNvPr id="69" name="组合 68">
              <a:extLst>
                <a:ext uri="{FF2B5EF4-FFF2-40B4-BE49-F238E27FC236}">
                  <a16:creationId xmlns="" xmlns:a16="http://schemas.microsoft.com/office/drawing/2014/main" id="{3866FBD5-A960-6794-8BA4-9DBBA9FC3AA3}"/>
                </a:ext>
              </a:extLst>
            </p:cNvPr>
            <p:cNvGrpSpPr/>
            <p:nvPr/>
          </p:nvGrpSpPr>
          <p:grpSpPr>
            <a:xfrm>
              <a:off x="4508674" y="2118116"/>
              <a:ext cx="2204282" cy="2204282"/>
              <a:chOff x="1517331" y="1125257"/>
              <a:chExt cx="2204282" cy="2204282"/>
            </a:xfrm>
          </p:grpSpPr>
          <p:sp>
            <p:nvSpPr>
              <p:cNvPr id="71" name="椭圆 70">
                <a:extLst>
                  <a:ext uri="{FF2B5EF4-FFF2-40B4-BE49-F238E27FC236}">
                    <a16:creationId xmlns="" xmlns:a16="http://schemas.microsoft.com/office/drawing/2014/main" id="{68A1054A-58A0-C11B-68D9-FA23D2B35325}"/>
                  </a:ext>
                </a:extLst>
              </p:cNvPr>
              <p:cNvSpPr/>
              <p:nvPr/>
            </p:nvSpPr>
            <p:spPr>
              <a:xfrm>
                <a:off x="1517331" y="1125257"/>
                <a:ext cx="2204282" cy="2204282"/>
              </a:xfrm>
              <a:prstGeom prst="ellipse">
                <a:avLst/>
              </a:prstGeom>
              <a:gradFill>
                <a:gsLst>
                  <a:gs pos="0">
                    <a:srgbClr val="EBEBEB"/>
                  </a:gs>
                  <a:gs pos="100000">
                    <a:srgbClr val="FEFEFE"/>
                  </a:gs>
                </a:gsLst>
                <a:lin ang="7530000" scaled="0"/>
              </a:gradFill>
              <a:ln w="12700">
                <a:solidFill>
                  <a:schemeClr val="bg1"/>
                </a:solidFill>
              </a:ln>
              <a:effectLst>
                <a:outerShdw blurRad="457200" dist="444500" dir="7800000" sx="89000" sy="89000" algn="tr" rotWithShape="0">
                  <a:prstClr val="black">
                    <a:alpha val="3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76">
                  <a:latin typeface="字体视界-NWE粗楷体" panose="02000500000000000000" pitchFamily="2" charset="-122"/>
                  <a:ea typeface="字体视界-NWE粗楷体" panose="02000500000000000000" pitchFamily="2" charset="-122"/>
                </a:endParaRPr>
              </a:p>
            </p:txBody>
          </p:sp>
          <p:sp>
            <p:nvSpPr>
              <p:cNvPr id="72" name="椭圆 71">
                <a:extLst>
                  <a:ext uri="{FF2B5EF4-FFF2-40B4-BE49-F238E27FC236}">
                    <a16:creationId xmlns="" xmlns:a16="http://schemas.microsoft.com/office/drawing/2014/main" id="{BFBCAB49-6A8C-B2B3-35ED-D6BBBED5CF8B}"/>
                  </a:ext>
                </a:extLst>
              </p:cNvPr>
              <p:cNvSpPr/>
              <p:nvPr/>
            </p:nvSpPr>
            <p:spPr>
              <a:xfrm>
                <a:off x="1719371" y="1344751"/>
                <a:ext cx="1800198" cy="1800200"/>
              </a:xfrm>
              <a:prstGeom prst="ellipse">
                <a:avLst/>
              </a:prstGeom>
              <a:solidFill>
                <a:srgbClr val="004098"/>
              </a:solidFill>
              <a:ln>
                <a:noFill/>
              </a:ln>
              <a:effectLst>
                <a:innerShdw blurRad="101600" dist="50800" dir="18900000">
                  <a:prstClr val="black">
                    <a:alpha val="43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76">
                  <a:latin typeface="字体视界-NWE粗楷体" panose="02000500000000000000" pitchFamily="2" charset="-122"/>
                  <a:ea typeface="字体视界-NWE粗楷体" panose="02000500000000000000" pitchFamily="2" charset="-122"/>
                </a:endParaRPr>
              </a:p>
            </p:txBody>
          </p:sp>
        </p:grpSp>
        <p:sp>
          <p:nvSpPr>
            <p:cNvPr id="70" name="TextBox 80">
              <a:extLst>
                <a:ext uri="{FF2B5EF4-FFF2-40B4-BE49-F238E27FC236}">
                  <a16:creationId xmlns="" xmlns:a16="http://schemas.microsoft.com/office/drawing/2014/main" id="{7A547AF7-EE79-5DEF-44B1-CF755100FDCC}"/>
                </a:ext>
              </a:extLst>
            </p:cNvPr>
            <p:cNvSpPr txBox="1"/>
            <p:nvPr/>
          </p:nvSpPr>
          <p:spPr>
            <a:xfrm>
              <a:off x="4268208" y="2408919"/>
              <a:ext cx="2653565" cy="1923333"/>
            </a:xfrm>
            <a:prstGeom prst="rect">
              <a:avLst/>
            </a:prstGeom>
            <a:noFill/>
          </p:spPr>
          <p:txBody>
            <a:bodyPr wrap="square" rtlCol="0">
              <a:spAutoFit/>
            </a:bodyPr>
            <a:lstStyle/>
            <a:p>
              <a:r>
                <a:rPr lang="en-US" altLang="zh-CN" sz="776" dirty="0">
                  <a:solidFill>
                    <a:schemeClr val="bg1"/>
                  </a:solidFill>
                  <a:latin typeface="字体视界-NWE粗楷体" panose="02000500000000000000" pitchFamily="2" charset="-122"/>
                  <a:ea typeface="字体视界-NWE粗楷体" panose="02000500000000000000" pitchFamily="2" charset="-122"/>
                </a:rPr>
                <a:t>01</a:t>
              </a:r>
            </a:p>
          </p:txBody>
        </p:sp>
      </p:grpSp>
      <p:sp>
        <p:nvSpPr>
          <p:cNvPr id="73" name="原创设计师QQ598969553      _12">
            <a:extLst>
              <a:ext uri="{FF2B5EF4-FFF2-40B4-BE49-F238E27FC236}">
                <a16:creationId xmlns="" xmlns:a16="http://schemas.microsoft.com/office/drawing/2014/main" id="{760473EF-0D78-F124-1B4B-A4A3255E7476}"/>
              </a:ext>
            </a:extLst>
          </p:cNvPr>
          <p:cNvSpPr>
            <a:spLocks noChangeShapeType="1"/>
          </p:cNvSpPr>
          <p:nvPr/>
        </p:nvSpPr>
        <p:spPr bwMode="auto">
          <a:xfrm flipH="1" flipV="1">
            <a:off x="543649" y="130604"/>
            <a:ext cx="0" cy="307269"/>
          </a:xfrm>
          <a:prstGeom prst="line">
            <a:avLst/>
          </a:prstGeom>
          <a:noFill/>
          <a:ln w="19050">
            <a:solidFill>
              <a:srgbClr val="004098"/>
            </a:solidFill>
            <a:prstDash val="dash"/>
            <a:round/>
          </a:ln>
          <a:extLst>
            <a:ext uri="{909E8E84-426E-40DD-AFC4-6F175D3DCCD1}">
              <a14:hiddenFill xmlns:a14="http://schemas.microsoft.com/office/drawing/2010/main">
                <a:noFill/>
              </a14:hiddenFill>
            </a:ext>
          </a:extLst>
        </p:spPr>
        <p:txBody>
          <a:bodyPr/>
          <a:lstStyle/>
          <a:p>
            <a:endParaRPr lang="zh-CN" altLang="en-US" sz="776" dirty="0"/>
          </a:p>
        </p:txBody>
      </p:sp>
      <p:sp>
        <p:nvSpPr>
          <p:cNvPr id="74" name="矩形: 圆角 18">
            <a:extLst>
              <a:ext uri="{FF2B5EF4-FFF2-40B4-BE49-F238E27FC236}">
                <a16:creationId xmlns="" xmlns:a16="http://schemas.microsoft.com/office/drawing/2014/main" id="{7C923056-96D1-FDBC-A663-A1F8635BC91E}"/>
              </a:ext>
            </a:extLst>
          </p:cNvPr>
          <p:cNvSpPr/>
          <p:nvPr/>
        </p:nvSpPr>
        <p:spPr>
          <a:xfrm flipV="1">
            <a:off x="140988" y="434975"/>
            <a:ext cx="2164062" cy="31919"/>
          </a:xfrm>
          <a:prstGeom prst="roundRect">
            <a:avLst>
              <a:gd name="adj" fmla="val 50000"/>
            </a:avLst>
          </a:prstGeom>
          <a:solidFill>
            <a:srgbClr val="0040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90">
              <a:solidFill>
                <a:srgbClr val="004098"/>
              </a:solidFill>
              <a:latin typeface="字体视界-NWE粗楷体" panose="02000500000000000000" pitchFamily="2" charset="-122"/>
              <a:ea typeface="字体视界-NWE粗楷体" panose="02000500000000000000" pitchFamily="2" charset="-122"/>
            </a:endParaRPr>
          </a:p>
        </p:txBody>
      </p:sp>
      <p:sp>
        <p:nvSpPr>
          <p:cNvPr id="3" name="object 3">
            <a:extLst>
              <a:ext uri="{FF2B5EF4-FFF2-40B4-BE49-F238E27FC236}">
                <a16:creationId xmlns="" xmlns:a16="http://schemas.microsoft.com/office/drawing/2014/main" id="{4848A9E6-81E6-DFFF-15C0-070E749E47F2}"/>
              </a:ext>
            </a:extLst>
          </p:cNvPr>
          <p:cNvSpPr txBox="1"/>
          <p:nvPr/>
        </p:nvSpPr>
        <p:spPr>
          <a:xfrm>
            <a:off x="445666" y="771265"/>
            <a:ext cx="3912870" cy="883575"/>
          </a:xfrm>
          <a:prstGeom prst="rect">
            <a:avLst/>
          </a:prstGeom>
        </p:spPr>
        <p:txBody>
          <a:bodyPr vert="horz" wrap="square" lIns="0" tIns="11430" rIns="0" bIns="0" rtlCol="0">
            <a:spAutoFit/>
          </a:bodyPr>
          <a:lstStyle/>
          <a:p>
            <a:pPr marL="127635" indent="-115570">
              <a:lnSpc>
                <a:spcPct val="100000"/>
              </a:lnSpc>
              <a:spcBef>
                <a:spcPts val="90"/>
              </a:spcBef>
              <a:buFont typeface="宋体" panose="02010600030101010101" pitchFamily="2" charset="-122"/>
              <a:buChar char="•"/>
              <a:tabLst>
                <a:tab pos="128270" algn="l"/>
              </a:tabLst>
            </a:pPr>
            <a:r>
              <a:rPr lang="zh-CN" altLang="en-US" sz="1100" spc="30" dirty="0" smtClean="0">
                <a:solidFill>
                  <a:srgbClr val="004098"/>
                </a:solidFill>
                <a:latin typeface="Calibri" panose="020F0502020204030204"/>
                <a:cs typeface="Calibri" panose="020F0502020204030204"/>
              </a:rPr>
              <a:t>统计学习是一套以理解数据为目的的庞大工具集，可以分为两类，有指导和无指导的学习。</a:t>
            </a:r>
            <a:endParaRPr lang="en-US" altLang="zh-CN" sz="1100" spc="30" dirty="0" smtClean="0">
              <a:solidFill>
                <a:srgbClr val="004098"/>
              </a:solidFill>
              <a:latin typeface="Calibri" panose="020F0502020204030204"/>
              <a:cs typeface="Calibri" panose="020F0502020204030204"/>
            </a:endParaRPr>
          </a:p>
          <a:p>
            <a:pPr marL="12065">
              <a:lnSpc>
                <a:spcPct val="150000"/>
              </a:lnSpc>
              <a:spcBef>
                <a:spcPts val="90"/>
              </a:spcBef>
              <a:tabLst>
                <a:tab pos="128270" algn="l"/>
              </a:tabLst>
            </a:pPr>
            <a:r>
              <a:rPr lang="zh-CN" altLang="en-US" sz="1100" spc="30" dirty="0" smtClean="0">
                <a:solidFill>
                  <a:srgbClr val="004098"/>
                </a:solidFill>
                <a:latin typeface="Calibri" panose="020F0502020204030204"/>
                <a:cs typeface="Calibri" panose="020F0502020204030204"/>
              </a:rPr>
              <a:t>（</a:t>
            </a:r>
            <a:r>
              <a:rPr lang="en-US" altLang="zh-CN" sz="1100" spc="30" dirty="0" smtClean="0">
                <a:solidFill>
                  <a:srgbClr val="004098"/>
                </a:solidFill>
                <a:latin typeface="Calibri" panose="020F0502020204030204"/>
                <a:cs typeface="Calibri" panose="020F0502020204030204"/>
              </a:rPr>
              <a:t>1</a:t>
            </a:r>
            <a:r>
              <a:rPr lang="zh-CN" altLang="en-US" sz="1100" spc="30" dirty="0" smtClean="0">
                <a:solidFill>
                  <a:srgbClr val="004098"/>
                </a:solidFill>
                <a:latin typeface="Calibri" panose="020F0502020204030204"/>
                <a:cs typeface="Calibri" panose="020F0502020204030204"/>
              </a:rPr>
              <a:t>）面向预测的统计模型的建立</a:t>
            </a:r>
            <a:endParaRPr lang="en-US" altLang="zh-CN" sz="1100" spc="30" dirty="0" smtClean="0">
              <a:solidFill>
                <a:srgbClr val="004098"/>
              </a:solidFill>
              <a:latin typeface="Calibri" panose="020F0502020204030204"/>
              <a:cs typeface="Calibri" panose="020F0502020204030204"/>
            </a:endParaRPr>
          </a:p>
          <a:p>
            <a:pPr marL="12065">
              <a:lnSpc>
                <a:spcPct val="150000"/>
              </a:lnSpc>
              <a:spcBef>
                <a:spcPts val="90"/>
              </a:spcBef>
              <a:tabLst>
                <a:tab pos="128270" algn="l"/>
              </a:tabLst>
            </a:pPr>
            <a:r>
              <a:rPr lang="zh-CN" altLang="en-US" sz="1100" spc="30" dirty="0" smtClean="0">
                <a:solidFill>
                  <a:srgbClr val="004098"/>
                </a:solidFill>
                <a:latin typeface="Calibri" panose="020F0502020204030204"/>
                <a:cs typeface="Calibri" panose="020F0502020204030204"/>
              </a:rPr>
              <a:t>（</a:t>
            </a:r>
            <a:r>
              <a:rPr lang="en-US" altLang="zh-CN" sz="1100" spc="30" dirty="0" smtClean="0">
                <a:solidFill>
                  <a:srgbClr val="004098"/>
                </a:solidFill>
                <a:latin typeface="Calibri" panose="020F0502020204030204"/>
                <a:cs typeface="Calibri" panose="020F0502020204030204"/>
              </a:rPr>
              <a:t>2</a:t>
            </a:r>
            <a:r>
              <a:rPr lang="zh-CN" altLang="en-US" sz="1100" spc="30" dirty="0" smtClean="0">
                <a:solidFill>
                  <a:srgbClr val="004098"/>
                </a:solidFill>
                <a:latin typeface="Calibri" panose="020F0502020204030204"/>
                <a:cs typeface="Calibri" panose="020F0502020204030204"/>
              </a:rPr>
              <a:t>）对于一个或者多个输入来</a:t>
            </a:r>
            <a:r>
              <a:rPr lang="zh-CN" altLang="en-US" sz="1100" spc="30" smtClean="0">
                <a:solidFill>
                  <a:srgbClr val="004098"/>
                </a:solidFill>
                <a:latin typeface="Calibri" panose="020F0502020204030204"/>
                <a:cs typeface="Calibri" panose="020F0502020204030204"/>
              </a:rPr>
              <a:t>估计输出</a:t>
            </a:r>
            <a:endParaRPr lang="en-US" altLang="zh-CN" sz="1100" spc="30" dirty="0" smtClean="0">
              <a:solidFill>
                <a:srgbClr val="004098"/>
              </a:solidFill>
              <a:latin typeface="Calibri" panose="020F0502020204030204"/>
              <a:cs typeface="Calibri" panose="020F0502020204030204"/>
            </a:endParaRPr>
          </a:p>
        </p:txBody>
      </p:sp>
    </p:spTree>
    <p:extLst>
      <p:ext uri="{BB962C8B-B14F-4D97-AF65-F5344CB8AC3E}">
        <p14:creationId xmlns:p14="http://schemas.microsoft.com/office/powerpoint/2010/main" val="139403148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原创设计师QQ598969553      _2">
            <a:extLst>
              <a:ext uri="{FF2B5EF4-FFF2-40B4-BE49-F238E27FC236}">
                <a16:creationId xmlns="" xmlns:a16="http://schemas.microsoft.com/office/drawing/2014/main" id="{7C4725B1-D255-CC63-745B-0C08A542F8E6}"/>
              </a:ext>
            </a:extLst>
          </p:cNvPr>
          <p:cNvSpPr txBox="1"/>
          <p:nvPr/>
        </p:nvSpPr>
        <p:spPr>
          <a:xfrm>
            <a:off x="570876" y="194245"/>
            <a:ext cx="2343774" cy="204379"/>
          </a:xfrm>
          <a:prstGeom prst="rect">
            <a:avLst/>
          </a:prstGeom>
          <a:noFill/>
        </p:spPr>
        <p:txBody>
          <a:bodyPr wrap="square" lIns="34762" tIns="17381" rIns="34762" bIns="17381" rtlCol="0">
            <a:spAutoFit/>
          </a:bodyPr>
          <a:lstStyle/>
          <a:p>
            <a:r>
              <a:rPr lang="zh-CN" altLang="en-US" sz="1100" b="1" dirty="0">
                <a:latin typeface="微软雅黑" panose="020B0503020204020204" pitchFamily="34" charset="-122"/>
                <a:ea typeface="微软雅黑" panose="020B0503020204020204" pitchFamily="34" charset="-122"/>
              </a:rPr>
              <a:t>统计学习可以解决的一些代表性问题</a:t>
            </a:r>
            <a:endParaRPr sz="1100" b="1" dirty="0">
              <a:latin typeface="微软雅黑" panose="020B0503020204020204" pitchFamily="34" charset="-122"/>
              <a:ea typeface="微软雅黑" panose="020B0503020204020204" pitchFamily="34" charset="-122"/>
            </a:endParaRPr>
          </a:p>
        </p:txBody>
      </p:sp>
      <p:grpSp>
        <p:nvGrpSpPr>
          <p:cNvPr id="68" name="原创设计师QQ598969553      _9">
            <a:extLst>
              <a:ext uri="{FF2B5EF4-FFF2-40B4-BE49-F238E27FC236}">
                <a16:creationId xmlns="" xmlns:a16="http://schemas.microsoft.com/office/drawing/2014/main" id="{EC33079E-1247-70DE-8763-3ACDD65E706D}"/>
              </a:ext>
            </a:extLst>
          </p:cNvPr>
          <p:cNvGrpSpPr/>
          <p:nvPr/>
        </p:nvGrpSpPr>
        <p:grpSpPr>
          <a:xfrm>
            <a:off x="188162" y="153558"/>
            <a:ext cx="304678" cy="243737"/>
            <a:chOff x="4268208" y="2118116"/>
            <a:chExt cx="2653565" cy="2214136"/>
          </a:xfrm>
        </p:grpSpPr>
        <p:grpSp>
          <p:nvGrpSpPr>
            <p:cNvPr id="69" name="组合 68">
              <a:extLst>
                <a:ext uri="{FF2B5EF4-FFF2-40B4-BE49-F238E27FC236}">
                  <a16:creationId xmlns="" xmlns:a16="http://schemas.microsoft.com/office/drawing/2014/main" id="{3866FBD5-A960-6794-8BA4-9DBBA9FC3AA3}"/>
                </a:ext>
              </a:extLst>
            </p:cNvPr>
            <p:cNvGrpSpPr/>
            <p:nvPr/>
          </p:nvGrpSpPr>
          <p:grpSpPr>
            <a:xfrm>
              <a:off x="4508674" y="2118116"/>
              <a:ext cx="2204282" cy="2204282"/>
              <a:chOff x="1517331" y="1125257"/>
              <a:chExt cx="2204282" cy="2204282"/>
            </a:xfrm>
          </p:grpSpPr>
          <p:sp>
            <p:nvSpPr>
              <p:cNvPr id="71" name="椭圆 70">
                <a:extLst>
                  <a:ext uri="{FF2B5EF4-FFF2-40B4-BE49-F238E27FC236}">
                    <a16:creationId xmlns="" xmlns:a16="http://schemas.microsoft.com/office/drawing/2014/main" id="{68A1054A-58A0-C11B-68D9-FA23D2B35325}"/>
                  </a:ext>
                </a:extLst>
              </p:cNvPr>
              <p:cNvSpPr/>
              <p:nvPr/>
            </p:nvSpPr>
            <p:spPr>
              <a:xfrm>
                <a:off x="1517331" y="1125257"/>
                <a:ext cx="2204282" cy="2204282"/>
              </a:xfrm>
              <a:prstGeom prst="ellipse">
                <a:avLst/>
              </a:prstGeom>
              <a:gradFill>
                <a:gsLst>
                  <a:gs pos="0">
                    <a:srgbClr val="EBEBEB"/>
                  </a:gs>
                  <a:gs pos="100000">
                    <a:srgbClr val="FEFEFE"/>
                  </a:gs>
                </a:gsLst>
                <a:lin ang="7530000" scaled="0"/>
              </a:gradFill>
              <a:ln w="12700">
                <a:solidFill>
                  <a:schemeClr val="bg1"/>
                </a:solidFill>
              </a:ln>
              <a:effectLst>
                <a:outerShdw blurRad="457200" dist="444500" dir="7800000" sx="89000" sy="89000" algn="tr" rotWithShape="0">
                  <a:prstClr val="black">
                    <a:alpha val="3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76">
                  <a:latin typeface="字体视界-NWE粗楷体" panose="02000500000000000000" pitchFamily="2" charset="-122"/>
                  <a:ea typeface="字体视界-NWE粗楷体" panose="02000500000000000000" pitchFamily="2" charset="-122"/>
                </a:endParaRPr>
              </a:p>
            </p:txBody>
          </p:sp>
          <p:sp>
            <p:nvSpPr>
              <p:cNvPr id="72" name="椭圆 71">
                <a:extLst>
                  <a:ext uri="{FF2B5EF4-FFF2-40B4-BE49-F238E27FC236}">
                    <a16:creationId xmlns="" xmlns:a16="http://schemas.microsoft.com/office/drawing/2014/main" id="{BFBCAB49-6A8C-B2B3-35ED-D6BBBED5CF8B}"/>
                  </a:ext>
                </a:extLst>
              </p:cNvPr>
              <p:cNvSpPr/>
              <p:nvPr/>
            </p:nvSpPr>
            <p:spPr>
              <a:xfrm>
                <a:off x="1719371" y="1344751"/>
                <a:ext cx="1800198" cy="1800200"/>
              </a:xfrm>
              <a:prstGeom prst="ellipse">
                <a:avLst/>
              </a:prstGeom>
              <a:solidFill>
                <a:srgbClr val="004098"/>
              </a:solidFill>
              <a:ln>
                <a:noFill/>
              </a:ln>
              <a:effectLst>
                <a:innerShdw blurRad="101600" dist="50800" dir="18900000">
                  <a:prstClr val="black">
                    <a:alpha val="43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76">
                  <a:latin typeface="字体视界-NWE粗楷体" panose="02000500000000000000" pitchFamily="2" charset="-122"/>
                  <a:ea typeface="字体视界-NWE粗楷体" panose="02000500000000000000" pitchFamily="2" charset="-122"/>
                </a:endParaRPr>
              </a:p>
            </p:txBody>
          </p:sp>
        </p:grpSp>
        <p:sp>
          <p:nvSpPr>
            <p:cNvPr id="70" name="TextBox 80">
              <a:extLst>
                <a:ext uri="{FF2B5EF4-FFF2-40B4-BE49-F238E27FC236}">
                  <a16:creationId xmlns="" xmlns:a16="http://schemas.microsoft.com/office/drawing/2014/main" id="{7A547AF7-EE79-5DEF-44B1-CF755100FDCC}"/>
                </a:ext>
              </a:extLst>
            </p:cNvPr>
            <p:cNvSpPr txBox="1"/>
            <p:nvPr/>
          </p:nvSpPr>
          <p:spPr>
            <a:xfrm>
              <a:off x="4268208" y="2408919"/>
              <a:ext cx="2653565" cy="1923333"/>
            </a:xfrm>
            <a:prstGeom prst="rect">
              <a:avLst/>
            </a:prstGeom>
            <a:noFill/>
          </p:spPr>
          <p:txBody>
            <a:bodyPr wrap="square" rtlCol="0">
              <a:spAutoFit/>
            </a:bodyPr>
            <a:lstStyle/>
            <a:p>
              <a:r>
                <a:rPr lang="en-US" altLang="zh-CN" sz="776" dirty="0">
                  <a:solidFill>
                    <a:schemeClr val="bg1"/>
                  </a:solidFill>
                  <a:latin typeface="字体视界-NWE粗楷体" panose="02000500000000000000" pitchFamily="2" charset="-122"/>
                  <a:ea typeface="字体视界-NWE粗楷体" panose="02000500000000000000" pitchFamily="2" charset="-122"/>
                </a:rPr>
                <a:t>01</a:t>
              </a:r>
            </a:p>
          </p:txBody>
        </p:sp>
      </p:grpSp>
      <p:sp>
        <p:nvSpPr>
          <p:cNvPr id="73" name="原创设计师QQ598969553      _12">
            <a:extLst>
              <a:ext uri="{FF2B5EF4-FFF2-40B4-BE49-F238E27FC236}">
                <a16:creationId xmlns="" xmlns:a16="http://schemas.microsoft.com/office/drawing/2014/main" id="{760473EF-0D78-F124-1B4B-A4A3255E7476}"/>
              </a:ext>
            </a:extLst>
          </p:cNvPr>
          <p:cNvSpPr>
            <a:spLocks noChangeShapeType="1"/>
          </p:cNvSpPr>
          <p:nvPr/>
        </p:nvSpPr>
        <p:spPr bwMode="auto">
          <a:xfrm flipH="1" flipV="1">
            <a:off x="543649" y="130604"/>
            <a:ext cx="0" cy="307269"/>
          </a:xfrm>
          <a:prstGeom prst="line">
            <a:avLst/>
          </a:prstGeom>
          <a:noFill/>
          <a:ln w="19050">
            <a:solidFill>
              <a:srgbClr val="004098"/>
            </a:solidFill>
            <a:prstDash val="dash"/>
            <a:round/>
          </a:ln>
          <a:extLst>
            <a:ext uri="{909E8E84-426E-40DD-AFC4-6F175D3DCCD1}">
              <a14:hiddenFill xmlns:a14="http://schemas.microsoft.com/office/drawing/2010/main">
                <a:noFill/>
              </a14:hiddenFill>
            </a:ext>
          </a:extLst>
        </p:spPr>
        <p:txBody>
          <a:bodyPr/>
          <a:lstStyle/>
          <a:p>
            <a:endParaRPr lang="zh-CN" altLang="en-US" sz="776" dirty="0"/>
          </a:p>
        </p:txBody>
      </p:sp>
      <p:sp>
        <p:nvSpPr>
          <p:cNvPr id="74" name="矩形: 圆角 18">
            <a:extLst>
              <a:ext uri="{FF2B5EF4-FFF2-40B4-BE49-F238E27FC236}">
                <a16:creationId xmlns="" xmlns:a16="http://schemas.microsoft.com/office/drawing/2014/main" id="{7C923056-96D1-FDBC-A663-A1F8635BC91E}"/>
              </a:ext>
            </a:extLst>
          </p:cNvPr>
          <p:cNvSpPr/>
          <p:nvPr/>
        </p:nvSpPr>
        <p:spPr>
          <a:xfrm flipV="1">
            <a:off x="140988" y="434975"/>
            <a:ext cx="2164062" cy="31919"/>
          </a:xfrm>
          <a:prstGeom prst="roundRect">
            <a:avLst>
              <a:gd name="adj" fmla="val 50000"/>
            </a:avLst>
          </a:prstGeom>
          <a:solidFill>
            <a:srgbClr val="0040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90">
              <a:solidFill>
                <a:srgbClr val="004098"/>
              </a:solidFill>
              <a:latin typeface="字体视界-NWE粗楷体" panose="02000500000000000000" pitchFamily="2" charset="-122"/>
              <a:ea typeface="字体视界-NWE粗楷体" panose="02000500000000000000" pitchFamily="2" charset="-122"/>
            </a:endParaRPr>
          </a:p>
        </p:txBody>
      </p:sp>
      <p:sp>
        <p:nvSpPr>
          <p:cNvPr id="3" name="object 3">
            <a:extLst>
              <a:ext uri="{FF2B5EF4-FFF2-40B4-BE49-F238E27FC236}">
                <a16:creationId xmlns="" xmlns:a16="http://schemas.microsoft.com/office/drawing/2014/main" id="{4848A9E6-81E6-DFFF-15C0-070E749E47F2}"/>
              </a:ext>
            </a:extLst>
          </p:cNvPr>
          <p:cNvSpPr txBox="1"/>
          <p:nvPr/>
        </p:nvSpPr>
        <p:spPr>
          <a:xfrm>
            <a:off x="445666" y="771265"/>
            <a:ext cx="3912870" cy="1768433"/>
          </a:xfrm>
          <a:prstGeom prst="rect">
            <a:avLst/>
          </a:prstGeom>
        </p:spPr>
        <p:txBody>
          <a:bodyPr vert="horz" wrap="square" lIns="0" tIns="11430" rIns="0" bIns="0" rtlCol="0">
            <a:spAutoFit/>
          </a:bodyPr>
          <a:lstStyle/>
          <a:p>
            <a:pPr marL="127635" indent="-115570">
              <a:lnSpc>
                <a:spcPct val="100000"/>
              </a:lnSpc>
              <a:spcBef>
                <a:spcPts val="90"/>
              </a:spcBef>
              <a:buFont typeface="宋体" panose="02010600030101010101" pitchFamily="2" charset="-122"/>
              <a:buChar char="•"/>
              <a:tabLst>
                <a:tab pos="128270" algn="l"/>
              </a:tabLst>
            </a:pPr>
            <a:r>
              <a:rPr lang="zh-CN" altLang="en-US" sz="1100" spc="30" dirty="0">
                <a:solidFill>
                  <a:srgbClr val="004098"/>
                </a:solidFill>
                <a:latin typeface="Calibri" panose="020F0502020204030204"/>
                <a:cs typeface="Calibri" panose="020F0502020204030204"/>
              </a:rPr>
              <a:t>识别前列腺癌的风险因子（略）</a:t>
            </a:r>
            <a:endParaRPr sz="1100" dirty="0">
              <a:solidFill>
                <a:srgbClr val="004098"/>
              </a:solidFill>
              <a:latin typeface="Calibri" panose="020F0502020204030204"/>
              <a:cs typeface="Calibri" panose="020F0502020204030204"/>
            </a:endParaRPr>
          </a:p>
          <a:p>
            <a:pPr marL="127635" marR="5080" indent="-115570">
              <a:lnSpc>
                <a:spcPct val="150000"/>
              </a:lnSpc>
              <a:spcBef>
                <a:spcPts val="90"/>
              </a:spcBef>
              <a:buFont typeface="宋体" panose="02010600030101010101" pitchFamily="2" charset="-122"/>
              <a:buChar char="•"/>
              <a:tabLst>
                <a:tab pos="128270" algn="l"/>
              </a:tabLst>
            </a:pPr>
            <a:r>
              <a:rPr lang="zh-CN" altLang="en-US" sz="1100" spc="30" dirty="0" smtClean="0">
                <a:solidFill>
                  <a:srgbClr val="004098"/>
                </a:solidFill>
                <a:latin typeface="Calibri" panose="020F0502020204030204"/>
                <a:cs typeface="Calibri" panose="020F0502020204030204"/>
              </a:rPr>
              <a:t>根据人口统计学</a:t>
            </a:r>
            <a:r>
              <a:rPr lang="zh-CN" altLang="en-US" sz="1100" spc="30" dirty="0">
                <a:solidFill>
                  <a:srgbClr val="004098"/>
                </a:solidFill>
                <a:latin typeface="Calibri" panose="020F0502020204030204"/>
                <a:cs typeface="Calibri" panose="020F0502020204030204"/>
              </a:rPr>
              <a:t>资料、饮食和临床测量数据预测某人是否会得心脏病（略）</a:t>
            </a:r>
            <a:endParaRPr lang="en-US" altLang="zh-CN" sz="1100" spc="30" dirty="0">
              <a:solidFill>
                <a:srgbClr val="004098"/>
              </a:solidFill>
              <a:latin typeface="Calibri" panose="020F0502020204030204"/>
              <a:cs typeface="Calibri" panose="020F0502020204030204"/>
            </a:endParaRPr>
          </a:p>
          <a:p>
            <a:pPr marL="127635" indent="-115570">
              <a:lnSpc>
                <a:spcPct val="150000"/>
              </a:lnSpc>
              <a:spcBef>
                <a:spcPts val="90"/>
              </a:spcBef>
              <a:buFont typeface="宋体" panose="02010600030101010101" pitchFamily="2" charset="-122"/>
              <a:buChar char="•"/>
              <a:tabLst>
                <a:tab pos="128270" algn="l"/>
              </a:tabLst>
            </a:pPr>
            <a:r>
              <a:rPr lang="zh-CN" altLang="en-US" sz="1100" spc="30" dirty="0">
                <a:solidFill>
                  <a:srgbClr val="004098"/>
                </a:solidFill>
                <a:latin typeface="Calibri" panose="020F0502020204030204"/>
                <a:cs typeface="Calibri" panose="020F0502020204030204"/>
              </a:rPr>
              <a:t>自定义一个垃圾邮件检测</a:t>
            </a:r>
            <a:r>
              <a:rPr lang="zh-CN" altLang="en-US" sz="1100" spc="30" dirty="0" smtClean="0">
                <a:solidFill>
                  <a:srgbClr val="004098"/>
                </a:solidFill>
                <a:latin typeface="Calibri" panose="020F0502020204030204"/>
                <a:cs typeface="Calibri" panose="020F0502020204030204"/>
              </a:rPr>
              <a:t>系统</a:t>
            </a:r>
            <a:endParaRPr sz="1100" spc="30" dirty="0">
              <a:solidFill>
                <a:srgbClr val="004098"/>
              </a:solidFill>
              <a:latin typeface="Calibri" panose="020F0502020204030204"/>
              <a:cs typeface="Calibri" panose="020F0502020204030204"/>
            </a:endParaRPr>
          </a:p>
          <a:p>
            <a:pPr marL="127635" indent="-115570">
              <a:lnSpc>
                <a:spcPct val="150000"/>
              </a:lnSpc>
              <a:spcBef>
                <a:spcPts val="90"/>
              </a:spcBef>
              <a:buFont typeface="宋体" panose="02010600030101010101" pitchFamily="2" charset="-122"/>
              <a:buChar char="•"/>
              <a:tabLst>
                <a:tab pos="128270" algn="l"/>
              </a:tabLst>
            </a:pPr>
            <a:r>
              <a:rPr lang="zh-CN" altLang="en-US" sz="1100" spc="30" dirty="0">
                <a:solidFill>
                  <a:srgbClr val="004098"/>
                </a:solidFill>
                <a:latin typeface="Calibri" panose="020F0502020204030204"/>
                <a:cs typeface="Calibri" panose="020F0502020204030204"/>
              </a:rPr>
              <a:t>识别手写的邮政编码数字</a:t>
            </a:r>
            <a:endParaRPr lang="en-US" altLang="zh-CN" sz="1100" spc="30" dirty="0">
              <a:solidFill>
                <a:srgbClr val="004098"/>
              </a:solidFill>
              <a:latin typeface="Calibri" panose="020F0502020204030204"/>
              <a:cs typeface="Calibri" panose="020F0502020204030204"/>
            </a:endParaRPr>
          </a:p>
          <a:p>
            <a:pPr marL="127635" indent="-115570">
              <a:lnSpc>
                <a:spcPct val="150000"/>
              </a:lnSpc>
              <a:spcBef>
                <a:spcPts val="90"/>
              </a:spcBef>
              <a:buFont typeface="宋体" panose="02010600030101010101" pitchFamily="2" charset="-122"/>
              <a:buChar char="•"/>
              <a:tabLst>
                <a:tab pos="128270" algn="l"/>
              </a:tabLst>
            </a:pPr>
            <a:r>
              <a:rPr lang="zh-CN" altLang="en-US" sz="1100" spc="30" dirty="0">
                <a:solidFill>
                  <a:srgbClr val="004098"/>
                </a:solidFill>
                <a:latin typeface="Calibri" panose="020F0502020204030204"/>
                <a:cs typeface="Calibri" panose="020F0502020204030204"/>
              </a:rPr>
              <a:t>基于基因的表达谱来确定一个组织属于哪一类的癌症</a:t>
            </a:r>
            <a:endParaRPr lang="en-US" sz="1100" spc="30" dirty="0">
              <a:solidFill>
                <a:srgbClr val="004098"/>
              </a:solidFill>
              <a:latin typeface="Calibri" panose="020F0502020204030204"/>
              <a:cs typeface="Calibri" panose="020F0502020204030204"/>
            </a:endParaRPr>
          </a:p>
          <a:p>
            <a:pPr marL="127635" indent="-115570">
              <a:lnSpc>
                <a:spcPct val="150000"/>
              </a:lnSpc>
              <a:spcBef>
                <a:spcPts val="90"/>
              </a:spcBef>
              <a:buFont typeface="宋体" panose="02010600030101010101" pitchFamily="2" charset="-122"/>
              <a:buChar char="•"/>
              <a:tabLst>
                <a:tab pos="128270" algn="l"/>
              </a:tabLst>
            </a:pPr>
            <a:r>
              <a:rPr lang="zh-CN" altLang="en-US" sz="1100" spc="30" dirty="0">
                <a:solidFill>
                  <a:srgbClr val="004098"/>
                </a:solidFill>
                <a:latin typeface="Calibri" panose="020F0502020204030204"/>
                <a:cs typeface="Calibri" panose="020F0502020204030204"/>
              </a:rPr>
              <a:t>建立人口调查数据中工资和人口统计学变量之间的关系</a:t>
            </a:r>
            <a:endParaRPr sz="1100" spc="30" dirty="0">
              <a:solidFill>
                <a:srgbClr val="004098"/>
              </a:solidFill>
              <a:latin typeface="Calibri" panose="020F0502020204030204"/>
              <a:cs typeface="Calibri" panose="020F0502020204030204"/>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8" name="原创设计师QQ598969553      _9">
            <a:extLst>
              <a:ext uri="{FF2B5EF4-FFF2-40B4-BE49-F238E27FC236}">
                <a16:creationId xmlns="" xmlns:a16="http://schemas.microsoft.com/office/drawing/2014/main" id="{EC33079E-1247-70DE-8763-3ACDD65E706D}"/>
              </a:ext>
            </a:extLst>
          </p:cNvPr>
          <p:cNvGrpSpPr/>
          <p:nvPr/>
        </p:nvGrpSpPr>
        <p:grpSpPr>
          <a:xfrm>
            <a:off x="188162" y="153558"/>
            <a:ext cx="304678" cy="243737"/>
            <a:chOff x="4268207" y="2118116"/>
            <a:chExt cx="2653566" cy="2214138"/>
          </a:xfrm>
        </p:grpSpPr>
        <p:grpSp>
          <p:nvGrpSpPr>
            <p:cNvPr id="69" name="组合 68">
              <a:extLst>
                <a:ext uri="{FF2B5EF4-FFF2-40B4-BE49-F238E27FC236}">
                  <a16:creationId xmlns="" xmlns:a16="http://schemas.microsoft.com/office/drawing/2014/main" id="{3866FBD5-A960-6794-8BA4-9DBBA9FC3AA3}"/>
                </a:ext>
              </a:extLst>
            </p:cNvPr>
            <p:cNvGrpSpPr/>
            <p:nvPr/>
          </p:nvGrpSpPr>
          <p:grpSpPr>
            <a:xfrm>
              <a:off x="4508674" y="2118116"/>
              <a:ext cx="2204282" cy="2204282"/>
              <a:chOff x="1517331" y="1125257"/>
              <a:chExt cx="2204282" cy="2204282"/>
            </a:xfrm>
          </p:grpSpPr>
          <p:sp>
            <p:nvSpPr>
              <p:cNvPr id="71" name="椭圆 70">
                <a:extLst>
                  <a:ext uri="{FF2B5EF4-FFF2-40B4-BE49-F238E27FC236}">
                    <a16:creationId xmlns="" xmlns:a16="http://schemas.microsoft.com/office/drawing/2014/main" id="{68A1054A-58A0-C11B-68D9-FA23D2B35325}"/>
                  </a:ext>
                </a:extLst>
              </p:cNvPr>
              <p:cNvSpPr/>
              <p:nvPr/>
            </p:nvSpPr>
            <p:spPr>
              <a:xfrm>
                <a:off x="1517331" y="1125257"/>
                <a:ext cx="2204282" cy="2204282"/>
              </a:xfrm>
              <a:prstGeom prst="ellipse">
                <a:avLst/>
              </a:prstGeom>
              <a:gradFill>
                <a:gsLst>
                  <a:gs pos="0">
                    <a:srgbClr val="EBEBEB"/>
                  </a:gs>
                  <a:gs pos="100000">
                    <a:srgbClr val="FEFEFE"/>
                  </a:gs>
                </a:gsLst>
                <a:lin ang="7530000" scaled="0"/>
              </a:gradFill>
              <a:ln w="12700">
                <a:solidFill>
                  <a:schemeClr val="bg1"/>
                </a:solidFill>
              </a:ln>
              <a:effectLst>
                <a:outerShdw blurRad="457200" dist="444500" dir="7800000" sx="89000" sy="89000" algn="tr" rotWithShape="0">
                  <a:prstClr val="black">
                    <a:alpha val="3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76">
                  <a:latin typeface="字体视界-NWE粗楷体" panose="02000500000000000000" pitchFamily="2" charset="-122"/>
                  <a:ea typeface="字体视界-NWE粗楷体" panose="02000500000000000000" pitchFamily="2" charset="-122"/>
                </a:endParaRPr>
              </a:p>
            </p:txBody>
          </p:sp>
          <p:sp>
            <p:nvSpPr>
              <p:cNvPr id="72" name="椭圆 71">
                <a:extLst>
                  <a:ext uri="{FF2B5EF4-FFF2-40B4-BE49-F238E27FC236}">
                    <a16:creationId xmlns="" xmlns:a16="http://schemas.microsoft.com/office/drawing/2014/main" id="{BFBCAB49-6A8C-B2B3-35ED-D6BBBED5CF8B}"/>
                  </a:ext>
                </a:extLst>
              </p:cNvPr>
              <p:cNvSpPr/>
              <p:nvPr/>
            </p:nvSpPr>
            <p:spPr>
              <a:xfrm>
                <a:off x="1719371" y="1344751"/>
                <a:ext cx="1800198" cy="1800200"/>
              </a:xfrm>
              <a:prstGeom prst="ellipse">
                <a:avLst/>
              </a:prstGeom>
              <a:solidFill>
                <a:srgbClr val="004098"/>
              </a:solidFill>
              <a:ln>
                <a:noFill/>
              </a:ln>
              <a:effectLst>
                <a:innerShdw blurRad="101600" dist="50800" dir="18900000">
                  <a:prstClr val="black">
                    <a:alpha val="43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76">
                  <a:latin typeface="字体视界-NWE粗楷体" panose="02000500000000000000" pitchFamily="2" charset="-122"/>
                  <a:ea typeface="字体视界-NWE粗楷体" panose="02000500000000000000" pitchFamily="2" charset="-122"/>
                </a:endParaRPr>
              </a:p>
            </p:txBody>
          </p:sp>
        </p:grpSp>
        <p:sp>
          <p:nvSpPr>
            <p:cNvPr id="70" name="TextBox 80">
              <a:extLst>
                <a:ext uri="{FF2B5EF4-FFF2-40B4-BE49-F238E27FC236}">
                  <a16:creationId xmlns="" xmlns:a16="http://schemas.microsoft.com/office/drawing/2014/main" id="{7A547AF7-EE79-5DEF-44B1-CF755100FDCC}"/>
                </a:ext>
              </a:extLst>
            </p:cNvPr>
            <p:cNvSpPr txBox="1"/>
            <p:nvPr/>
          </p:nvSpPr>
          <p:spPr>
            <a:xfrm>
              <a:off x="4268207" y="2408917"/>
              <a:ext cx="2653566" cy="1923337"/>
            </a:xfrm>
            <a:prstGeom prst="rect">
              <a:avLst/>
            </a:prstGeom>
            <a:noFill/>
          </p:spPr>
          <p:txBody>
            <a:bodyPr wrap="square" rtlCol="0">
              <a:spAutoFit/>
            </a:bodyPr>
            <a:lstStyle/>
            <a:p>
              <a:r>
                <a:rPr lang="en-US" altLang="zh-CN" sz="776" dirty="0">
                  <a:solidFill>
                    <a:schemeClr val="bg1"/>
                  </a:solidFill>
                  <a:latin typeface="字体视界-NWE粗楷体" panose="02000500000000000000" pitchFamily="2" charset="-122"/>
                  <a:ea typeface="字体视界-NWE粗楷体" panose="02000500000000000000" pitchFamily="2" charset="-122"/>
                </a:rPr>
                <a:t>01</a:t>
              </a:r>
            </a:p>
          </p:txBody>
        </p:sp>
      </p:grpSp>
      <p:sp>
        <p:nvSpPr>
          <p:cNvPr id="73" name="原创设计师QQ598969553      _12">
            <a:extLst>
              <a:ext uri="{FF2B5EF4-FFF2-40B4-BE49-F238E27FC236}">
                <a16:creationId xmlns="" xmlns:a16="http://schemas.microsoft.com/office/drawing/2014/main" id="{760473EF-0D78-F124-1B4B-A4A3255E7476}"/>
              </a:ext>
            </a:extLst>
          </p:cNvPr>
          <p:cNvSpPr>
            <a:spLocks noChangeShapeType="1"/>
          </p:cNvSpPr>
          <p:nvPr/>
        </p:nvSpPr>
        <p:spPr bwMode="auto">
          <a:xfrm flipH="1" flipV="1">
            <a:off x="543649" y="130604"/>
            <a:ext cx="0" cy="307269"/>
          </a:xfrm>
          <a:prstGeom prst="line">
            <a:avLst/>
          </a:prstGeom>
          <a:noFill/>
          <a:ln w="19050">
            <a:solidFill>
              <a:srgbClr val="004098"/>
            </a:solidFill>
            <a:prstDash val="dash"/>
            <a:round/>
          </a:ln>
          <a:extLst>
            <a:ext uri="{909E8E84-426E-40DD-AFC4-6F175D3DCCD1}">
              <a14:hiddenFill xmlns:a14="http://schemas.microsoft.com/office/drawing/2010/main">
                <a:noFill/>
              </a14:hiddenFill>
            </a:ext>
          </a:extLst>
        </p:spPr>
        <p:txBody>
          <a:bodyPr/>
          <a:lstStyle/>
          <a:p>
            <a:endParaRPr lang="zh-CN" altLang="en-US" sz="776" dirty="0"/>
          </a:p>
        </p:txBody>
      </p:sp>
      <p:sp>
        <p:nvSpPr>
          <p:cNvPr id="74" name="矩形: 圆角 18">
            <a:extLst>
              <a:ext uri="{FF2B5EF4-FFF2-40B4-BE49-F238E27FC236}">
                <a16:creationId xmlns="" xmlns:a16="http://schemas.microsoft.com/office/drawing/2014/main" id="{7C923056-96D1-FDBC-A663-A1F8635BC91E}"/>
              </a:ext>
            </a:extLst>
          </p:cNvPr>
          <p:cNvSpPr/>
          <p:nvPr/>
        </p:nvSpPr>
        <p:spPr>
          <a:xfrm flipV="1">
            <a:off x="140988" y="434975"/>
            <a:ext cx="2164062" cy="31919"/>
          </a:xfrm>
          <a:prstGeom prst="roundRect">
            <a:avLst>
              <a:gd name="adj" fmla="val 50000"/>
            </a:avLst>
          </a:prstGeom>
          <a:solidFill>
            <a:srgbClr val="0040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90">
              <a:solidFill>
                <a:srgbClr val="004098"/>
              </a:solidFill>
              <a:latin typeface="字体视界-NWE粗楷体" panose="02000500000000000000" pitchFamily="2" charset="-122"/>
              <a:ea typeface="字体视界-NWE粗楷体" panose="02000500000000000000" pitchFamily="2" charset="-122"/>
            </a:endParaRPr>
          </a:p>
        </p:txBody>
      </p:sp>
      <p:sp>
        <p:nvSpPr>
          <p:cNvPr id="2" name="object 3">
            <a:extLst>
              <a:ext uri="{FF2B5EF4-FFF2-40B4-BE49-F238E27FC236}">
                <a16:creationId xmlns="" xmlns:a16="http://schemas.microsoft.com/office/drawing/2014/main" id="{A630F66F-FB32-AA31-F230-B3A20FFB4C9F}"/>
              </a:ext>
            </a:extLst>
          </p:cNvPr>
          <p:cNvSpPr txBox="1"/>
          <p:nvPr/>
        </p:nvSpPr>
        <p:spPr>
          <a:xfrm>
            <a:off x="516714" y="892175"/>
            <a:ext cx="3769995" cy="950645"/>
          </a:xfrm>
          <a:prstGeom prst="rect">
            <a:avLst/>
          </a:prstGeom>
        </p:spPr>
        <p:txBody>
          <a:bodyPr vert="horz" wrap="square" lIns="0" tIns="6985" rIns="0" bIns="0" rtlCol="0">
            <a:spAutoFit/>
          </a:bodyPr>
          <a:lstStyle/>
          <a:p>
            <a:pPr marL="144780" marR="5080" indent="-132715">
              <a:lnSpc>
                <a:spcPct val="103000"/>
              </a:lnSpc>
              <a:spcBef>
                <a:spcPts val="55"/>
              </a:spcBef>
              <a:buClr>
                <a:srgbClr val="3333B2"/>
              </a:buClr>
              <a:buSzPct val="91000"/>
              <a:buFont typeface="宋体" panose="02010600030101010101" pitchFamily="2" charset="-122"/>
              <a:buChar char="•"/>
              <a:tabLst>
                <a:tab pos="145415" algn="l"/>
              </a:tabLst>
            </a:pPr>
            <a:r>
              <a:rPr lang="zh-CN" altLang="en-US" sz="1100" spc="25" dirty="0">
                <a:latin typeface="Calibri" panose="020F0502020204030204"/>
                <a:cs typeface="Calibri" panose="020F0502020204030204"/>
              </a:rPr>
              <a:t>数据：总数</a:t>
            </a:r>
            <a:r>
              <a:rPr lang="en-US" sz="1100" spc="25" dirty="0">
                <a:latin typeface="Calibri" panose="020F0502020204030204"/>
                <a:cs typeface="Calibri" panose="020F0502020204030204"/>
              </a:rPr>
              <a:t>4601</a:t>
            </a:r>
            <a:r>
              <a:rPr lang="zh-CN" altLang="en-US" sz="1100" spc="25" dirty="0">
                <a:latin typeface="Calibri" panose="020F0502020204030204"/>
                <a:cs typeface="Calibri" panose="020F0502020204030204"/>
              </a:rPr>
              <a:t>封个人邮件</a:t>
            </a:r>
            <a:r>
              <a:rPr sz="1100" spc="75" dirty="0">
                <a:latin typeface="Calibri" panose="020F0502020204030204"/>
                <a:cs typeface="Calibri" panose="020F0502020204030204"/>
              </a:rPr>
              <a:t> </a:t>
            </a:r>
            <a:r>
              <a:rPr sz="1100" spc="20" dirty="0">
                <a:latin typeface="Calibri" panose="020F0502020204030204"/>
                <a:cs typeface="Calibri" panose="020F0502020204030204"/>
              </a:rPr>
              <a:t>(</a:t>
            </a:r>
            <a:r>
              <a:rPr lang="zh-CN" altLang="en-US" sz="1100" spc="20" dirty="0">
                <a:latin typeface="Calibri" panose="020F0502020204030204"/>
                <a:cs typeface="Calibri" panose="020F0502020204030204"/>
              </a:rPr>
              <a:t>收信人：</a:t>
            </a:r>
            <a:r>
              <a:rPr sz="1100" spc="10" dirty="0">
                <a:latin typeface="Calibri" panose="020F0502020204030204"/>
                <a:cs typeface="Calibri" panose="020F0502020204030204"/>
              </a:rPr>
              <a:t>George, </a:t>
            </a:r>
            <a:r>
              <a:rPr sz="1100" spc="-235" dirty="0">
                <a:latin typeface="Calibri" panose="020F0502020204030204"/>
                <a:cs typeface="Calibri" panose="020F0502020204030204"/>
              </a:rPr>
              <a:t> </a:t>
            </a:r>
            <a:r>
              <a:rPr sz="1100" spc="35" dirty="0">
                <a:latin typeface="Calibri" panose="020F0502020204030204"/>
                <a:cs typeface="Calibri" panose="020F0502020204030204"/>
              </a:rPr>
              <a:t>at</a:t>
            </a:r>
            <a:r>
              <a:rPr sz="1100" spc="110" dirty="0">
                <a:latin typeface="Calibri" panose="020F0502020204030204"/>
                <a:cs typeface="Calibri" panose="020F0502020204030204"/>
              </a:rPr>
              <a:t> </a:t>
            </a:r>
            <a:r>
              <a:rPr sz="1100" spc="150" dirty="0">
                <a:latin typeface="Calibri" panose="020F0502020204030204"/>
                <a:cs typeface="Calibri" panose="020F0502020204030204"/>
              </a:rPr>
              <a:t>HP</a:t>
            </a:r>
            <a:r>
              <a:rPr sz="1100" spc="114" dirty="0">
                <a:latin typeface="Calibri" panose="020F0502020204030204"/>
                <a:cs typeface="Calibri" panose="020F0502020204030204"/>
              </a:rPr>
              <a:t> </a:t>
            </a:r>
            <a:r>
              <a:rPr sz="1100" spc="20" dirty="0">
                <a:latin typeface="Calibri" panose="020F0502020204030204"/>
                <a:cs typeface="Calibri" panose="020F0502020204030204"/>
              </a:rPr>
              <a:t>labs,</a:t>
            </a:r>
            <a:r>
              <a:rPr sz="1100" spc="114" dirty="0">
                <a:latin typeface="Calibri" panose="020F0502020204030204"/>
                <a:cs typeface="Calibri" panose="020F0502020204030204"/>
              </a:rPr>
              <a:t> </a:t>
            </a:r>
            <a:r>
              <a:rPr sz="1100" spc="-15" dirty="0">
                <a:latin typeface="Calibri" panose="020F0502020204030204"/>
                <a:cs typeface="Calibri" panose="020F0502020204030204"/>
              </a:rPr>
              <a:t>before</a:t>
            </a:r>
            <a:r>
              <a:rPr sz="1100" spc="114" dirty="0">
                <a:latin typeface="Calibri" panose="020F0502020204030204"/>
                <a:cs typeface="Calibri" panose="020F0502020204030204"/>
              </a:rPr>
              <a:t> </a:t>
            </a:r>
            <a:r>
              <a:rPr sz="1100" spc="10" dirty="0">
                <a:latin typeface="Calibri" panose="020F0502020204030204"/>
                <a:cs typeface="Calibri" panose="020F0502020204030204"/>
              </a:rPr>
              <a:t>2000)</a:t>
            </a:r>
            <a:r>
              <a:rPr lang="zh-CN" altLang="en-US" sz="1100" spc="10" dirty="0">
                <a:latin typeface="Calibri" panose="020F0502020204030204"/>
                <a:cs typeface="Calibri" panose="020F0502020204030204"/>
              </a:rPr>
              <a:t>，每封邮件被标记为</a:t>
            </a:r>
            <a:r>
              <a:rPr lang="zh-CN" altLang="en-US" sz="1100" i="1" spc="20" dirty="0">
                <a:solidFill>
                  <a:srgbClr val="004098"/>
                </a:solidFill>
                <a:latin typeface="Calibri" panose="020F0502020204030204"/>
                <a:cs typeface="Calibri" panose="020F0502020204030204"/>
              </a:rPr>
              <a:t>垃圾</a:t>
            </a:r>
            <a:r>
              <a:rPr lang="zh-CN" altLang="en-US" sz="1100" i="1" spc="20" dirty="0">
                <a:solidFill>
                  <a:srgbClr val="004098"/>
                </a:solidFill>
                <a:cs typeface="Calibri" panose="020F0502020204030204"/>
              </a:rPr>
              <a:t>邮件</a:t>
            </a:r>
            <a:r>
              <a:rPr lang="zh-CN" altLang="en-US" sz="1100" spc="10" dirty="0">
                <a:latin typeface="Calibri" panose="020F0502020204030204"/>
                <a:cs typeface="Calibri" panose="020F0502020204030204"/>
              </a:rPr>
              <a:t>或</a:t>
            </a:r>
            <a:r>
              <a:rPr lang="zh-CN" altLang="en-US" sz="1100" i="1" spc="20" dirty="0">
                <a:solidFill>
                  <a:srgbClr val="004098"/>
                </a:solidFill>
                <a:latin typeface="Calibri" panose="020F0502020204030204"/>
                <a:cs typeface="Calibri" panose="020F0502020204030204"/>
              </a:rPr>
              <a:t>正常邮件</a:t>
            </a:r>
            <a:r>
              <a:rPr lang="zh-CN" altLang="en-US" sz="1100" spc="10" dirty="0">
                <a:latin typeface="Calibri" panose="020F0502020204030204"/>
                <a:cs typeface="Calibri" panose="020F0502020204030204"/>
              </a:rPr>
              <a:t>。</a:t>
            </a:r>
            <a:endParaRPr sz="1100" dirty="0">
              <a:latin typeface="Calibri" panose="020F0502020204030204"/>
              <a:cs typeface="Calibri" panose="020F0502020204030204"/>
            </a:endParaRPr>
          </a:p>
          <a:p>
            <a:pPr marL="144780" indent="-132715">
              <a:lnSpc>
                <a:spcPct val="100000"/>
              </a:lnSpc>
              <a:spcBef>
                <a:spcPts val="335"/>
              </a:spcBef>
              <a:buClr>
                <a:srgbClr val="3333B2"/>
              </a:buClr>
              <a:buSzPct val="91000"/>
              <a:buFont typeface="宋体" panose="02010600030101010101" pitchFamily="2" charset="-122"/>
              <a:buChar char="•"/>
              <a:tabLst>
                <a:tab pos="145415" algn="l"/>
              </a:tabLst>
            </a:pPr>
            <a:r>
              <a:rPr lang="zh-CN" altLang="en-US" sz="1100" spc="10" dirty="0">
                <a:latin typeface="Calibri" panose="020F0502020204030204"/>
                <a:cs typeface="Calibri" panose="020F0502020204030204"/>
              </a:rPr>
              <a:t>目标：构建一个垃圾邮件的过滤器</a:t>
            </a:r>
            <a:r>
              <a:rPr lang="zh-CN" altLang="en-US" sz="1100" spc="15" dirty="0">
                <a:latin typeface="Calibri" panose="020F0502020204030204"/>
                <a:cs typeface="Calibri" panose="020F0502020204030204"/>
              </a:rPr>
              <a:t>。</a:t>
            </a:r>
            <a:endParaRPr sz="1100" dirty="0">
              <a:latin typeface="Calibri" panose="020F0502020204030204"/>
              <a:cs typeface="Calibri" panose="020F0502020204030204"/>
            </a:endParaRPr>
          </a:p>
          <a:p>
            <a:pPr marL="144780" marR="10795" indent="-132715">
              <a:lnSpc>
                <a:spcPct val="103000"/>
              </a:lnSpc>
              <a:spcBef>
                <a:spcPts val="295"/>
              </a:spcBef>
              <a:buClr>
                <a:srgbClr val="3333B2"/>
              </a:buClr>
              <a:buSzPct val="91000"/>
              <a:buFont typeface="宋体" panose="02010600030101010101" pitchFamily="2" charset="-122"/>
              <a:buChar char="•"/>
              <a:tabLst>
                <a:tab pos="145415" algn="l"/>
              </a:tabLst>
            </a:pPr>
            <a:r>
              <a:rPr lang="zh-CN" altLang="en-US" sz="1100" spc="35" dirty="0">
                <a:latin typeface="Calibri" panose="020F0502020204030204"/>
                <a:cs typeface="Calibri" panose="020F0502020204030204"/>
              </a:rPr>
              <a:t>输入特征</a:t>
            </a:r>
            <a:r>
              <a:rPr sz="1100" dirty="0">
                <a:latin typeface="Calibri" panose="020F0502020204030204"/>
                <a:cs typeface="Calibri" panose="020F0502020204030204"/>
              </a:rPr>
              <a:t>:</a:t>
            </a:r>
            <a:r>
              <a:rPr sz="1100" spc="5" dirty="0">
                <a:latin typeface="Calibri" panose="020F0502020204030204"/>
                <a:cs typeface="Calibri" panose="020F0502020204030204"/>
              </a:rPr>
              <a:t> </a:t>
            </a:r>
            <a:r>
              <a:rPr lang="zh-CN" altLang="en-US" sz="1100" spc="5" dirty="0">
                <a:latin typeface="Calibri" panose="020F0502020204030204"/>
                <a:cs typeface="Calibri" panose="020F0502020204030204"/>
              </a:rPr>
              <a:t>这些邮件中最常见的</a:t>
            </a:r>
            <a:r>
              <a:rPr lang="en-US" altLang="zh-CN" sz="1100" spc="5" dirty="0">
                <a:latin typeface="Calibri" panose="020F0502020204030204"/>
                <a:cs typeface="Calibri" panose="020F0502020204030204"/>
              </a:rPr>
              <a:t>57</a:t>
            </a:r>
            <a:r>
              <a:rPr lang="zh-CN" altLang="en-US" sz="1100" spc="5" dirty="0">
                <a:latin typeface="Calibri" panose="020F0502020204030204"/>
                <a:cs typeface="Calibri" panose="020F0502020204030204"/>
              </a:rPr>
              <a:t>个单词和分隔符的相对频率。</a:t>
            </a:r>
            <a:endParaRPr sz="1100" dirty="0">
              <a:latin typeface="Calibri" panose="020F0502020204030204"/>
              <a:cs typeface="Calibri" panose="020F0502020204030204"/>
            </a:endParaRPr>
          </a:p>
        </p:txBody>
      </p:sp>
      <p:graphicFrame>
        <p:nvGraphicFramePr>
          <p:cNvPr id="4" name="object 4">
            <a:extLst>
              <a:ext uri="{FF2B5EF4-FFF2-40B4-BE49-F238E27FC236}">
                <a16:creationId xmlns="" xmlns:a16="http://schemas.microsoft.com/office/drawing/2014/main" id="{212FBB81-8FA8-7785-F18D-503AA4A0081F}"/>
              </a:ext>
            </a:extLst>
          </p:cNvPr>
          <p:cNvGraphicFramePr>
            <a:graphicFrameLocks noGrp="1"/>
          </p:cNvGraphicFramePr>
          <p:nvPr>
            <p:extLst>
              <p:ext uri="{D42A27DB-BD31-4B8C-83A1-F6EECF244321}">
                <p14:modId xmlns:p14="http://schemas.microsoft.com/office/powerpoint/2010/main" val="602803320"/>
              </p:ext>
            </p:extLst>
          </p:nvPr>
        </p:nvGraphicFramePr>
        <p:xfrm>
          <a:off x="465878" y="1999016"/>
          <a:ext cx="3726810" cy="526337"/>
        </p:xfrm>
        <a:graphic>
          <a:graphicData uri="http://schemas.openxmlformats.org/drawingml/2006/table">
            <a:tbl>
              <a:tblPr firstRow="1" bandRow="1">
                <a:tableStyleId>{2D5ABB26-0587-4C30-8999-92F81FD0307C}</a:tableStyleId>
              </a:tblPr>
              <a:tblGrid>
                <a:gridCol w="515620">
                  <a:extLst>
                    <a:ext uri="{9D8B030D-6E8A-4147-A177-3AD203B41FA5}">
                      <a16:colId xmlns="" xmlns:a16="http://schemas.microsoft.com/office/drawing/2014/main" val="20000"/>
                    </a:ext>
                  </a:extLst>
                </a:gridCol>
                <a:gridCol w="588010">
                  <a:extLst>
                    <a:ext uri="{9D8B030D-6E8A-4147-A177-3AD203B41FA5}">
                      <a16:colId xmlns="" xmlns:a16="http://schemas.microsoft.com/office/drawing/2014/main" val="20001"/>
                    </a:ext>
                  </a:extLst>
                </a:gridCol>
                <a:gridCol w="398144">
                  <a:extLst>
                    <a:ext uri="{9D8B030D-6E8A-4147-A177-3AD203B41FA5}">
                      <a16:colId xmlns="" xmlns:a16="http://schemas.microsoft.com/office/drawing/2014/main" val="20002"/>
                    </a:ext>
                  </a:extLst>
                </a:gridCol>
                <a:gridCol w="398144">
                  <a:extLst>
                    <a:ext uri="{9D8B030D-6E8A-4147-A177-3AD203B41FA5}">
                      <a16:colId xmlns="" xmlns:a16="http://schemas.microsoft.com/office/drawing/2014/main" val="20003"/>
                    </a:ext>
                  </a:extLst>
                </a:gridCol>
                <a:gridCol w="442594">
                  <a:extLst>
                    <a:ext uri="{9D8B030D-6E8A-4147-A177-3AD203B41FA5}">
                      <a16:colId xmlns="" xmlns:a16="http://schemas.microsoft.com/office/drawing/2014/main" val="20004"/>
                    </a:ext>
                  </a:extLst>
                </a:gridCol>
                <a:gridCol w="398144">
                  <a:extLst>
                    <a:ext uri="{9D8B030D-6E8A-4147-A177-3AD203B41FA5}">
                      <a16:colId xmlns="" xmlns:a16="http://schemas.microsoft.com/office/drawing/2014/main" val="20005"/>
                    </a:ext>
                  </a:extLst>
                </a:gridCol>
                <a:gridCol w="398144">
                  <a:extLst>
                    <a:ext uri="{9D8B030D-6E8A-4147-A177-3AD203B41FA5}">
                      <a16:colId xmlns="" xmlns:a16="http://schemas.microsoft.com/office/drawing/2014/main" val="20006"/>
                    </a:ext>
                  </a:extLst>
                </a:gridCol>
                <a:gridCol w="588010">
                  <a:extLst>
                    <a:ext uri="{9D8B030D-6E8A-4147-A177-3AD203B41FA5}">
                      <a16:colId xmlns="" xmlns:a16="http://schemas.microsoft.com/office/drawing/2014/main" val="20007"/>
                    </a:ext>
                  </a:extLst>
                </a:gridCol>
              </a:tblGrid>
              <a:tr h="177126">
                <a:tc>
                  <a:txBody>
                    <a:bodyPr/>
                    <a:lstStyle/>
                    <a:p>
                      <a:pPr>
                        <a:lnSpc>
                          <a:spcPct val="100000"/>
                        </a:lnSpc>
                      </a:pPr>
                      <a:endParaRPr sz="1000">
                        <a:latin typeface="Times New Roman" panose="02020603050405020304"/>
                        <a:cs typeface="Times New Roman" panose="02020603050405020304"/>
                      </a:endParaRPr>
                    </a:p>
                  </a:txBody>
                  <a:tcPr marL="0" marR="0" marT="0" marB="0">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R="67945" algn="r">
                        <a:lnSpc>
                          <a:spcPts val="1190"/>
                        </a:lnSpc>
                      </a:pPr>
                      <a:r>
                        <a:rPr sz="1100" spc="55" dirty="0">
                          <a:solidFill>
                            <a:srgbClr val="0000FF"/>
                          </a:solidFill>
                          <a:latin typeface="Calibri" panose="020F0502020204030204"/>
                          <a:cs typeface="Calibri" panose="020F0502020204030204"/>
                        </a:rPr>
                        <a:t>george</a:t>
                      </a:r>
                      <a:endParaRPr sz="1100">
                        <a:latin typeface="Calibri" panose="020F0502020204030204"/>
                        <a:cs typeface="Calibri" panose="020F0502020204030204"/>
                      </a:endParaRPr>
                    </a:p>
                  </a:txBody>
                  <a:tcPr marL="0" marR="0" marT="0" marB="0">
                    <a:lnL w="6350">
                      <a:solidFill>
                        <a:srgbClr val="000000"/>
                      </a:solidFill>
                      <a:prstDash val="solid"/>
                    </a:lnL>
                    <a:lnT w="6350">
                      <a:solidFill>
                        <a:srgbClr val="000000"/>
                      </a:solidFill>
                      <a:prstDash val="solid"/>
                    </a:lnT>
                    <a:lnB w="6350">
                      <a:solidFill>
                        <a:srgbClr val="000000"/>
                      </a:solidFill>
                      <a:prstDash val="solid"/>
                    </a:lnB>
                  </a:tcPr>
                </a:tc>
                <a:tc>
                  <a:txBody>
                    <a:bodyPr/>
                    <a:lstStyle/>
                    <a:p>
                      <a:pPr marR="67945" algn="r">
                        <a:lnSpc>
                          <a:spcPts val="1190"/>
                        </a:lnSpc>
                      </a:pPr>
                      <a:r>
                        <a:rPr sz="1100" spc="20" dirty="0">
                          <a:solidFill>
                            <a:srgbClr val="0000FF"/>
                          </a:solidFill>
                          <a:latin typeface="Calibri" panose="020F0502020204030204"/>
                          <a:cs typeface="Calibri" panose="020F0502020204030204"/>
                        </a:rPr>
                        <a:t>you</a:t>
                      </a:r>
                      <a:endParaRPr sz="1100">
                        <a:latin typeface="Calibri" panose="020F0502020204030204"/>
                        <a:cs typeface="Calibri" panose="020F0502020204030204"/>
                      </a:endParaRPr>
                    </a:p>
                  </a:txBody>
                  <a:tcPr marL="0" marR="0" marT="0" marB="0">
                    <a:lnT w="6350">
                      <a:solidFill>
                        <a:srgbClr val="000000"/>
                      </a:solidFill>
                      <a:prstDash val="solid"/>
                    </a:lnT>
                    <a:lnB w="6350">
                      <a:solidFill>
                        <a:srgbClr val="000000"/>
                      </a:solidFill>
                      <a:prstDash val="solid"/>
                    </a:lnB>
                  </a:tcPr>
                </a:tc>
                <a:tc>
                  <a:txBody>
                    <a:bodyPr/>
                    <a:lstStyle/>
                    <a:p>
                      <a:pPr marR="67945" algn="r">
                        <a:lnSpc>
                          <a:spcPts val="1190"/>
                        </a:lnSpc>
                      </a:pPr>
                      <a:r>
                        <a:rPr sz="1100" spc="-10" dirty="0">
                          <a:solidFill>
                            <a:srgbClr val="0000FF"/>
                          </a:solidFill>
                          <a:latin typeface="Calibri" panose="020F0502020204030204"/>
                          <a:cs typeface="Calibri" panose="020F0502020204030204"/>
                        </a:rPr>
                        <a:t>hp</a:t>
                      </a:r>
                      <a:endParaRPr sz="1100">
                        <a:latin typeface="Calibri" panose="020F0502020204030204"/>
                        <a:cs typeface="Calibri" panose="020F0502020204030204"/>
                      </a:endParaRPr>
                    </a:p>
                  </a:txBody>
                  <a:tcPr marL="0" marR="0" marT="0" marB="0">
                    <a:lnT w="6350">
                      <a:solidFill>
                        <a:srgbClr val="000000"/>
                      </a:solidFill>
                      <a:prstDash val="solid"/>
                    </a:lnT>
                    <a:lnB w="6350">
                      <a:solidFill>
                        <a:srgbClr val="000000"/>
                      </a:solidFill>
                      <a:prstDash val="solid"/>
                    </a:lnB>
                  </a:tcPr>
                </a:tc>
                <a:tc>
                  <a:txBody>
                    <a:bodyPr/>
                    <a:lstStyle/>
                    <a:p>
                      <a:pPr algn="ctr">
                        <a:lnSpc>
                          <a:spcPts val="1190"/>
                        </a:lnSpc>
                      </a:pPr>
                      <a:r>
                        <a:rPr sz="1100" spc="114" dirty="0">
                          <a:solidFill>
                            <a:srgbClr val="0000FF"/>
                          </a:solidFill>
                          <a:latin typeface="Calibri" panose="020F0502020204030204"/>
                          <a:cs typeface="Calibri" panose="020F0502020204030204"/>
                        </a:rPr>
                        <a:t>free</a:t>
                      </a:r>
                      <a:endParaRPr sz="1100">
                        <a:latin typeface="Calibri" panose="020F0502020204030204"/>
                        <a:cs typeface="Calibri" panose="020F0502020204030204"/>
                      </a:endParaRPr>
                    </a:p>
                  </a:txBody>
                  <a:tcPr marL="0" marR="0" marT="0" marB="0">
                    <a:lnT w="6350">
                      <a:solidFill>
                        <a:srgbClr val="000000"/>
                      </a:solidFill>
                      <a:prstDash val="solid"/>
                    </a:lnT>
                    <a:lnB w="6350">
                      <a:solidFill>
                        <a:srgbClr val="000000"/>
                      </a:solidFill>
                      <a:prstDash val="solid"/>
                    </a:lnB>
                  </a:tcPr>
                </a:tc>
                <a:tc>
                  <a:txBody>
                    <a:bodyPr/>
                    <a:lstStyle/>
                    <a:p>
                      <a:pPr marR="67945" algn="r">
                        <a:lnSpc>
                          <a:spcPts val="1190"/>
                        </a:lnSpc>
                      </a:pPr>
                      <a:r>
                        <a:rPr sz="1100" dirty="0">
                          <a:solidFill>
                            <a:srgbClr val="0000FF"/>
                          </a:solidFill>
                          <a:latin typeface="Calibri" panose="020F0502020204030204"/>
                          <a:cs typeface="Calibri" panose="020F0502020204030204"/>
                        </a:rPr>
                        <a:t>!</a:t>
                      </a:r>
                      <a:endParaRPr sz="1100">
                        <a:latin typeface="Calibri" panose="020F0502020204030204"/>
                        <a:cs typeface="Calibri" panose="020F0502020204030204"/>
                      </a:endParaRPr>
                    </a:p>
                  </a:txBody>
                  <a:tcPr marL="0" marR="0" marT="0" marB="0">
                    <a:lnT w="6350">
                      <a:solidFill>
                        <a:srgbClr val="000000"/>
                      </a:solidFill>
                      <a:prstDash val="solid"/>
                    </a:lnT>
                    <a:lnB w="6350">
                      <a:solidFill>
                        <a:srgbClr val="000000"/>
                      </a:solidFill>
                      <a:prstDash val="solid"/>
                    </a:lnB>
                  </a:tcPr>
                </a:tc>
                <a:tc>
                  <a:txBody>
                    <a:bodyPr/>
                    <a:lstStyle/>
                    <a:p>
                      <a:pPr marL="27940" algn="ctr">
                        <a:lnSpc>
                          <a:spcPts val="1190"/>
                        </a:lnSpc>
                      </a:pPr>
                      <a:r>
                        <a:rPr sz="1100" spc="5" dirty="0">
                          <a:solidFill>
                            <a:srgbClr val="0000FF"/>
                          </a:solidFill>
                          <a:latin typeface="Calibri" panose="020F0502020204030204"/>
                          <a:cs typeface="Calibri" panose="020F0502020204030204"/>
                        </a:rPr>
                        <a:t>edu</a:t>
                      </a:r>
                      <a:endParaRPr sz="1100">
                        <a:latin typeface="Calibri" panose="020F0502020204030204"/>
                        <a:cs typeface="Calibri" panose="020F0502020204030204"/>
                      </a:endParaRPr>
                    </a:p>
                  </a:txBody>
                  <a:tcPr marL="0" marR="0" marT="0" marB="0">
                    <a:lnT w="6350">
                      <a:solidFill>
                        <a:srgbClr val="000000"/>
                      </a:solidFill>
                      <a:prstDash val="solid"/>
                    </a:lnT>
                    <a:lnB w="6350">
                      <a:solidFill>
                        <a:srgbClr val="000000"/>
                      </a:solidFill>
                      <a:prstDash val="solid"/>
                    </a:lnB>
                  </a:tcPr>
                </a:tc>
                <a:tc>
                  <a:txBody>
                    <a:bodyPr/>
                    <a:lstStyle/>
                    <a:p>
                      <a:pPr marR="67945" algn="r">
                        <a:lnSpc>
                          <a:spcPts val="1190"/>
                        </a:lnSpc>
                      </a:pPr>
                      <a:r>
                        <a:rPr sz="1100" dirty="0">
                          <a:solidFill>
                            <a:srgbClr val="0000FF"/>
                          </a:solidFill>
                          <a:latin typeface="Calibri" panose="020F0502020204030204"/>
                          <a:cs typeface="Calibri" panose="020F0502020204030204"/>
                        </a:rPr>
                        <a:t>remove</a:t>
                      </a:r>
                      <a:endParaRPr sz="1100">
                        <a:latin typeface="Calibri" panose="020F0502020204030204"/>
                        <a:cs typeface="Calibri" panose="020F0502020204030204"/>
                      </a:endParaRPr>
                    </a:p>
                  </a:txBody>
                  <a:tcPr marL="0" marR="0" marT="0" marB="0">
                    <a:lnT w="6350">
                      <a:solidFill>
                        <a:srgbClr val="000000"/>
                      </a:solidFill>
                      <a:prstDash val="solid"/>
                    </a:lnT>
                    <a:lnB w="6350">
                      <a:solidFill>
                        <a:srgbClr val="000000"/>
                      </a:solidFill>
                      <a:prstDash val="solid"/>
                    </a:lnB>
                  </a:tcPr>
                </a:tc>
                <a:extLst>
                  <a:ext uri="{0D108BD9-81ED-4DB2-BD59-A6C34878D82A}">
                    <a16:rowId xmlns="" xmlns:a16="http://schemas.microsoft.com/office/drawing/2014/main" val="10000"/>
                  </a:ext>
                </a:extLst>
              </a:tr>
              <a:tr h="174442">
                <a:tc>
                  <a:txBody>
                    <a:bodyPr/>
                    <a:lstStyle/>
                    <a:p>
                      <a:pPr marL="75565">
                        <a:lnSpc>
                          <a:spcPts val="1190"/>
                        </a:lnSpc>
                      </a:pPr>
                      <a:r>
                        <a:rPr sz="1100" spc="-35" dirty="0">
                          <a:solidFill>
                            <a:srgbClr val="0000FF"/>
                          </a:solidFill>
                          <a:latin typeface="Calibri" panose="020F0502020204030204"/>
                          <a:cs typeface="Calibri" panose="020F0502020204030204"/>
                        </a:rPr>
                        <a:t>spam</a:t>
                      </a:r>
                      <a:endParaRPr sz="1100">
                        <a:latin typeface="Calibri" panose="020F0502020204030204"/>
                        <a:cs typeface="Calibri" panose="020F0502020204030204"/>
                      </a:endParaRPr>
                    </a:p>
                  </a:txBody>
                  <a:tcPr marL="0" marR="0" marT="0" marB="0">
                    <a:lnR w="6350">
                      <a:solidFill>
                        <a:srgbClr val="000000"/>
                      </a:solidFill>
                      <a:prstDash val="solid"/>
                    </a:lnR>
                    <a:lnT w="6350">
                      <a:solidFill>
                        <a:srgbClr val="000000"/>
                      </a:solidFill>
                      <a:prstDash val="solid"/>
                    </a:lnT>
                  </a:tcPr>
                </a:tc>
                <a:tc>
                  <a:txBody>
                    <a:bodyPr/>
                    <a:lstStyle/>
                    <a:p>
                      <a:pPr marR="67945" algn="r">
                        <a:lnSpc>
                          <a:spcPts val="1190"/>
                        </a:lnSpc>
                      </a:pPr>
                      <a:r>
                        <a:rPr sz="1100" spc="-5" dirty="0">
                          <a:latin typeface="Calibri" panose="020F0502020204030204"/>
                          <a:cs typeface="Calibri" panose="020F0502020204030204"/>
                        </a:rPr>
                        <a:t>0.00</a:t>
                      </a:r>
                      <a:endParaRPr sz="1100">
                        <a:latin typeface="Calibri" panose="020F0502020204030204"/>
                        <a:cs typeface="Calibri" panose="020F0502020204030204"/>
                      </a:endParaRPr>
                    </a:p>
                  </a:txBody>
                  <a:tcPr marL="0" marR="0" marT="0" marB="0">
                    <a:lnL w="6350">
                      <a:solidFill>
                        <a:srgbClr val="000000"/>
                      </a:solidFill>
                      <a:prstDash val="solid"/>
                    </a:lnL>
                    <a:lnT w="6350">
                      <a:solidFill>
                        <a:srgbClr val="000000"/>
                      </a:solidFill>
                      <a:prstDash val="solid"/>
                    </a:lnT>
                  </a:tcPr>
                </a:tc>
                <a:tc>
                  <a:txBody>
                    <a:bodyPr/>
                    <a:lstStyle/>
                    <a:p>
                      <a:pPr marR="67945" algn="r">
                        <a:lnSpc>
                          <a:spcPts val="1190"/>
                        </a:lnSpc>
                      </a:pPr>
                      <a:r>
                        <a:rPr sz="1100" spc="-5" dirty="0">
                          <a:latin typeface="Calibri" panose="020F0502020204030204"/>
                          <a:cs typeface="Calibri" panose="020F0502020204030204"/>
                        </a:rPr>
                        <a:t>2.26</a:t>
                      </a:r>
                      <a:endParaRPr sz="1100">
                        <a:latin typeface="Calibri" panose="020F0502020204030204"/>
                        <a:cs typeface="Calibri" panose="020F0502020204030204"/>
                      </a:endParaRPr>
                    </a:p>
                  </a:txBody>
                  <a:tcPr marL="0" marR="0" marT="0" marB="0">
                    <a:lnT w="6350">
                      <a:solidFill>
                        <a:srgbClr val="000000"/>
                      </a:solidFill>
                      <a:prstDash val="solid"/>
                    </a:lnT>
                  </a:tcPr>
                </a:tc>
                <a:tc>
                  <a:txBody>
                    <a:bodyPr/>
                    <a:lstStyle/>
                    <a:p>
                      <a:pPr marR="67945" algn="r">
                        <a:lnSpc>
                          <a:spcPts val="1190"/>
                        </a:lnSpc>
                      </a:pPr>
                      <a:r>
                        <a:rPr sz="1100" spc="-5" dirty="0">
                          <a:latin typeface="Calibri" panose="020F0502020204030204"/>
                          <a:cs typeface="Calibri" panose="020F0502020204030204"/>
                        </a:rPr>
                        <a:t>0.02</a:t>
                      </a:r>
                      <a:endParaRPr sz="1100">
                        <a:latin typeface="Calibri" panose="020F0502020204030204"/>
                        <a:cs typeface="Calibri" panose="020F0502020204030204"/>
                      </a:endParaRPr>
                    </a:p>
                  </a:txBody>
                  <a:tcPr marL="0" marR="0" marT="0" marB="0">
                    <a:lnT w="6350">
                      <a:solidFill>
                        <a:srgbClr val="000000"/>
                      </a:solidFill>
                      <a:prstDash val="solid"/>
                    </a:lnT>
                  </a:tcPr>
                </a:tc>
                <a:tc>
                  <a:txBody>
                    <a:bodyPr/>
                    <a:lstStyle/>
                    <a:p>
                      <a:pPr marL="43815" algn="ctr">
                        <a:lnSpc>
                          <a:spcPts val="1190"/>
                        </a:lnSpc>
                      </a:pPr>
                      <a:r>
                        <a:rPr sz="1100" spc="-5" dirty="0">
                          <a:latin typeface="Calibri" panose="020F0502020204030204"/>
                          <a:cs typeface="Calibri" panose="020F0502020204030204"/>
                        </a:rPr>
                        <a:t>0.52</a:t>
                      </a:r>
                      <a:endParaRPr sz="1100">
                        <a:latin typeface="Calibri" panose="020F0502020204030204"/>
                        <a:cs typeface="Calibri" panose="020F0502020204030204"/>
                      </a:endParaRPr>
                    </a:p>
                  </a:txBody>
                  <a:tcPr marL="0" marR="0" marT="0" marB="0">
                    <a:lnT w="6350">
                      <a:solidFill>
                        <a:srgbClr val="000000"/>
                      </a:solidFill>
                      <a:prstDash val="solid"/>
                    </a:lnT>
                  </a:tcPr>
                </a:tc>
                <a:tc>
                  <a:txBody>
                    <a:bodyPr/>
                    <a:lstStyle/>
                    <a:p>
                      <a:pPr marR="67945" algn="r">
                        <a:lnSpc>
                          <a:spcPts val="1190"/>
                        </a:lnSpc>
                      </a:pPr>
                      <a:r>
                        <a:rPr sz="1100" spc="-5" dirty="0">
                          <a:latin typeface="Calibri" panose="020F0502020204030204"/>
                          <a:cs typeface="Calibri" panose="020F0502020204030204"/>
                        </a:rPr>
                        <a:t>0.51</a:t>
                      </a:r>
                      <a:endParaRPr sz="1100">
                        <a:latin typeface="Calibri" panose="020F0502020204030204"/>
                        <a:cs typeface="Calibri" panose="020F0502020204030204"/>
                      </a:endParaRPr>
                    </a:p>
                  </a:txBody>
                  <a:tcPr marL="0" marR="0" marT="0" marB="0">
                    <a:lnT w="6350">
                      <a:solidFill>
                        <a:srgbClr val="000000"/>
                      </a:solidFill>
                      <a:prstDash val="solid"/>
                    </a:lnT>
                  </a:tcPr>
                </a:tc>
                <a:tc>
                  <a:txBody>
                    <a:bodyPr/>
                    <a:lstStyle/>
                    <a:p>
                      <a:pPr algn="ctr">
                        <a:lnSpc>
                          <a:spcPts val="1190"/>
                        </a:lnSpc>
                      </a:pPr>
                      <a:r>
                        <a:rPr sz="1100" spc="-5" dirty="0">
                          <a:latin typeface="Calibri" panose="020F0502020204030204"/>
                          <a:cs typeface="Calibri" panose="020F0502020204030204"/>
                        </a:rPr>
                        <a:t>0.01</a:t>
                      </a:r>
                      <a:endParaRPr sz="1100">
                        <a:latin typeface="Calibri" panose="020F0502020204030204"/>
                        <a:cs typeface="Calibri" panose="020F0502020204030204"/>
                      </a:endParaRPr>
                    </a:p>
                  </a:txBody>
                  <a:tcPr marL="0" marR="0" marT="0" marB="0">
                    <a:lnT w="6350">
                      <a:solidFill>
                        <a:srgbClr val="000000"/>
                      </a:solidFill>
                      <a:prstDash val="solid"/>
                    </a:lnT>
                  </a:tcPr>
                </a:tc>
                <a:tc>
                  <a:txBody>
                    <a:bodyPr/>
                    <a:lstStyle/>
                    <a:p>
                      <a:pPr marR="68580" algn="r">
                        <a:lnSpc>
                          <a:spcPts val="1190"/>
                        </a:lnSpc>
                      </a:pPr>
                      <a:r>
                        <a:rPr sz="1100" spc="-5" dirty="0">
                          <a:latin typeface="Calibri" panose="020F0502020204030204"/>
                          <a:cs typeface="Calibri" panose="020F0502020204030204"/>
                        </a:rPr>
                        <a:t>0.28</a:t>
                      </a:r>
                      <a:endParaRPr sz="1100">
                        <a:latin typeface="Calibri" panose="020F0502020204030204"/>
                        <a:cs typeface="Calibri" panose="020F0502020204030204"/>
                      </a:endParaRPr>
                    </a:p>
                  </a:txBody>
                  <a:tcPr marL="0" marR="0" marT="0" marB="0">
                    <a:lnT w="6350">
                      <a:solidFill>
                        <a:srgbClr val="000000"/>
                      </a:solidFill>
                      <a:prstDash val="solid"/>
                    </a:lnT>
                  </a:tcPr>
                </a:tc>
                <a:extLst>
                  <a:ext uri="{0D108BD9-81ED-4DB2-BD59-A6C34878D82A}">
                    <a16:rowId xmlns="" xmlns:a16="http://schemas.microsoft.com/office/drawing/2014/main" val="10001"/>
                  </a:ext>
                </a:extLst>
              </a:tr>
              <a:tr h="174769">
                <a:tc>
                  <a:txBody>
                    <a:bodyPr/>
                    <a:lstStyle/>
                    <a:p>
                      <a:pPr marL="75565">
                        <a:lnSpc>
                          <a:spcPts val="1170"/>
                        </a:lnSpc>
                      </a:pPr>
                      <a:r>
                        <a:rPr sz="1100" spc="80" dirty="0">
                          <a:solidFill>
                            <a:srgbClr val="0000FF"/>
                          </a:solidFill>
                          <a:latin typeface="Calibri" panose="020F0502020204030204"/>
                          <a:cs typeface="Calibri" panose="020F0502020204030204"/>
                        </a:rPr>
                        <a:t>email</a:t>
                      </a:r>
                      <a:endParaRPr sz="1100">
                        <a:latin typeface="Calibri" panose="020F0502020204030204"/>
                        <a:cs typeface="Calibri" panose="020F0502020204030204"/>
                      </a:endParaRPr>
                    </a:p>
                  </a:txBody>
                  <a:tcPr marL="0" marR="0" marT="0" marB="0">
                    <a:lnR w="6350">
                      <a:solidFill>
                        <a:srgbClr val="000000"/>
                      </a:solidFill>
                      <a:prstDash val="solid"/>
                    </a:lnR>
                    <a:lnB w="6350">
                      <a:solidFill>
                        <a:srgbClr val="000000"/>
                      </a:solidFill>
                      <a:prstDash val="solid"/>
                    </a:lnB>
                  </a:tcPr>
                </a:tc>
                <a:tc>
                  <a:txBody>
                    <a:bodyPr/>
                    <a:lstStyle/>
                    <a:p>
                      <a:pPr marR="67945" algn="r">
                        <a:lnSpc>
                          <a:spcPts val="1170"/>
                        </a:lnSpc>
                      </a:pPr>
                      <a:r>
                        <a:rPr sz="1100" spc="-5" dirty="0">
                          <a:latin typeface="Calibri" panose="020F0502020204030204"/>
                          <a:cs typeface="Calibri" panose="020F0502020204030204"/>
                        </a:rPr>
                        <a:t>1.27</a:t>
                      </a:r>
                      <a:endParaRPr sz="1100">
                        <a:latin typeface="Calibri" panose="020F0502020204030204"/>
                        <a:cs typeface="Calibri" panose="020F0502020204030204"/>
                      </a:endParaRPr>
                    </a:p>
                  </a:txBody>
                  <a:tcPr marL="0" marR="0" marT="0" marB="0">
                    <a:lnL w="6350">
                      <a:solidFill>
                        <a:srgbClr val="000000"/>
                      </a:solidFill>
                      <a:prstDash val="solid"/>
                    </a:lnL>
                    <a:lnB w="6350">
                      <a:solidFill>
                        <a:srgbClr val="000000"/>
                      </a:solidFill>
                      <a:prstDash val="solid"/>
                    </a:lnB>
                  </a:tcPr>
                </a:tc>
                <a:tc>
                  <a:txBody>
                    <a:bodyPr/>
                    <a:lstStyle/>
                    <a:p>
                      <a:pPr marR="67945" algn="r">
                        <a:lnSpc>
                          <a:spcPts val="1170"/>
                        </a:lnSpc>
                      </a:pPr>
                      <a:r>
                        <a:rPr sz="1100" spc="-5" dirty="0">
                          <a:latin typeface="Calibri" panose="020F0502020204030204"/>
                          <a:cs typeface="Calibri" panose="020F0502020204030204"/>
                        </a:rPr>
                        <a:t>1.27</a:t>
                      </a:r>
                      <a:endParaRPr sz="1100">
                        <a:latin typeface="Calibri" panose="020F0502020204030204"/>
                        <a:cs typeface="Calibri" panose="020F0502020204030204"/>
                      </a:endParaRPr>
                    </a:p>
                  </a:txBody>
                  <a:tcPr marL="0" marR="0" marT="0" marB="0">
                    <a:lnB w="6350">
                      <a:solidFill>
                        <a:srgbClr val="000000"/>
                      </a:solidFill>
                      <a:prstDash val="solid"/>
                    </a:lnB>
                  </a:tcPr>
                </a:tc>
                <a:tc>
                  <a:txBody>
                    <a:bodyPr/>
                    <a:lstStyle/>
                    <a:p>
                      <a:pPr marR="67945" algn="r">
                        <a:lnSpc>
                          <a:spcPts val="1170"/>
                        </a:lnSpc>
                      </a:pPr>
                      <a:r>
                        <a:rPr sz="1100" spc="-5" dirty="0">
                          <a:latin typeface="Calibri" panose="020F0502020204030204"/>
                          <a:cs typeface="Calibri" panose="020F0502020204030204"/>
                        </a:rPr>
                        <a:t>0.90</a:t>
                      </a:r>
                      <a:endParaRPr sz="1100">
                        <a:latin typeface="Calibri" panose="020F0502020204030204"/>
                        <a:cs typeface="Calibri" panose="020F0502020204030204"/>
                      </a:endParaRPr>
                    </a:p>
                  </a:txBody>
                  <a:tcPr marL="0" marR="0" marT="0" marB="0">
                    <a:lnB w="6350">
                      <a:solidFill>
                        <a:srgbClr val="000000"/>
                      </a:solidFill>
                      <a:prstDash val="solid"/>
                    </a:lnB>
                  </a:tcPr>
                </a:tc>
                <a:tc>
                  <a:txBody>
                    <a:bodyPr/>
                    <a:lstStyle/>
                    <a:p>
                      <a:pPr marL="43815" algn="ctr">
                        <a:lnSpc>
                          <a:spcPts val="1170"/>
                        </a:lnSpc>
                      </a:pPr>
                      <a:r>
                        <a:rPr sz="1100" spc="-5" dirty="0">
                          <a:latin typeface="Calibri" panose="020F0502020204030204"/>
                          <a:cs typeface="Calibri" panose="020F0502020204030204"/>
                        </a:rPr>
                        <a:t>0.07</a:t>
                      </a:r>
                      <a:endParaRPr sz="1100">
                        <a:latin typeface="Calibri" panose="020F0502020204030204"/>
                        <a:cs typeface="Calibri" panose="020F0502020204030204"/>
                      </a:endParaRPr>
                    </a:p>
                  </a:txBody>
                  <a:tcPr marL="0" marR="0" marT="0" marB="0">
                    <a:lnB w="6350">
                      <a:solidFill>
                        <a:srgbClr val="000000"/>
                      </a:solidFill>
                      <a:prstDash val="solid"/>
                    </a:lnB>
                  </a:tcPr>
                </a:tc>
                <a:tc>
                  <a:txBody>
                    <a:bodyPr/>
                    <a:lstStyle/>
                    <a:p>
                      <a:pPr marR="67945" algn="r">
                        <a:lnSpc>
                          <a:spcPts val="1170"/>
                        </a:lnSpc>
                      </a:pPr>
                      <a:r>
                        <a:rPr sz="1100" spc="-5" dirty="0">
                          <a:latin typeface="Calibri" panose="020F0502020204030204"/>
                          <a:cs typeface="Calibri" panose="020F0502020204030204"/>
                        </a:rPr>
                        <a:t>0.11</a:t>
                      </a:r>
                      <a:endParaRPr sz="1100">
                        <a:latin typeface="Calibri" panose="020F0502020204030204"/>
                        <a:cs typeface="Calibri" panose="020F0502020204030204"/>
                      </a:endParaRPr>
                    </a:p>
                  </a:txBody>
                  <a:tcPr marL="0" marR="0" marT="0" marB="0">
                    <a:lnB w="6350">
                      <a:solidFill>
                        <a:srgbClr val="000000"/>
                      </a:solidFill>
                      <a:prstDash val="solid"/>
                    </a:lnB>
                  </a:tcPr>
                </a:tc>
                <a:tc>
                  <a:txBody>
                    <a:bodyPr/>
                    <a:lstStyle/>
                    <a:p>
                      <a:pPr algn="ctr">
                        <a:lnSpc>
                          <a:spcPts val="1170"/>
                        </a:lnSpc>
                      </a:pPr>
                      <a:r>
                        <a:rPr sz="1100" spc="-5" dirty="0">
                          <a:latin typeface="Calibri" panose="020F0502020204030204"/>
                          <a:cs typeface="Calibri" panose="020F0502020204030204"/>
                        </a:rPr>
                        <a:t>0.29</a:t>
                      </a:r>
                      <a:endParaRPr sz="1100">
                        <a:latin typeface="Calibri" panose="020F0502020204030204"/>
                        <a:cs typeface="Calibri" panose="020F0502020204030204"/>
                      </a:endParaRPr>
                    </a:p>
                  </a:txBody>
                  <a:tcPr marL="0" marR="0" marT="0" marB="0">
                    <a:lnB w="6350">
                      <a:solidFill>
                        <a:srgbClr val="000000"/>
                      </a:solidFill>
                      <a:prstDash val="solid"/>
                    </a:lnB>
                  </a:tcPr>
                </a:tc>
                <a:tc>
                  <a:txBody>
                    <a:bodyPr/>
                    <a:lstStyle/>
                    <a:p>
                      <a:pPr marR="68580" algn="r">
                        <a:lnSpc>
                          <a:spcPts val="1170"/>
                        </a:lnSpc>
                      </a:pPr>
                      <a:r>
                        <a:rPr sz="1100" spc="-5" dirty="0">
                          <a:latin typeface="Calibri" panose="020F0502020204030204"/>
                          <a:cs typeface="Calibri" panose="020F0502020204030204"/>
                        </a:rPr>
                        <a:t>0.01</a:t>
                      </a:r>
                      <a:endParaRPr sz="1100" dirty="0">
                        <a:latin typeface="Calibri" panose="020F0502020204030204"/>
                        <a:cs typeface="Calibri" panose="020F0502020204030204"/>
                      </a:endParaRPr>
                    </a:p>
                  </a:txBody>
                  <a:tcPr marL="0" marR="0" marT="0" marB="0">
                    <a:lnB w="6350">
                      <a:solidFill>
                        <a:srgbClr val="000000"/>
                      </a:solidFill>
                      <a:prstDash val="solid"/>
                    </a:lnB>
                  </a:tcPr>
                </a:tc>
                <a:extLst>
                  <a:ext uri="{0D108BD9-81ED-4DB2-BD59-A6C34878D82A}">
                    <a16:rowId xmlns="" xmlns:a16="http://schemas.microsoft.com/office/drawing/2014/main" val="10002"/>
                  </a:ext>
                </a:extLst>
              </a:tr>
            </a:tbl>
          </a:graphicData>
        </a:graphic>
      </p:graphicFrame>
      <p:sp>
        <p:nvSpPr>
          <p:cNvPr id="5" name="object 5">
            <a:extLst>
              <a:ext uri="{FF2B5EF4-FFF2-40B4-BE49-F238E27FC236}">
                <a16:creationId xmlns="" xmlns:a16="http://schemas.microsoft.com/office/drawing/2014/main" id="{0D6EA98D-172C-024C-DFAC-B2AE3F26CBE6}"/>
              </a:ext>
            </a:extLst>
          </p:cNvPr>
          <p:cNvSpPr txBox="1"/>
          <p:nvPr/>
        </p:nvSpPr>
        <p:spPr>
          <a:xfrm>
            <a:off x="372150" y="2681550"/>
            <a:ext cx="3840479" cy="534505"/>
          </a:xfrm>
          <a:prstGeom prst="rect">
            <a:avLst/>
          </a:prstGeom>
        </p:spPr>
        <p:txBody>
          <a:bodyPr vert="horz" wrap="square" lIns="0" tIns="12700" rIns="0" bIns="0" rtlCol="0">
            <a:spAutoFit/>
          </a:bodyPr>
          <a:lstStyle/>
          <a:p>
            <a:pPr marL="12700" marR="5080">
              <a:lnSpc>
                <a:spcPct val="113000"/>
              </a:lnSpc>
              <a:spcBef>
                <a:spcPts val="100"/>
              </a:spcBef>
            </a:pPr>
            <a:r>
              <a:rPr lang="zh-CN" altLang="en-US" sz="1000" i="1" spc="10" dirty="0">
                <a:solidFill>
                  <a:srgbClr val="004098"/>
                </a:solidFill>
                <a:latin typeface="Calibri" panose="020F0502020204030204"/>
                <a:cs typeface="Calibri" panose="020F0502020204030204"/>
              </a:rPr>
              <a:t>在一个邮件中的单词或者字符串的平均百分比 等价于 单词和字符串的频率。我们</a:t>
            </a:r>
            <a:r>
              <a:rPr lang="zh-CN" altLang="en-US" sz="1000" i="1" spc="10" dirty="0">
                <a:solidFill>
                  <a:srgbClr val="004098"/>
                </a:solidFill>
                <a:cs typeface="Calibri" panose="020F0502020204030204"/>
              </a:rPr>
              <a:t>选择能够体现正常</a:t>
            </a:r>
            <a:r>
              <a:rPr lang="zh-CN" altLang="en-US" sz="1000" i="1" spc="10" dirty="0">
                <a:solidFill>
                  <a:srgbClr val="004098"/>
                </a:solidFill>
                <a:latin typeface="Calibri" panose="020F0502020204030204"/>
                <a:cs typeface="Calibri" panose="020F0502020204030204"/>
              </a:rPr>
              <a:t>邮件和垃圾邮件之间最大差别的单词和字符串来作为特征。</a:t>
            </a:r>
            <a:endParaRPr sz="1000" dirty="0">
              <a:solidFill>
                <a:srgbClr val="004098"/>
              </a:solidFill>
              <a:latin typeface="Calibri" panose="020F0502020204030204"/>
              <a:cs typeface="Calibri" panose="020F0502020204030204"/>
            </a:endParaRPr>
          </a:p>
        </p:txBody>
      </p:sp>
      <p:sp>
        <p:nvSpPr>
          <p:cNvPr id="9" name="原创设计师QQ598969553      _2">
            <a:extLst>
              <a:ext uri="{FF2B5EF4-FFF2-40B4-BE49-F238E27FC236}">
                <a16:creationId xmlns="" xmlns:a16="http://schemas.microsoft.com/office/drawing/2014/main" id="{7588C702-151E-63BF-1F8B-273E2EF01FE8}"/>
              </a:ext>
            </a:extLst>
          </p:cNvPr>
          <p:cNvSpPr txBox="1"/>
          <p:nvPr/>
        </p:nvSpPr>
        <p:spPr>
          <a:xfrm>
            <a:off x="543649" y="594069"/>
            <a:ext cx="2267573" cy="204379"/>
          </a:xfrm>
          <a:prstGeom prst="rect">
            <a:avLst/>
          </a:prstGeom>
          <a:noFill/>
        </p:spPr>
        <p:txBody>
          <a:bodyPr wrap="square" lIns="34762" tIns="17381" rIns="34762" bIns="17381" rtlCol="0">
            <a:spAutoFit/>
          </a:bodyPr>
          <a:lstStyle/>
          <a:p>
            <a:r>
              <a:rPr lang="zh-CN" altLang="en-US" sz="1100" b="1" dirty="0">
                <a:latin typeface="微软雅黑" panose="020B0503020204020204" pitchFamily="34" charset="-122"/>
                <a:ea typeface="微软雅黑" panose="020B0503020204020204" pitchFamily="34" charset="-122"/>
              </a:rPr>
              <a:t>垃圾邮件检测</a:t>
            </a:r>
            <a:endParaRPr sz="1100" b="1" dirty="0">
              <a:latin typeface="微软雅黑" panose="020B0503020204020204" pitchFamily="34" charset="-122"/>
              <a:ea typeface="微软雅黑" panose="020B0503020204020204" pitchFamily="34" charset="-122"/>
            </a:endParaRPr>
          </a:p>
        </p:txBody>
      </p:sp>
      <p:sp>
        <p:nvSpPr>
          <p:cNvPr id="10" name="原创设计师QQ598969553      _2">
            <a:extLst>
              <a:ext uri="{FF2B5EF4-FFF2-40B4-BE49-F238E27FC236}">
                <a16:creationId xmlns="" xmlns:a16="http://schemas.microsoft.com/office/drawing/2014/main" id="{BD78BC5E-98D7-2FC7-2E8D-96324F85AB9B}"/>
              </a:ext>
            </a:extLst>
          </p:cNvPr>
          <p:cNvSpPr txBox="1"/>
          <p:nvPr/>
        </p:nvSpPr>
        <p:spPr>
          <a:xfrm>
            <a:off x="570876" y="194245"/>
            <a:ext cx="2343774" cy="204379"/>
          </a:xfrm>
          <a:prstGeom prst="rect">
            <a:avLst/>
          </a:prstGeom>
          <a:noFill/>
        </p:spPr>
        <p:txBody>
          <a:bodyPr wrap="square" lIns="34762" tIns="17381" rIns="34762" bIns="17381" rtlCol="0">
            <a:spAutoFit/>
          </a:bodyPr>
          <a:lstStyle/>
          <a:p>
            <a:r>
              <a:rPr lang="zh-CN" altLang="en-US" sz="1100" b="1" dirty="0">
                <a:latin typeface="微软雅黑" panose="020B0503020204020204" pitchFamily="34" charset="-122"/>
                <a:ea typeface="微软雅黑" panose="020B0503020204020204" pitchFamily="34" charset="-122"/>
              </a:rPr>
              <a:t>统计学习可以解决的一些代表性问题</a:t>
            </a:r>
            <a:endParaRPr sz="11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29980122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8" name="原创设计师QQ598969553      _9">
            <a:extLst>
              <a:ext uri="{FF2B5EF4-FFF2-40B4-BE49-F238E27FC236}">
                <a16:creationId xmlns="" xmlns:a16="http://schemas.microsoft.com/office/drawing/2014/main" id="{EC33079E-1247-70DE-8763-3ACDD65E706D}"/>
              </a:ext>
            </a:extLst>
          </p:cNvPr>
          <p:cNvGrpSpPr/>
          <p:nvPr/>
        </p:nvGrpSpPr>
        <p:grpSpPr>
          <a:xfrm>
            <a:off x="188162" y="153558"/>
            <a:ext cx="304678" cy="243737"/>
            <a:chOff x="4268207" y="2118116"/>
            <a:chExt cx="2653566" cy="2214138"/>
          </a:xfrm>
        </p:grpSpPr>
        <p:grpSp>
          <p:nvGrpSpPr>
            <p:cNvPr id="69" name="组合 68">
              <a:extLst>
                <a:ext uri="{FF2B5EF4-FFF2-40B4-BE49-F238E27FC236}">
                  <a16:creationId xmlns="" xmlns:a16="http://schemas.microsoft.com/office/drawing/2014/main" id="{3866FBD5-A960-6794-8BA4-9DBBA9FC3AA3}"/>
                </a:ext>
              </a:extLst>
            </p:cNvPr>
            <p:cNvGrpSpPr/>
            <p:nvPr/>
          </p:nvGrpSpPr>
          <p:grpSpPr>
            <a:xfrm>
              <a:off x="4508674" y="2118116"/>
              <a:ext cx="2204282" cy="2204282"/>
              <a:chOff x="1517331" y="1125257"/>
              <a:chExt cx="2204282" cy="2204282"/>
            </a:xfrm>
          </p:grpSpPr>
          <p:sp>
            <p:nvSpPr>
              <p:cNvPr id="71" name="椭圆 70">
                <a:extLst>
                  <a:ext uri="{FF2B5EF4-FFF2-40B4-BE49-F238E27FC236}">
                    <a16:creationId xmlns="" xmlns:a16="http://schemas.microsoft.com/office/drawing/2014/main" id="{68A1054A-58A0-C11B-68D9-FA23D2B35325}"/>
                  </a:ext>
                </a:extLst>
              </p:cNvPr>
              <p:cNvSpPr/>
              <p:nvPr/>
            </p:nvSpPr>
            <p:spPr>
              <a:xfrm>
                <a:off x="1517331" y="1125257"/>
                <a:ext cx="2204282" cy="2204282"/>
              </a:xfrm>
              <a:prstGeom prst="ellipse">
                <a:avLst/>
              </a:prstGeom>
              <a:gradFill>
                <a:gsLst>
                  <a:gs pos="0">
                    <a:srgbClr val="EBEBEB"/>
                  </a:gs>
                  <a:gs pos="100000">
                    <a:srgbClr val="FEFEFE"/>
                  </a:gs>
                </a:gsLst>
                <a:lin ang="7530000" scaled="0"/>
              </a:gradFill>
              <a:ln w="12700">
                <a:solidFill>
                  <a:schemeClr val="bg1"/>
                </a:solidFill>
              </a:ln>
              <a:effectLst>
                <a:outerShdw blurRad="457200" dist="444500" dir="7800000" sx="89000" sy="89000" algn="tr" rotWithShape="0">
                  <a:prstClr val="black">
                    <a:alpha val="3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76">
                  <a:latin typeface="字体视界-NWE粗楷体" panose="02000500000000000000" pitchFamily="2" charset="-122"/>
                  <a:ea typeface="字体视界-NWE粗楷体" panose="02000500000000000000" pitchFamily="2" charset="-122"/>
                </a:endParaRPr>
              </a:p>
            </p:txBody>
          </p:sp>
          <p:sp>
            <p:nvSpPr>
              <p:cNvPr id="72" name="椭圆 71">
                <a:extLst>
                  <a:ext uri="{FF2B5EF4-FFF2-40B4-BE49-F238E27FC236}">
                    <a16:creationId xmlns="" xmlns:a16="http://schemas.microsoft.com/office/drawing/2014/main" id="{BFBCAB49-6A8C-B2B3-35ED-D6BBBED5CF8B}"/>
                  </a:ext>
                </a:extLst>
              </p:cNvPr>
              <p:cNvSpPr/>
              <p:nvPr/>
            </p:nvSpPr>
            <p:spPr>
              <a:xfrm>
                <a:off x="1719371" y="1344751"/>
                <a:ext cx="1800198" cy="1800200"/>
              </a:xfrm>
              <a:prstGeom prst="ellipse">
                <a:avLst/>
              </a:prstGeom>
              <a:solidFill>
                <a:srgbClr val="004098"/>
              </a:solidFill>
              <a:ln>
                <a:noFill/>
              </a:ln>
              <a:effectLst>
                <a:innerShdw blurRad="101600" dist="50800" dir="18900000">
                  <a:prstClr val="black">
                    <a:alpha val="43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76">
                  <a:latin typeface="字体视界-NWE粗楷体" panose="02000500000000000000" pitchFamily="2" charset="-122"/>
                  <a:ea typeface="字体视界-NWE粗楷体" panose="02000500000000000000" pitchFamily="2" charset="-122"/>
                </a:endParaRPr>
              </a:p>
            </p:txBody>
          </p:sp>
        </p:grpSp>
        <p:sp>
          <p:nvSpPr>
            <p:cNvPr id="70" name="TextBox 80">
              <a:extLst>
                <a:ext uri="{FF2B5EF4-FFF2-40B4-BE49-F238E27FC236}">
                  <a16:creationId xmlns="" xmlns:a16="http://schemas.microsoft.com/office/drawing/2014/main" id="{7A547AF7-EE79-5DEF-44B1-CF755100FDCC}"/>
                </a:ext>
              </a:extLst>
            </p:cNvPr>
            <p:cNvSpPr txBox="1"/>
            <p:nvPr/>
          </p:nvSpPr>
          <p:spPr>
            <a:xfrm>
              <a:off x="4268207" y="2408917"/>
              <a:ext cx="2653566" cy="1923337"/>
            </a:xfrm>
            <a:prstGeom prst="rect">
              <a:avLst/>
            </a:prstGeom>
            <a:noFill/>
          </p:spPr>
          <p:txBody>
            <a:bodyPr wrap="square" rtlCol="0">
              <a:spAutoFit/>
            </a:bodyPr>
            <a:lstStyle/>
            <a:p>
              <a:r>
                <a:rPr lang="en-US" altLang="zh-CN" sz="776" dirty="0">
                  <a:solidFill>
                    <a:schemeClr val="bg1"/>
                  </a:solidFill>
                  <a:latin typeface="字体视界-NWE粗楷体" panose="02000500000000000000" pitchFamily="2" charset="-122"/>
                  <a:ea typeface="字体视界-NWE粗楷体" panose="02000500000000000000" pitchFamily="2" charset="-122"/>
                </a:rPr>
                <a:t>01</a:t>
              </a:r>
            </a:p>
          </p:txBody>
        </p:sp>
      </p:grpSp>
      <p:sp>
        <p:nvSpPr>
          <p:cNvPr id="73" name="原创设计师QQ598969553      _12">
            <a:extLst>
              <a:ext uri="{FF2B5EF4-FFF2-40B4-BE49-F238E27FC236}">
                <a16:creationId xmlns="" xmlns:a16="http://schemas.microsoft.com/office/drawing/2014/main" id="{760473EF-0D78-F124-1B4B-A4A3255E7476}"/>
              </a:ext>
            </a:extLst>
          </p:cNvPr>
          <p:cNvSpPr>
            <a:spLocks noChangeShapeType="1"/>
          </p:cNvSpPr>
          <p:nvPr/>
        </p:nvSpPr>
        <p:spPr bwMode="auto">
          <a:xfrm flipH="1" flipV="1">
            <a:off x="543649" y="130604"/>
            <a:ext cx="0" cy="307269"/>
          </a:xfrm>
          <a:prstGeom prst="line">
            <a:avLst/>
          </a:prstGeom>
          <a:noFill/>
          <a:ln w="19050">
            <a:solidFill>
              <a:srgbClr val="004098"/>
            </a:solidFill>
            <a:prstDash val="dash"/>
            <a:round/>
          </a:ln>
          <a:extLst>
            <a:ext uri="{909E8E84-426E-40DD-AFC4-6F175D3DCCD1}">
              <a14:hiddenFill xmlns:a14="http://schemas.microsoft.com/office/drawing/2010/main">
                <a:noFill/>
              </a14:hiddenFill>
            </a:ext>
          </a:extLst>
        </p:spPr>
        <p:txBody>
          <a:bodyPr/>
          <a:lstStyle/>
          <a:p>
            <a:endParaRPr lang="zh-CN" altLang="en-US" sz="776" dirty="0"/>
          </a:p>
        </p:txBody>
      </p:sp>
      <p:sp>
        <p:nvSpPr>
          <p:cNvPr id="74" name="矩形: 圆角 18">
            <a:extLst>
              <a:ext uri="{FF2B5EF4-FFF2-40B4-BE49-F238E27FC236}">
                <a16:creationId xmlns="" xmlns:a16="http://schemas.microsoft.com/office/drawing/2014/main" id="{7C923056-96D1-FDBC-A663-A1F8635BC91E}"/>
              </a:ext>
            </a:extLst>
          </p:cNvPr>
          <p:cNvSpPr/>
          <p:nvPr/>
        </p:nvSpPr>
        <p:spPr>
          <a:xfrm flipV="1">
            <a:off x="140988" y="434975"/>
            <a:ext cx="2164062" cy="31919"/>
          </a:xfrm>
          <a:prstGeom prst="roundRect">
            <a:avLst>
              <a:gd name="adj" fmla="val 50000"/>
            </a:avLst>
          </a:prstGeom>
          <a:solidFill>
            <a:srgbClr val="0040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90">
              <a:solidFill>
                <a:srgbClr val="004098"/>
              </a:solidFill>
              <a:latin typeface="字体视界-NWE粗楷体" panose="02000500000000000000" pitchFamily="2" charset="-122"/>
              <a:ea typeface="字体视界-NWE粗楷体" panose="02000500000000000000" pitchFamily="2" charset="-122"/>
            </a:endParaRPr>
          </a:p>
        </p:txBody>
      </p:sp>
      <p:pic>
        <p:nvPicPr>
          <p:cNvPr id="3" name="图片 2">
            <a:extLst>
              <a:ext uri="{FF2B5EF4-FFF2-40B4-BE49-F238E27FC236}">
                <a16:creationId xmlns="" xmlns:a16="http://schemas.microsoft.com/office/drawing/2014/main" id="{A20E7DB5-C65E-618F-1EB1-740D93F357A5}"/>
              </a:ext>
            </a:extLst>
          </p:cNvPr>
          <p:cNvPicPr>
            <a:picLocks noChangeAspect="1"/>
          </p:cNvPicPr>
          <p:nvPr/>
        </p:nvPicPr>
        <p:blipFill>
          <a:blip r:embed="rId2"/>
          <a:stretch>
            <a:fillRect/>
          </a:stretch>
        </p:blipFill>
        <p:spPr>
          <a:xfrm>
            <a:off x="643182" y="815975"/>
            <a:ext cx="3323736" cy="2003387"/>
          </a:xfrm>
          <a:prstGeom prst="rect">
            <a:avLst/>
          </a:prstGeom>
        </p:spPr>
      </p:pic>
      <p:sp>
        <p:nvSpPr>
          <p:cNvPr id="6" name="原创设计师QQ598969553      _2">
            <a:extLst>
              <a:ext uri="{FF2B5EF4-FFF2-40B4-BE49-F238E27FC236}">
                <a16:creationId xmlns="" xmlns:a16="http://schemas.microsoft.com/office/drawing/2014/main" id="{51DE61D0-8DEF-1AB4-A51A-850E64DC87C3}"/>
              </a:ext>
            </a:extLst>
          </p:cNvPr>
          <p:cNvSpPr txBox="1"/>
          <p:nvPr/>
        </p:nvSpPr>
        <p:spPr>
          <a:xfrm>
            <a:off x="543649" y="539198"/>
            <a:ext cx="2267573" cy="204379"/>
          </a:xfrm>
          <a:prstGeom prst="rect">
            <a:avLst/>
          </a:prstGeom>
          <a:noFill/>
        </p:spPr>
        <p:txBody>
          <a:bodyPr wrap="square" lIns="34762" tIns="17381" rIns="34762" bIns="17381" rtlCol="0">
            <a:spAutoFit/>
          </a:bodyPr>
          <a:lstStyle/>
          <a:p>
            <a:r>
              <a:rPr lang="zh-CN" altLang="en-US" sz="1100" b="1" dirty="0">
                <a:latin typeface="微软雅黑" panose="020B0503020204020204" pitchFamily="34" charset="-122"/>
                <a:ea typeface="微软雅黑" panose="020B0503020204020204" pitchFamily="34" charset="-122"/>
              </a:rPr>
              <a:t>识别手写的邮政编码数字</a:t>
            </a:r>
          </a:p>
        </p:txBody>
      </p:sp>
      <p:sp>
        <p:nvSpPr>
          <p:cNvPr id="7" name="原创设计师QQ598969553      _2">
            <a:extLst>
              <a:ext uri="{FF2B5EF4-FFF2-40B4-BE49-F238E27FC236}">
                <a16:creationId xmlns="" xmlns:a16="http://schemas.microsoft.com/office/drawing/2014/main" id="{1A3041BA-ADFE-8512-756A-4691C6B5A1C4}"/>
              </a:ext>
            </a:extLst>
          </p:cNvPr>
          <p:cNvSpPr txBox="1"/>
          <p:nvPr/>
        </p:nvSpPr>
        <p:spPr>
          <a:xfrm>
            <a:off x="570876" y="194245"/>
            <a:ext cx="2343774" cy="204379"/>
          </a:xfrm>
          <a:prstGeom prst="rect">
            <a:avLst/>
          </a:prstGeom>
          <a:noFill/>
        </p:spPr>
        <p:txBody>
          <a:bodyPr wrap="square" lIns="34762" tIns="17381" rIns="34762" bIns="17381" rtlCol="0">
            <a:spAutoFit/>
          </a:bodyPr>
          <a:lstStyle/>
          <a:p>
            <a:r>
              <a:rPr lang="zh-CN" altLang="en-US" sz="1100" b="1" dirty="0">
                <a:latin typeface="微软雅黑" panose="020B0503020204020204" pitchFamily="34" charset="-122"/>
                <a:ea typeface="微软雅黑" panose="020B0503020204020204" pitchFamily="34" charset="-122"/>
              </a:rPr>
              <a:t>统计学习可以解决的一些代表性问题</a:t>
            </a:r>
            <a:endParaRPr sz="11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17404052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原创设计师QQ598969553      _2">
            <a:extLst>
              <a:ext uri="{FF2B5EF4-FFF2-40B4-BE49-F238E27FC236}">
                <a16:creationId xmlns="" xmlns:a16="http://schemas.microsoft.com/office/drawing/2014/main" id="{7C4725B1-D255-CC63-745B-0C08A542F8E6}"/>
              </a:ext>
            </a:extLst>
          </p:cNvPr>
          <p:cNvSpPr txBox="1"/>
          <p:nvPr/>
        </p:nvSpPr>
        <p:spPr>
          <a:xfrm>
            <a:off x="467594" y="594887"/>
            <a:ext cx="3717149" cy="204379"/>
          </a:xfrm>
          <a:prstGeom prst="rect">
            <a:avLst/>
          </a:prstGeom>
          <a:noFill/>
        </p:spPr>
        <p:txBody>
          <a:bodyPr wrap="square" lIns="34762" tIns="17381" rIns="34762" bIns="17381" rtlCol="0">
            <a:spAutoFit/>
          </a:bodyPr>
          <a:lstStyle/>
          <a:p>
            <a:r>
              <a:rPr lang="zh-CN" altLang="en-US" sz="1100" b="1" dirty="0">
                <a:latin typeface="微软雅黑" panose="020B0503020204020204" pitchFamily="34" charset="-122"/>
                <a:ea typeface="微软雅黑" panose="020B0503020204020204" pitchFamily="34" charset="-122"/>
              </a:rPr>
              <a:t>基于基因的表达谱来确定一个组织属于哪一类的癌症</a:t>
            </a:r>
          </a:p>
        </p:txBody>
      </p:sp>
      <p:grpSp>
        <p:nvGrpSpPr>
          <p:cNvPr id="68" name="原创设计师QQ598969553      _9">
            <a:extLst>
              <a:ext uri="{FF2B5EF4-FFF2-40B4-BE49-F238E27FC236}">
                <a16:creationId xmlns="" xmlns:a16="http://schemas.microsoft.com/office/drawing/2014/main" id="{EC33079E-1247-70DE-8763-3ACDD65E706D}"/>
              </a:ext>
            </a:extLst>
          </p:cNvPr>
          <p:cNvGrpSpPr/>
          <p:nvPr/>
        </p:nvGrpSpPr>
        <p:grpSpPr>
          <a:xfrm>
            <a:off x="188162" y="153558"/>
            <a:ext cx="304678" cy="243737"/>
            <a:chOff x="4268207" y="2118116"/>
            <a:chExt cx="2653566" cy="2214138"/>
          </a:xfrm>
        </p:grpSpPr>
        <p:grpSp>
          <p:nvGrpSpPr>
            <p:cNvPr id="69" name="组合 68">
              <a:extLst>
                <a:ext uri="{FF2B5EF4-FFF2-40B4-BE49-F238E27FC236}">
                  <a16:creationId xmlns="" xmlns:a16="http://schemas.microsoft.com/office/drawing/2014/main" id="{3866FBD5-A960-6794-8BA4-9DBBA9FC3AA3}"/>
                </a:ext>
              </a:extLst>
            </p:cNvPr>
            <p:cNvGrpSpPr/>
            <p:nvPr/>
          </p:nvGrpSpPr>
          <p:grpSpPr>
            <a:xfrm>
              <a:off x="4508674" y="2118116"/>
              <a:ext cx="2204282" cy="2204282"/>
              <a:chOff x="1517331" y="1125257"/>
              <a:chExt cx="2204282" cy="2204282"/>
            </a:xfrm>
          </p:grpSpPr>
          <p:sp>
            <p:nvSpPr>
              <p:cNvPr id="71" name="椭圆 70">
                <a:extLst>
                  <a:ext uri="{FF2B5EF4-FFF2-40B4-BE49-F238E27FC236}">
                    <a16:creationId xmlns="" xmlns:a16="http://schemas.microsoft.com/office/drawing/2014/main" id="{68A1054A-58A0-C11B-68D9-FA23D2B35325}"/>
                  </a:ext>
                </a:extLst>
              </p:cNvPr>
              <p:cNvSpPr/>
              <p:nvPr/>
            </p:nvSpPr>
            <p:spPr>
              <a:xfrm>
                <a:off x="1517331" y="1125257"/>
                <a:ext cx="2204282" cy="2204282"/>
              </a:xfrm>
              <a:prstGeom prst="ellipse">
                <a:avLst/>
              </a:prstGeom>
              <a:gradFill>
                <a:gsLst>
                  <a:gs pos="0">
                    <a:srgbClr val="EBEBEB"/>
                  </a:gs>
                  <a:gs pos="100000">
                    <a:srgbClr val="FEFEFE"/>
                  </a:gs>
                </a:gsLst>
                <a:lin ang="7530000" scaled="0"/>
              </a:gradFill>
              <a:ln w="12700">
                <a:solidFill>
                  <a:schemeClr val="bg1"/>
                </a:solidFill>
              </a:ln>
              <a:effectLst>
                <a:outerShdw blurRad="457200" dist="444500" dir="7800000" sx="89000" sy="89000" algn="tr" rotWithShape="0">
                  <a:prstClr val="black">
                    <a:alpha val="3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76">
                  <a:latin typeface="字体视界-NWE粗楷体" panose="02000500000000000000" pitchFamily="2" charset="-122"/>
                  <a:ea typeface="字体视界-NWE粗楷体" panose="02000500000000000000" pitchFamily="2" charset="-122"/>
                </a:endParaRPr>
              </a:p>
            </p:txBody>
          </p:sp>
          <p:sp>
            <p:nvSpPr>
              <p:cNvPr id="72" name="椭圆 71">
                <a:extLst>
                  <a:ext uri="{FF2B5EF4-FFF2-40B4-BE49-F238E27FC236}">
                    <a16:creationId xmlns="" xmlns:a16="http://schemas.microsoft.com/office/drawing/2014/main" id="{BFBCAB49-6A8C-B2B3-35ED-D6BBBED5CF8B}"/>
                  </a:ext>
                </a:extLst>
              </p:cNvPr>
              <p:cNvSpPr/>
              <p:nvPr/>
            </p:nvSpPr>
            <p:spPr>
              <a:xfrm>
                <a:off x="1719371" y="1344751"/>
                <a:ext cx="1800198" cy="1800200"/>
              </a:xfrm>
              <a:prstGeom prst="ellipse">
                <a:avLst/>
              </a:prstGeom>
              <a:solidFill>
                <a:srgbClr val="004098"/>
              </a:solidFill>
              <a:ln>
                <a:noFill/>
              </a:ln>
              <a:effectLst>
                <a:innerShdw blurRad="101600" dist="50800" dir="18900000">
                  <a:prstClr val="black">
                    <a:alpha val="43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76">
                  <a:latin typeface="字体视界-NWE粗楷体" panose="02000500000000000000" pitchFamily="2" charset="-122"/>
                  <a:ea typeface="字体视界-NWE粗楷体" panose="02000500000000000000" pitchFamily="2" charset="-122"/>
                </a:endParaRPr>
              </a:p>
            </p:txBody>
          </p:sp>
        </p:grpSp>
        <p:sp>
          <p:nvSpPr>
            <p:cNvPr id="70" name="TextBox 80">
              <a:extLst>
                <a:ext uri="{FF2B5EF4-FFF2-40B4-BE49-F238E27FC236}">
                  <a16:creationId xmlns="" xmlns:a16="http://schemas.microsoft.com/office/drawing/2014/main" id="{7A547AF7-EE79-5DEF-44B1-CF755100FDCC}"/>
                </a:ext>
              </a:extLst>
            </p:cNvPr>
            <p:cNvSpPr txBox="1"/>
            <p:nvPr/>
          </p:nvSpPr>
          <p:spPr>
            <a:xfrm>
              <a:off x="4268207" y="2408917"/>
              <a:ext cx="2653566" cy="1923337"/>
            </a:xfrm>
            <a:prstGeom prst="rect">
              <a:avLst/>
            </a:prstGeom>
            <a:noFill/>
          </p:spPr>
          <p:txBody>
            <a:bodyPr wrap="square" rtlCol="0">
              <a:spAutoFit/>
            </a:bodyPr>
            <a:lstStyle/>
            <a:p>
              <a:r>
                <a:rPr lang="en-US" altLang="zh-CN" sz="776" dirty="0">
                  <a:solidFill>
                    <a:schemeClr val="bg1"/>
                  </a:solidFill>
                  <a:latin typeface="字体视界-NWE粗楷体" panose="02000500000000000000" pitchFamily="2" charset="-122"/>
                  <a:ea typeface="字体视界-NWE粗楷体" panose="02000500000000000000" pitchFamily="2" charset="-122"/>
                </a:rPr>
                <a:t>01</a:t>
              </a:r>
            </a:p>
          </p:txBody>
        </p:sp>
      </p:grpSp>
      <p:sp>
        <p:nvSpPr>
          <p:cNvPr id="73" name="原创设计师QQ598969553      _12">
            <a:extLst>
              <a:ext uri="{FF2B5EF4-FFF2-40B4-BE49-F238E27FC236}">
                <a16:creationId xmlns="" xmlns:a16="http://schemas.microsoft.com/office/drawing/2014/main" id="{760473EF-0D78-F124-1B4B-A4A3255E7476}"/>
              </a:ext>
            </a:extLst>
          </p:cNvPr>
          <p:cNvSpPr>
            <a:spLocks noChangeShapeType="1"/>
          </p:cNvSpPr>
          <p:nvPr/>
        </p:nvSpPr>
        <p:spPr bwMode="auto">
          <a:xfrm flipH="1" flipV="1">
            <a:off x="543649" y="130604"/>
            <a:ext cx="0" cy="307269"/>
          </a:xfrm>
          <a:prstGeom prst="line">
            <a:avLst/>
          </a:prstGeom>
          <a:noFill/>
          <a:ln w="19050">
            <a:solidFill>
              <a:srgbClr val="004098"/>
            </a:solidFill>
            <a:prstDash val="dash"/>
            <a:round/>
          </a:ln>
          <a:extLst>
            <a:ext uri="{909E8E84-426E-40DD-AFC4-6F175D3DCCD1}">
              <a14:hiddenFill xmlns:a14="http://schemas.microsoft.com/office/drawing/2010/main">
                <a:noFill/>
              </a14:hiddenFill>
            </a:ext>
          </a:extLst>
        </p:spPr>
        <p:txBody>
          <a:bodyPr/>
          <a:lstStyle/>
          <a:p>
            <a:endParaRPr lang="zh-CN" altLang="en-US" sz="776" dirty="0"/>
          </a:p>
        </p:txBody>
      </p:sp>
      <p:sp>
        <p:nvSpPr>
          <p:cNvPr id="74" name="矩形: 圆角 18">
            <a:extLst>
              <a:ext uri="{FF2B5EF4-FFF2-40B4-BE49-F238E27FC236}">
                <a16:creationId xmlns="" xmlns:a16="http://schemas.microsoft.com/office/drawing/2014/main" id="{7C923056-96D1-FDBC-A663-A1F8635BC91E}"/>
              </a:ext>
            </a:extLst>
          </p:cNvPr>
          <p:cNvSpPr/>
          <p:nvPr/>
        </p:nvSpPr>
        <p:spPr>
          <a:xfrm flipV="1">
            <a:off x="140988" y="434975"/>
            <a:ext cx="2164062" cy="31919"/>
          </a:xfrm>
          <a:prstGeom prst="roundRect">
            <a:avLst>
              <a:gd name="adj" fmla="val 50000"/>
            </a:avLst>
          </a:prstGeom>
          <a:solidFill>
            <a:srgbClr val="0040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90">
              <a:solidFill>
                <a:srgbClr val="004098"/>
              </a:solidFill>
              <a:latin typeface="字体视界-NWE粗楷体" panose="02000500000000000000" pitchFamily="2" charset="-122"/>
              <a:ea typeface="字体视界-NWE粗楷体" panose="02000500000000000000" pitchFamily="2" charset="-122"/>
            </a:endParaRPr>
          </a:p>
        </p:txBody>
      </p:sp>
      <p:pic>
        <p:nvPicPr>
          <p:cNvPr id="5" name="object 2">
            <a:extLst>
              <a:ext uri="{FF2B5EF4-FFF2-40B4-BE49-F238E27FC236}">
                <a16:creationId xmlns="" xmlns:a16="http://schemas.microsoft.com/office/drawing/2014/main" id="{0D3ED5C7-3E40-5DC6-3ACF-4E34916E1540}"/>
              </a:ext>
            </a:extLst>
          </p:cNvPr>
          <p:cNvPicPr/>
          <p:nvPr/>
        </p:nvPicPr>
        <p:blipFill>
          <a:blip r:embed="rId2" cstate="print"/>
          <a:stretch>
            <a:fillRect/>
          </a:stretch>
        </p:blipFill>
        <p:spPr>
          <a:xfrm>
            <a:off x="709622" y="890583"/>
            <a:ext cx="3276600" cy="2480519"/>
          </a:xfrm>
          <a:prstGeom prst="rect">
            <a:avLst/>
          </a:prstGeom>
        </p:spPr>
      </p:pic>
      <p:sp>
        <p:nvSpPr>
          <p:cNvPr id="7" name="原创设计师QQ598969553      _2">
            <a:extLst>
              <a:ext uri="{FF2B5EF4-FFF2-40B4-BE49-F238E27FC236}">
                <a16:creationId xmlns="" xmlns:a16="http://schemas.microsoft.com/office/drawing/2014/main" id="{8BC3B07D-FE7A-3813-6F6A-CC269F888FD0}"/>
              </a:ext>
            </a:extLst>
          </p:cNvPr>
          <p:cNvSpPr txBox="1"/>
          <p:nvPr/>
        </p:nvSpPr>
        <p:spPr>
          <a:xfrm>
            <a:off x="570876" y="194245"/>
            <a:ext cx="2343774" cy="204379"/>
          </a:xfrm>
          <a:prstGeom prst="rect">
            <a:avLst/>
          </a:prstGeom>
          <a:noFill/>
        </p:spPr>
        <p:txBody>
          <a:bodyPr wrap="square" lIns="34762" tIns="17381" rIns="34762" bIns="17381" rtlCol="0">
            <a:spAutoFit/>
          </a:bodyPr>
          <a:lstStyle/>
          <a:p>
            <a:r>
              <a:rPr lang="zh-CN" altLang="en-US" sz="1100" b="1" dirty="0">
                <a:latin typeface="微软雅黑" panose="020B0503020204020204" pitchFamily="34" charset="-122"/>
                <a:ea typeface="微软雅黑" panose="020B0503020204020204" pitchFamily="34" charset="-122"/>
              </a:rPr>
              <a:t>统计学习可以解决的一些代表性问题</a:t>
            </a:r>
            <a:endParaRPr sz="11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91037529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原创设计师QQ598969553      _2">
            <a:extLst>
              <a:ext uri="{FF2B5EF4-FFF2-40B4-BE49-F238E27FC236}">
                <a16:creationId xmlns="" xmlns:a16="http://schemas.microsoft.com/office/drawing/2014/main" id="{7C4725B1-D255-CC63-745B-0C08A542F8E6}"/>
              </a:ext>
            </a:extLst>
          </p:cNvPr>
          <p:cNvSpPr txBox="1"/>
          <p:nvPr/>
        </p:nvSpPr>
        <p:spPr>
          <a:xfrm>
            <a:off x="532917" y="548324"/>
            <a:ext cx="3590201" cy="204379"/>
          </a:xfrm>
          <a:prstGeom prst="rect">
            <a:avLst/>
          </a:prstGeom>
          <a:noFill/>
        </p:spPr>
        <p:txBody>
          <a:bodyPr wrap="square" lIns="34762" tIns="17381" rIns="34762" bIns="17381" rtlCol="0">
            <a:spAutoFit/>
          </a:bodyPr>
          <a:lstStyle/>
          <a:p>
            <a:r>
              <a:rPr lang="zh-CN" altLang="en-US" sz="1100" b="1" dirty="0">
                <a:latin typeface="微软雅黑" panose="020B0503020204020204" pitchFamily="34" charset="-122"/>
                <a:ea typeface="微软雅黑" panose="020B0503020204020204" pitchFamily="34" charset="-122"/>
              </a:rPr>
              <a:t>建立人口调查数据中工资和人口统计学变量之间的关系</a:t>
            </a:r>
          </a:p>
        </p:txBody>
      </p:sp>
      <p:grpSp>
        <p:nvGrpSpPr>
          <p:cNvPr id="68" name="原创设计师QQ598969553      _9">
            <a:extLst>
              <a:ext uri="{FF2B5EF4-FFF2-40B4-BE49-F238E27FC236}">
                <a16:creationId xmlns="" xmlns:a16="http://schemas.microsoft.com/office/drawing/2014/main" id="{EC33079E-1247-70DE-8763-3ACDD65E706D}"/>
              </a:ext>
            </a:extLst>
          </p:cNvPr>
          <p:cNvGrpSpPr/>
          <p:nvPr/>
        </p:nvGrpSpPr>
        <p:grpSpPr>
          <a:xfrm>
            <a:off x="188162" y="153558"/>
            <a:ext cx="304678" cy="243737"/>
            <a:chOff x="4268207" y="2118116"/>
            <a:chExt cx="2653566" cy="2214138"/>
          </a:xfrm>
        </p:grpSpPr>
        <p:grpSp>
          <p:nvGrpSpPr>
            <p:cNvPr id="69" name="组合 68">
              <a:extLst>
                <a:ext uri="{FF2B5EF4-FFF2-40B4-BE49-F238E27FC236}">
                  <a16:creationId xmlns="" xmlns:a16="http://schemas.microsoft.com/office/drawing/2014/main" id="{3866FBD5-A960-6794-8BA4-9DBBA9FC3AA3}"/>
                </a:ext>
              </a:extLst>
            </p:cNvPr>
            <p:cNvGrpSpPr/>
            <p:nvPr/>
          </p:nvGrpSpPr>
          <p:grpSpPr>
            <a:xfrm>
              <a:off x="4508674" y="2118116"/>
              <a:ext cx="2204282" cy="2204282"/>
              <a:chOff x="1517331" y="1125257"/>
              <a:chExt cx="2204282" cy="2204282"/>
            </a:xfrm>
          </p:grpSpPr>
          <p:sp>
            <p:nvSpPr>
              <p:cNvPr id="71" name="椭圆 70">
                <a:extLst>
                  <a:ext uri="{FF2B5EF4-FFF2-40B4-BE49-F238E27FC236}">
                    <a16:creationId xmlns="" xmlns:a16="http://schemas.microsoft.com/office/drawing/2014/main" id="{68A1054A-58A0-C11B-68D9-FA23D2B35325}"/>
                  </a:ext>
                </a:extLst>
              </p:cNvPr>
              <p:cNvSpPr/>
              <p:nvPr/>
            </p:nvSpPr>
            <p:spPr>
              <a:xfrm>
                <a:off x="1517331" y="1125257"/>
                <a:ext cx="2204282" cy="2204282"/>
              </a:xfrm>
              <a:prstGeom prst="ellipse">
                <a:avLst/>
              </a:prstGeom>
              <a:gradFill>
                <a:gsLst>
                  <a:gs pos="0">
                    <a:srgbClr val="EBEBEB"/>
                  </a:gs>
                  <a:gs pos="100000">
                    <a:srgbClr val="FEFEFE"/>
                  </a:gs>
                </a:gsLst>
                <a:lin ang="7530000" scaled="0"/>
              </a:gradFill>
              <a:ln w="12700">
                <a:solidFill>
                  <a:schemeClr val="bg1"/>
                </a:solidFill>
              </a:ln>
              <a:effectLst>
                <a:outerShdw blurRad="457200" dist="444500" dir="7800000" sx="89000" sy="89000" algn="tr" rotWithShape="0">
                  <a:prstClr val="black">
                    <a:alpha val="3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76">
                  <a:latin typeface="字体视界-NWE粗楷体" panose="02000500000000000000" pitchFamily="2" charset="-122"/>
                  <a:ea typeface="字体视界-NWE粗楷体" panose="02000500000000000000" pitchFamily="2" charset="-122"/>
                </a:endParaRPr>
              </a:p>
            </p:txBody>
          </p:sp>
          <p:sp>
            <p:nvSpPr>
              <p:cNvPr id="72" name="椭圆 71">
                <a:extLst>
                  <a:ext uri="{FF2B5EF4-FFF2-40B4-BE49-F238E27FC236}">
                    <a16:creationId xmlns="" xmlns:a16="http://schemas.microsoft.com/office/drawing/2014/main" id="{BFBCAB49-6A8C-B2B3-35ED-D6BBBED5CF8B}"/>
                  </a:ext>
                </a:extLst>
              </p:cNvPr>
              <p:cNvSpPr/>
              <p:nvPr/>
            </p:nvSpPr>
            <p:spPr>
              <a:xfrm>
                <a:off x="1719371" y="1344751"/>
                <a:ext cx="1800198" cy="1800200"/>
              </a:xfrm>
              <a:prstGeom prst="ellipse">
                <a:avLst/>
              </a:prstGeom>
              <a:solidFill>
                <a:srgbClr val="004098"/>
              </a:solidFill>
              <a:ln>
                <a:noFill/>
              </a:ln>
              <a:effectLst>
                <a:innerShdw blurRad="101600" dist="50800" dir="18900000">
                  <a:prstClr val="black">
                    <a:alpha val="43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76">
                  <a:latin typeface="字体视界-NWE粗楷体" panose="02000500000000000000" pitchFamily="2" charset="-122"/>
                  <a:ea typeface="字体视界-NWE粗楷体" panose="02000500000000000000" pitchFamily="2" charset="-122"/>
                </a:endParaRPr>
              </a:p>
            </p:txBody>
          </p:sp>
        </p:grpSp>
        <p:sp>
          <p:nvSpPr>
            <p:cNvPr id="70" name="TextBox 80">
              <a:extLst>
                <a:ext uri="{FF2B5EF4-FFF2-40B4-BE49-F238E27FC236}">
                  <a16:creationId xmlns="" xmlns:a16="http://schemas.microsoft.com/office/drawing/2014/main" id="{7A547AF7-EE79-5DEF-44B1-CF755100FDCC}"/>
                </a:ext>
              </a:extLst>
            </p:cNvPr>
            <p:cNvSpPr txBox="1"/>
            <p:nvPr/>
          </p:nvSpPr>
          <p:spPr>
            <a:xfrm>
              <a:off x="4268207" y="2408917"/>
              <a:ext cx="2653566" cy="1923337"/>
            </a:xfrm>
            <a:prstGeom prst="rect">
              <a:avLst/>
            </a:prstGeom>
            <a:noFill/>
          </p:spPr>
          <p:txBody>
            <a:bodyPr wrap="square" rtlCol="0">
              <a:spAutoFit/>
            </a:bodyPr>
            <a:lstStyle/>
            <a:p>
              <a:r>
                <a:rPr lang="en-US" altLang="zh-CN" sz="776" dirty="0">
                  <a:solidFill>
                    <a:schemeClr val="bg1"/>
                  </a:solidFill>
                  <a:latin typeface="字体视界-NWE粗楷体" panose="02000500000000000000" pitchFamily="2" charset="-122"/>
                  <a:ea typeface="字体视界-NWE粗楷体" panose="02000500000000000000" pitchFamily="2" charset="-122"/>
                </a:rPr>
                <a:t>01</a:t>
              </a:r>
            </a:p>
          </p:txBody>
        </p:sp>
      </p:grpSp>
      <p:sp>
        <p:nvSpPr>
          <p:cNvPr id="73" name="原创设计师QQ598969553      _12">
            <a:extLst>
              <a:ext uri="{FF2B5EF4-FFF2-40B4-BE49-F238E27FC236}">
                <a16:creationId xmlns="" xmlns:a16="http://schemas.microsoft.com/office/drawing/2014/main" id="{760473EF-0D78-F124-1B4B-A4A3255E7476}"/>
              </a:ext>
            </a:extLst>
          </p:cNvPr>
          <p:cNvSpPr>
            <a:spLocks noChangeShapeType="1"/>
          </p:cNvSpPr>
          <p:nvPr/>
        </p:nvSpPr>
        <p:spPr bwMode="auto">
          <a:xfrm flipH="1" flipV="1">
            <a:off x="543649" y="130604"/>
            <a:ext cx="0" cy="307269"/>
          </a:xfrm>
          <a:prstGeom prst="line">
            <a:avLst/>
          </a:prstGeom>
          <a:noFill/>
          <a:ln w="19050">
            <a:solidFill>
              <a:srgbClr val="004098"/>
            </a:solidFill>
            <a:prstDash val="dash"/>
            <a:round/>
          </a:ln>
          <a:extLst>
            <a:ext uri="{909E8E84-426E-40DD-AFC4-6F175D3DCCD1}">
              <a14:hiddenFill xmlns:a14="http://schemas.microsoft.com/office/drawing/2010/main">
                <a:noFill/>
              </a14:hiddenFill>
            </a:ext>
          </a:extLst>
        </p:spPr>
        <p:txBody>
          <a:bodyPr/>
          <a:lstStyle/>
          <a:p>
            <a:endParaRPr lang="zh-CN" altLang="en-US" sz="776" dirty="0"/>
          </a:p>
        </p:txBody>
      </p:sp>
      <p:sp>
        <p:nvSpPr>
          <p:cNvPr id="74" name="矩形: 圆角 18">
            <a:extLst>
              <a:ext uri="{FF2B5EF4-FFF2-40B4-BE49-F238E27FC236}">
                <a16:creationId xmlns="" xmlns:a16="http://schemas.microsoft.com/office/drawing/2014/main" id="{7C923056-96D1-FDBC-A663-A1F8635BC91E}"/>
              </a:ext>
            </a:extLst>
          </p:cNvPr>
          <p:cNvSpPr/>
          <p:nvPr/>
        </p:nvSpPr>
        <p:spPr>
          <a:xfrm flipV="1">
            <a:off x="140988" y="434975"/>
            <a:ext cx="2164062" cy="31919"/>
          </a:xfrm>
          <a:prstGeom prst="roundRect">
            <a:avLst>
              <a:gd name="adj" fmla="val 50000"/>
            </a:avLst>
          </a:prstGeom>
          <a:solidFill>
            <a:srgbClr val="0040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90">
              <a:solidFill>
                <a:srgbClr val="004098"/>
              </a:solidFill>
              <a:latin typeface="字体视界-NWE粗楷体" panose="02000500000000000000" pitchFamily="2" charset="-122"/>
              <a:ea typeface="字体视界-NWE粗楷体" panose="02000500000000000000" pitchFamily="2" charset="-122"/>
            </a:endParaRPr>
          </a:p>
        </p:txBody>
      </p:sp>
      <p:sp>
        <p:nvSpPr>
          <p:cNvPr id="2" name="object 28">
            <a:extLst>
              <a:ext uri="{FF2B5EF4-FFF2-40B4-BE49-F238E27FC236}">
                <a16:creationId xmlns="" xmlns:a16="http://schemas.microsoft.com/office/drawing/2014/main" id="{F14F3B77-923A-D6AB-BA75-3583A16502A7}"/>
              </a:ext>
            </a:extLst>
          </p:cNvPr>
          <p:cNvSpPr txBox="1"/>
          <p:nvPr/>
        </p:nvSpPr>
        <p:spPr>
          <a:xfrm>
            <a:off x="435082" y="2561906"/>
            <a:ext cx="3785870" cy="363855"/>
          </a:xfrm>
          <a:prstGeom prst="rect">
            <a:avLst/>
          </a:prstGeom>
        </p:spPr>
        <p:txBody>
          <a:bodyPr vert="horz" wrap="square" lIns="0" tIns="6985" rIns="0" bIns="0" rtlCol="0">
            <a:spAutoFit/>
          </a:bodyPr>
          <a:lstStyle/>
          <a:p>
            <a:pPr marL="12700" marR="5080">
              <a:lnSpc>
                <a:spcPct val="103000"/>
              </a:lnSpc>
              <a:spcBef>
                <a:spcPts val="55"/>
              </a:spcBef>
            </a:pPr>
            <a:r>
              <a:rPr sz="1100" spc="15" dirty="0">
                <a:latin typeface="Calibri" panose="020F0502020204030204"/>
                <a:cs typeface="Calibri" panose="020F0502020204030204"/>
              </a:rPr>
              <a:t>Income</a:t>
            </a:r>
            <a:r>
              <a:rPr sz="1100" spc="110" dirty="0">
                <a:latin typeface="Calibri" panose="020F0502020204030204"/>
                <a:cs typeface="Calibri" panose="020F0502020204030204"/>
              </a:rPr>
              <a:t> </a:t>
            </a:r>
            <a:r>
              <a:rPr sz="1100" spc="20" dirty="0">
                <a:latin typeface="Calibri" panose="020F0502020204030204"/>
                <a:cs typeface="Calibri" panose="020F0502020204030204"/>
              </a:rPr>
              <a:t>survey</a:t>
            </a:r>
            <a:r>
              <a:rPr sz="1100" spc="120" dirty="0">
                <a:latin typeface="Calibri" panose="020F0502020204030204"/>
                <a:cs typeface="Calibri" panose="020F0502020204030204"/>
              </a:rPr>
              <a:t> </a:t>
            </a:r>
            <a:r>
              <a:rPr sz="1100" spc="25" dirty="0">
                <a:latin typeface="Calibri" panose="020F0502020204030204"/>
                <a:cs typeface="Calibri" panose="020F0502020204030204"/>
              </a:rPr>
              <a:t>data</a:t>
            </a:r>
            <a:r>
              <a:rPr sz="1100" spc="114" dirty="0">
                <a:latin typeface="Calibri" panose="020F0502020204030204"/>
                <a:cs typeface="Calibri" panose="020F0502020204030204"/>
              </a:rPr>
              <a:t> </a:t>
            </a:r>
            <a:r>
              <a:rPr sz="1100" dirty="0">
                <a:latin typeface="Calibri" panose="020F0502020204030204"/>
                <a:cs typeface="Calibri" panose="020F0502020204030204"/>
              </a:rPr>
              <a:t>for</a:t>
            </a:r>
            <a:r>
              <a:rPr sz="1100" spc="120" dirty="0">
                <a:latin typeface="Calibri" panose="020F0502020204030204"/>
                <a:cs typeface="Calibri" panose="020F0502020204030204"/>
              </a:rPr>
              <a:t> </a:t>
            </a:r>
            <a:r>
              <a:rPr sz="1100" spc="5" dirty="0">
                <a:latin typeface="Calibri" panose="020F0502020204030204"/>
                <a:cs typeface="Calibri" panose="020F0502020204030204"/>
              </a:rPr>
              <a:t>males</a:t>
            </a:r>
            <a:r>
              <a:rPr sz="1100" spc="114" dirty="0">
                <a:latin typeface="Calibri" panose="020F0502020204030204"/>
                <a:cs typeface="Calibri" panose="020F0502020204030204"/>
              </a:rPr>
              <a:t> </a:t>
            </a:r>
            <a:r>
              <a:rPr sz="1100" spc="5" dirty="0">
                <a:latin typeface="Calibri" panose="020F0502020204030204"/>
                <a:cs typeface="Calibri" panose="020F0502020204030204"/>
              </a:rPr>
              <a:t>from</a:t>
            </a:r>
            <a:r>
              <a:rPr sz="1100" spc="114" dirty="0">
                <a:latin typeface="Calibri" panose="020F0502020204030204"/>
                <a:cs typeface="Calibri" panose="020F0502020204030204"/>
              </a:rPr>
              <a:t> </a:t>
            </a:r>
            <a:r>
              <a:rPr sz="1100" spc="5" dirty="0">
                <a:latin typeface="Calibri" panose="020F0502020204030204"/>
                <a:cs typeface="Calibri" panose="020F0502020204030204"/>
              </a:rPr>
              <a:t>the</a:t>
            </a:r>
            <a:r>
              <a:rPr sz="1100" spc="120" dirty="0">
                <a:latin typeface="Calibri" panose="020F0502020204030204"/>
                <a:cs typeface="Calibri" panose="020F0502020204030204"/>
              </a:rPr>
              <a:t> </a:t>
            </a:r>
            <a:r>
              <a:rPr sz="1100" spc="15" dirty="0">
                <a:latin typeface="Calibri" panose="020F0502020204030204"/>
                <a:cs typeface="Calibri" panose="020F0502020204030204"/>
              </a:rPr>
              <a:t>central</a:t>
            </a:r>
            <a:r>
              <a:rPr sz="1100" spc="120" dirty="0">
                <a:latin typeface="Calibri" panose="020F0502020204030204"/>
                <a:cs typeface="Calibri" panose="020F0502020204030204"/>
              </a:rPr>
              <a:t> </a:t>
            </a:r>
            <a:r>
              <a:rPr sz="1100" spc="45" dirty="0">
                <a:latin typeface="Calibri" panose="020F0502020204030204"/>
                <a:cs typeface="Calibri" panose="020F0502020204030204"/>
              </a:rPr>
              <a:t>Atlantic</a:t>
            </a:r>
            <a:r>
              <a:rPr sz="1100" spc="114" dirty="0">
                <a:latin typeface="Calibri" panose="020F0502020204030204"/>
                <a:cs typeface="Calibri" panose="020F0502020204030204"/>
              </a:rPr>
              <a:t> </a:t>
            </a:r>
            <a:r>
              <a:rPr sz="1100" spc="5" dirty="0">
                <a:latin typeface="Calibri" panose="020F0502020204030204"/>
                <a:cs typeface="Calibri" panose="020F0502020204030204"/>
              </a:rPr>
              <a:t>region </a:t>
            </a:r>
            <a:r>
              <a:rPr sz="1100" spc="-229" dirty="0">
                <a:latin typeface="Calibri" panose="020F0502020204030204"/>
                <a:cs typeface="Calibri" panose="020F0502020204030204"/>
              </a:rPr>
              <a:t> </a:t>
            </a:r>
            <a:r>
              <a:rPr sz="1100" spc="-20" dirty="0">
                <a:latin typeface="Calibri" panose="020F0502020204030204"/>
                <a:cs typeface="Calibri" panose="020F0502020204030204"/>
              </a:rPr>
              <a:t>of</a:t>
            </a:r>
            <a:r>
              <a:rPr sz="1100" spc="105" dirty="0">
                <a:latin typeface="Calibri" panose="020F0502020204030204"/>
                <a:cs typeface="Calibri" panose="020F0502020204030204"/>
              </a:rPr>
              <a:t> </a:t>
            </a:r>
            <a:r>
              <a:rPr sz="1100" spc="5" dirty="0">
                <a:latin typeface="Calibri" panose="020F0502020204030204"/>
                <a:cs typeface="Calibri" panose="020F0502020204030204"/>
              </a:rPr>
              <a:t>the</a:t>
            </a:r>
            <a:r>
              <a:rPr sz="1100" spc="114" dirty="0">
                <a:latin typeface="Calibri" panose="020F0502020204030204"/>
                <a:cs typeface="Calibri" panose="020F0502020204030204"/>
              </a:rPr>
              <a:t> </a:t>
            </a:r>
            <a:r>
              <a:rPr sz="1100" spc="130" dirty="0">
                <a:latin typeface="Calibri" panose="020F0502020204030204"/>
                <a:cs typeface="Calibri" panose="020F0502020204030204"/>
              </a:rPr>
              <a:t>USA</a:t>
            </a:r>
            <a:r>
              <a:rPr sz="1100" spc="110" dirty="0">
                <a:latin typeface="Calibri" panose="020F0502020204030204"/>
                <a:cs typeface="Calibri" panose="020F0502020204030204"/>
              </a:rPr>
              <a:t> </a:t>
            </a:r>
            <a:r>
              <a:rPr sz="1100" spc="35" dirty="0">
                <a:latin typeface="Calibri" panose="020F0502020204030204"/>
                <a:cs typeface="Calibri" panose="020F0502020204030204"/>
              </a:rPr>
              <a:t>in</a:t>
            </a:r>
            <a:r>
              <a:rPr sz="1100" spc="110" dirty="0">
                <a:latin typeface="Calibri" panose="020F0502020204030204"/>
                <a:cs typeface="Calibri" panose="020F0502020204030204"/>
              </a:rPr>
              <a:t> </a:t>
            </a:r>
            <a:r>
              <a:rPr sz="1100" spc="-5" dirty="0">
                <a:latin typeface="Calibri" panose="020F0502020204030204"/>
                <a:cs typeface="Calibri" panose="020F0502020204030204"/>
              </a:rPr>
              <a:t>2009.</a:t>
            </a:r>
            <a:endParaRPr sz="1100" dirty="0">
              <a:latin typeface="Calibri" panose="020F0502020204030204"/>
              <a:cs typeface="Calibri" panose="020F0502020204030204"/>
            </a:endParaRPr>
          </a:p>
        </p:txBody>
      </p:sp>
      <p:pic>
        <p:nvPicPr>
          <p:cNvPr id="3" name="图片 2">
            <a:extLst>
              <a:ext uri="{FF2B5EF4-FFF2-40B4-BE49-F238E27FC236}">
                <a16:creationId xmlns="" xmlns:a16="http://schemas.microsoft.com/office/drawing/2014/main" id="{994219AC-FA26-0DF1-CDB3-A252C70859F3}"/>
              </a:ext>
            </a:extLst>
          </p:cNvPr>
          <p:cNvPicPr>
            <a:picLocks noChangeAspect="1"/>
          </p:cNvPicPr>
          <p:nvPr/>
        </p:nvPicPr>
        <p:blipFill>
          <a:blip r:embed="rId2"/>
          <a:stretch>
            <a:fillRect/>
          </a:stretch>
        </p:blipFill>
        <p:spPr>
          <a:xfrm>
            <a:off x="633284" y="892175"/>
            <a:ext cx="3389468" cy="1471818"/>
          </a:xfrm>
          <a:prstGeom prst="rect">
            <a:avLst/>
          </a:prstGeom>
        </p:spPr>
      </p:pic>
      <p:sp>
        <p:nvSpPr>
          <p:cNvPr id="4" name="原创设计师QQ598969553      _2">
            <a:extLst>
              <a:ext uri="{FF2B5EF4-FFF2-40B4-BE49-F238E27FC236}">
                <a16:creationId xmlns="" xmlns:a16="http://schemas.microsoft.com/office/drawing/2014/main" id="{08932656-21F5-513C-C5AC-14208F5BEE6E}"/>
              </a:ext>
            </a:extLst>
          </p:cNvPr>
          <p:cNvSpPr txBox="1"/>
          <p:nvPr/>
        </p:nvSpPr>
        <p:spPr>
          <a:xfrm>
            <a:off x="570876" y="194245"/>
            <a:ext cx="2343774" cy="204379"/>
          </a:xfrm>
          <a:prstGeom prst="rect">
            <a:avLst/>
          </a:prstGeom>
          <a:noFill/>
        </p:spPr>
        <p:txBody>
          <a:bodyPr wrap="square" lIns="34762" tIns="17381" rIns="34762" bIns="17381" rtlCol="0">
            <a:spAutoFit/>
          </a:bodyPr>
          <a:lstStyle/>
          <a:p>
            <a:r>
              <a:rPr lang="zh-CN" altLang="en-US" sz="1100" b="1" dirty="0">
                <a:latin typeface="微软雅黑" panose="020B0503020204020204" pitchFamily="34" charset="-122"/>
                <a:ea typeface="微软雅黑" panose="020B0503020204020204" pitchFamily="34" charset="-122"/>
              </a:rPr>
              <a:t>统计学习可以解决的一些代表性问题</a:t>
            </a:r>
            <a:endParaRPr sz="11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99037688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原创设计师QQ598969553      _2">
            <a:extLst>
              <a:ext uri="{FF2B5EF4-FFF2-40B4-BE49-F238E27FC236}">
                <a16:creationId xmlns="" xmlns:a16="http://schemas.microsoft.com/office/drawing/2014/main" id="{7C4725B1-D255-CC63-745B-0C08A542F8E6}"/>
              </a:ext>
            </a:extLst>
          </p:cNvPr>
          <p:cNvSpPr txBox="1"/>
          <p:nvPr/>
        </p:nvSpPr>
        <p:spPr>
          <a:xfrm>
            <a:off x="618435" y="185570"/>
            <a:ext cx="2267573" cy="204379"/>
          </a:xfrm>
          <a:prstGeom prst="rect">
            <a:avLst/>
          </a:prstGeom>
          <a:noFill/>
        </p:spPr>
        <p:txBody>
          <a:bodyPr wrap="square" lIns="34762" tIns="17381" rIns="34762" bIns="17381" rtlCol="0">
            <a:spAutoFit/>
          </a:bodyPr>
          <a:lstStyle/>
          <a:p>
            <a:r>
              <a:rPr lang="zh-CN" altLang="en-US" sz="1100" b="1" dirty="0">
                <a:latin typeface="微软雅黑" panose="020B0503020204020204" pitchFamily="34" charset="-122"/>
                <a:ea typeface="微软雅黑" panose="020B0503020204020204" pitchFamily="34" charset="-122"/>
              </a:rPr>
              <a:t>监督</a:t>
            </a:r>
            <a:r>
              <a:rPr lang="en-US" altLang="zh-CN" sz="1100" b="1" dirty="0">
                <a:latin typeface="微软雅黑" panose="020B0503020204020204" pitchFamily="34" charset="-122"/>
                <a:ea typeface="微软雅黑" panose="020B0503020204020204" pitchFamily="34" charset="-122"/>
              </a:rPr>
              <a:t>/</a:t>
            </a:r>
            <a:r>
              <a:rPr lang="zh-CN" altLang="en-US" sz="1100" b="1" dirty="0">
                <a:latin typeface="微软雅黑" panose="020B0503020204020204" pitchFamily="34" charset="-122"/>
                <a:ea typeface="微软雅黑" panose="020B0503020204020204" pitchFamily="34" charset="-122"/>
              </a:rPr>
              <a:t>指导学习的问题</a:t>
            </a:r>
          </a:p>
        </p:txBody>
      </p:sp>
      <p:grpSp>
        <p:nvGrpSpPr>
          <p:cNvPr id="68" name="原创设计师QQ598969553      _9">
            <a:extLst>
              <a:ext uri="{FF2B5EF4-FFF2-40B4-BE49-F238E27FC236}">
                <a16:creationId xmlns="" xmlns:a16="http://schemas.microsoft.com/office/drawing/2014/main" id="{EC33079E-1247-70DE-8763-3ACDD65E706D}"/>
              </a:ext>
            </a:extLst>
          </p:cNvPr>
          <p:cNvGrpSpPr/>
          <p:nvPr/>
        </p:nvGrpSpPr>
        <p:grpSpPr>
          <a:xfrm>
            <a:off x="188162" y="153558"/>
            <a:ext cx="304678" cy="243737"/>
            <a:chOff x="4268207" y="2118116"/>
            <a:chExt cx="2653566" cy="2214138"/>
          </a:xfrm>
        </p:grpSpPr>
        <p:grpSp>
          <p:nvGrpSpPr>
            <p:cNvPr id="69" name="组合 68">
              <a:extLst>
                <a:ext uri="{FF2B5EF4-FFF2-40B4-BE49-F238E27FC236}">
                  <a16:creationId xmlns="" xmlns:a16="http://schemas.microsoft.com/office/drawing/2014/main" id="{3866FBD5-A960-6794-8BA4-9DBBA9FC3AA3}"/>
                </a:ext>
              </a:extLst>
            </p:cNvPr>
            <p:cNvGrpSpPr/>
            <p:nvPr/>
          </p:nvGrpSpPr>
          <p:grpSpPr>
            <a:xfrm>
              <a:off x="4508674" y="2118116"/>
              <a:ext cx="2204282" cy="2204282"/>
              <a:chOff x="1517331" y="1125257"/>
              <a:chExt cx="2204282" cy="2204282"/>
            </a:xfrm>
          </p:grpSpPr>
          <p:sp>
            <p:nvSpPr>
              <p:cNvPr id="71" name="椭圆 70">
                <a:extLst>
                  <a:ext uri="{FF2B5EF4-FFF2-40B4-BE49-F238E27FC236}">
                    <a16:creationId xmlns="" xmlns:a16="http://schemas.microsoft.com/office/drawing/2014/main" id="{68A1054A-58A0-C11B-68D9-FA23D2B35325}"/>
                  </a:ext>
                </a:extLst>
              </p:cNvPr>
              <p:cNvSpPr/>
              <p:nvPr/>
            </p:nvSpPr>
            <p:spPr>
              <a:xfrm>
                <a:off x="1517331" y="1125257"/>
                <a:ext cx="2204282" cy="2204282"/>
              </a:xfrm>
              <a:prstGeom prst="ellipse">
                <a:avLst/>
              </a:prstGeom>
              <a:gradFill>
                <a:gsLst>
                  <a:gs pos="0">
                    <a:srgbClr val="EBEBEB"/>
                  </a:gs>
                  <a:gs pos="100000">
                    <a:srgbClr val="FEFEFE"/>
                  </a:gs>
                </a:gsLst>
                <a:lin ang="7530000" scaled="0"/>
              </a:gradFill>
              <a:ln w="12700">
                <a:solidFill>
                  <a:schemeClr val="bg1"/>
                </a:solidFill>
              </a:ln>
              <a:effectLst>
                <a:outerShdw blurRad="457200" dist="444500" dir="7800000" sx="89000" sy="89000" algn="tr" rotWithShape="0">
                  <a:prstClr val="black">
                    <a:alpha val="3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76">
                  <a:latin typeface="字体视界-NWE粗楷体" panose="02000500000000000000" pitchFamily="2" charset="-122"/>
                  <a:ea typeface="字体视界-NWE粗楷体" panose="02000500000000000000" pitchFamily="2" charset="-122"/>
                </a:endParaRPr>
              </a:p>
            </p:txBody>
          </p:sp>
          <p:sp>
            <p:nvSpPr>
              <p:cNvPr id="72" name="椭圆 71">
                <a:extLst>
                  <a:ext uri="{FF2B5EF4-FFF2-40B4-BE49-F238E27FC236}">
                    <a16:creationId xmlns="" xmlns:a16="http://schemas.microsoft.com/office/drawing/2014/main" id="{BFBCAB49-6A8C-B2B3-35ED-D6BBBED5CF8B}"/>
                  </a:ext>
                </a:extLst>
              </p:cNvPr>
              <p:cNvSpPr/>
              <p:nvPr/>
            </p:nvSpPr>
            <p:spPr>
              <a:xfrm>
                <a:off x="1719371" y="1344751"/>
                <a:ext cx="1800198" cy="1800200"/>
              </a:xfrm>
              <a:prstGeom prst="ellipse">
                <a:avLst/>
              </a:prstGeom>
              <a:solidFill>
                <a:srgbClr val="004098"/>
              </a:solidFill>
              <a:ln>
                <a:noFill/>
              </a:ln>
              <a:effectLst>
                <a:innerShdw blurRad="101600" dist="50800" dir="18900000">
                  <a:prstClr val="black">
                    <a:alpha val="43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76">
                  <a:latin typeface="字体视界-NWE粗楷体" panose="02000500000000000000" pitchFamily="2" charset="-122"/>
                  <a:ea typeface="字体视界-NWE粗楷体" panose="02000500000000000000" pitchFamily="2" charset="-122"/>
                </a:endParaRPr>
              </a:p>
            </p:txBody>
          </p:sp>
        </p:grpSp>
        <p:sp>
          <p:nvSpPr>
            <p:cNvPr id="70" name="TextBox 80">
              <a:extLst>
                <a:ext uri="{FF2B5EF4-FFF2-40B4-BE49-F238E27FC236}">
                  <a16:creationId xmlns="" xmlns:a16="http://schemas.microsoft.com/office/drawing/2014/main" id="{7A547AF7-EE79-5DEF-44B1-CF755100FDCC}"/>
                </a:ext>
              </a:extLst>
            </p:cNvPr>
            <p:cNvSpPr txBox="1"/>
            <p:nvPr/>
          </p:nvSpPr>
          <p:spPr>
            <a:xfrm>
              <a:off x="4268207" y="2408917"/>
              <a:ext cx="2653566" cy="1923337"/>
            </a:xfrm>
            <a:prstGeom prst="rect">
              <a:avLst/>
            </a:prstGeom>
            <a:noFill/>
          </p:spPr>
          <p:txBody>
            <a:bodyPr wrap="square" rtlCol="0">
              <a:spAutoFit/>
            </a:bodyPr>
            <a:lstStyle/>
            <a:p>
              <a:r>
                <a:rPr lang="en-US" altLang="zh-CN" sz="776" dirty="0">
                  <a:solidFill>
                    <a:schemeClr val="bg1"/>
                  </a:solidFill>
                  <a:latin typeface="字体视界-NWE粗楷体" panose="02000500000000000000" pitchFamily="2" charset="-122"/>
                  <a:ea typeface="字体视界-NWE粗楷体" panose="02000500000000000000" pitchFamily="2" charset="-122"/>
                </a:rPr>
                <a:t>02</a:t>
              </a:r>
            </a:p>
          </p:txBody>
        </p:sp>
      </p:grpSp>
      <p:sp>
        <p:nvSpPr>
          <p:cNvPr id="73" name="原创设计师QQ598969553      _12">
            <a:extLst>
              <a:ext uri="{FF2B5EF4-FFF2-40B4-BE49-F238E27FC236}">
                <a16:creationId xmlns="" xmlns:a16="http://schemas.microsoft.com/office/drawing/2014/main" id="{760473EF-0D78-F124-1B4B-A4A3255E7476}"/>
              </a:ext>
            </a:extLst>
          </p:cNvPr>
          <p:cNvSpPr>
            <a:spLocks noChangeShapeType="1"/>
          </p:cNvSpPr>
          <p:nvPr/>
        </p:nvSpPr>
        <p:spPr bwMode="auto">
          <a:xfrm flipH="1" flipV="1">
            <a:off x="543649" y="130604"/>
            <a:ext cx="0" cy="307269"/>
          </a:xfrm>
          <a:prstGeom prst="line">
            <a:avLst/>
          </a:prstGeom>
          <a:noFill/>
          <a:ln w="19050">
            <a:solidFill>
              <a:srgbClr val="004098"/>
            </a:solidFill>
            <a:prstDash val="dash"/>
            <a:round/>
          </a:ln>
          <a:extLst>
            <a:ext uri="{909E8E84-426E-40DD-AFC4-6F175D3DCCD1}">
              <a14:hiddenFill xmlns:a14="http://schemas.microsoft.com/office/drawing/2010/main">
                <a:noFill/>
              </a14:hiddenFill>
            </a:ext>
          </a:extLst>
        </p:spPr>
        <p:txBody>
          <a:bodyPr/>
          <a:lstStyle/>
          <a:p>
            <a:endParaRPr lang="zh-CN" altLang="en-US" sz="776" dirty="0"/>
          </a:p>
        </p:txBody>
      </p:sp>
      <p:sp>
        <p:nvSpPr>
          <p:cNvPr id="74" name="矩形: 圆角 18">
            <a:extLst>
              <a:ext uri="{FF2B5EF4-FFF2-40B4-BE49-F238E27FC236}">
                <a16:creationId xmlns="" xmlns:a16="http://schemas.microsoft.com/office/drawing/2014/main" id="{7C923056-96D1-FDBC-A663-A1F8635BC91E}"/>
              </a:ext>
            </a:extLst>
          </p:cNvPr>
          <p:cNvSpPr/>
          <p:nvPr/>
        </p:nvSpPr>
        <p:spPr>
          <a:xfrm flipV="1">
            <a:off x="140988" y="434975"/>
            <a:ext cx="2164062" cy="31919"/>
          </a:xfrm>
          <a:prstGeom prst="roundRect">
            <a:avLst>
              <a:gd name="adj" fmla="val 50000"/>
            </a:avLst>
          </a:prstGeom>
          <a:solidFill>
            <a:srgbClr val="0040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90">
              <a:solidFill>
                <a:srgbClr val="004098"/>
              </a:solidFill>
              <a:latin typeface="字体视界-NWE粗楷体" panose="02000500000000000000" pitchFamily="2" charset="-122"/>
              <a:ea typeface="字体视界-NWE粗楷体" panose="02000500000000000000" pitchFamily="2" charset="-122"/>
            </a:endParaRPr>
          </a:p>
        </p:txBody>
      </p:sp>
      <p:sp>
        <p:nvSpPr>
          <p:cNvPr id="6" name="object 3">
            <a:extLst>
              <a:ext uri="{FF2B5EF4-FFF2-40B4-BE49-F238E27FC236}">
                <a16:creationId xmlns="" xmlns:a16="http://schemas.microsoft.com/office/drawing/2014/main" id="{F7AD9976-3982-51C8-486D-D29FB38B72D5}"/>
              </a:ext>
            </a:extLst>
          </p:cNvPr>
          <p:cNvSpPr txBox="1"/>
          <p:nvPr/>
        </p:nvSpPr>
        <p:spPr>
          <a:xfrm>
            <a:off x="321894" y="626335"/>
            <a:ext cx="3964356" cy="2400721"/>
          </a:xfrm>
          <a:prstGeom prst="rect">
            <a:avLst/>
          </a:prstGeom>
        </p:spPr>
        <p:txBody>
          <a:bodyPr vert="horz" wrap="square" lIns="0" tIns="55244" rIns="0" bIns="0" rtlCol="0">
            <a:spAutoFit/>
          </a:bodyPr>
          <a:lstStyle/>
          <a:p>
            <a:pPr marL="38100">
              <a:lnSpc>
                <a:spcPct val="100000"/>
              </a:lnSpc>
              <a:spcBef>
                <a:spcPts val="600"/>
              </a:spcBef>
            </a:pPr>
            <a:r>
              <a:rPr lang="zh-CN" altLang="en-US" sz="1100" b="1" spc="30" dirty="0">
                <a:latin typeface="微软雅黑" panose="020B0503020204020204" pitchFamily="34" charset="-122"/>
                <a:ea typeface="微软雅黑" panose="020B0503020204020204" pitchFamily="34" charset="-122"/>
                <a:cs typeface="Calibri" panose="020F0502020204030204"/>
              </a:rPr>
              <a:t>基本概念</a:t>
            </a:r>
            <a:r>
              <a:rPr sz="1100" i="1" spc="10" dirty="0">
                <a:latin typeface="微软雅黑" panose="020B0503020204020204" pitchFamily="34" charset="-122"/>
                <a:ea typeface="微软雅黑" panose="020B0503020204020204" pitchFamily="34" charset="-122"/>
                <a:cs typeface="Calibri" panose="020F0502020204030204"/>
              </a:rPr>
              <a:t>:</a:t>
            </a:r>
            <a:endParaRPr sz="1100" dirty="0">
              <a:latin typeface="微软雅黑" panose="020B0503020204020204" pitchFamily="34" charset="-122"/>
              <a:ea typeface="微软雅黑" panose="020B0503020204020204" pitchFamily="34" charset="-122"/>
              <a:cs typeface="Calibri" panose="020F0502020204030204"/>
            </a:endParaRPr>
          </a:p>
          <a:p>
            <a:pPr marL="314960" marR="50165" indent="-132715">
              <a:lnSpc>
                <a:spcPct val="103000"/>
              </a:lnSpc>
              <a:spcBef>
                <a:spcPts val="600"/>
              </a:spcBef>
              <a:buClr>
                <a:srgbClr val="3333B2"/>
              </a:buClr>
              <a:buSzPct val="91000"/>
              <a:buFont typeface="宋体" panose="02010600030101010101" pitchFamily="2" charset="-122"/>
              <a:buChar char="•"/>
              <a:tabLst>
                <a:tab pos="315595" algn="l"/>
              </a:tabLst>
            </a:pPr>
            <a:r>
              <a:rPr lang="zh-CN" altLang="en-US" sz="1100" spc="20" dirty="0">
                <a:latin typeface="微软雅黑" panose="020B0503020204020204" pitchFamily="34" charset="-122"/>
                <a:ea typeface="微软雅黑" panose="020B0503020204020204" pitchFamily="34" charset="-122"/>
                <a:cs typeface="Calibri" panose="020F0502020204030204"/>
              </a:rPr>
              <a:t>结果度量</a:t>
            </a:r>
            <a:r>
              <a:rPr sz="1100" spc="105" dirty="0">
                <a:latin typeface="微软雅黑" panose="020B0503020204020204" pitchFamily="34" charset="-122"/>
                <a:ea typeface="微软雅黑" panose="020B0503020204020204" pitchFamily="34" charset="-122"/>
                <a:cs typeface="Calibri" panose="020F0502020204030204"/>
              </a:rPr>
              <a:t> </a:t>
            </a:r>
            <a:r>
              <a:rPr sz="1100" i="1" spc="95" dirty="0">
                <a:latin typeface="微软雅黑" panose="020B0503020204020204" pitchFamily="34" charset="-122"/>
                <a:ea typeface="微软雅黑" panose="020B0503020204020204" pitchFamily="34" charset="-122"/>
                <a:cs typeface="Calibri" panose="020F0502020204030204"/>
              </a:rPr>
              <a:t>Y</a:t>
            </a:r>
            <a:r>
              <a:rPr lang="en-US" sz="1100" i="1" spc="345" dirty="0">
                <a:latin typeface="微软雅黑" panose="020B0503020204020204" pitchFamily="34" charset="-122"/>
                <a:ea typeface="微软雅黑" panose="020B0503020204020204" pitchFamily="34" charset="-122"/>
                <a:cs typeface="Calibri" panose="020F0502020204030204"/>
              </a:rPr>
              <a:t>,</a:t>
            </a:r>
            <a:r>
              <a:rPr lang="zh-CN" altLang="en-US" sz="1100" spc="20" dirty="0">
                <a:latin typeface="微软雅黑" panose="020B0503020204020204" pitchFamily="34" charset="-122"/>
                <a:ea typeface="微软雅黑" panose="020B0503020204020204" pitchFamily="34" charset="-122"/>
                <a:cs typeface="Calibri" panose="020F0502020204030204"/>
              </a:rPr>
              <a:t>也称作 因变量</a:t>
            </a:r>
            <a:r>
              <a:rPr lang="en-US" altLang="zh-CN" sz="1100" spc="20" dirty="0">
                <a:latin typeface="微软雅黑" panose="020B0503020204020204" pitchFamily="34" charset="-122"/>
                <a:ea typeface="微软雅黑" panose="020B0503020204020204" pitchFamily="34" charset="-122"/>
                <a:cs typeface="Calibri" panose="020F0502020204030204"/>
              </a:rPr>
              <a:t>(</a:t>
            </a:r>
            <a:r>
              <a:rPr lang="en-US" altLang="zh-CN" sz="1200" dirty="0">
                <a:solidFill>
                  <a:srgbClr val="004098"/>
                </a:solidFill>
                <a:latin typeface="微软雅黑" panose="020B0503020204020204" pitchFamily="34" charset="-122"/>
                <a:ea typeface="微软雅黑" panose="020B0503020204020204" pitchFamily="34" charset="-122"/>
                <a:cs typeface="Microsoft YaHei"/>
              </a:rPr>
              <a:t>dependent variable </a:t>
            </a:r>
            <a:r>
              <a:rPr lang="en-US" altLang="zh-CN" sz="1100" spc="20" dirty="0">
                <a:latin typeface="微软雅黑" panose="020B0503020204020204" pitchFamily="34" charset="-122"/>
                <a:ea typeface="微软雅黑" panose="020B0503020204020204" pitchFamily="34" charset="-122"/>
                <a:cs typeface="Calibri" panose="020F0502020204030204"/>
              </a:rPr>
              <a:t>)</a:t>
            </a:r>
            <a:r>
              <a:rPr lang="zh-CN" altLang="en-US" sz="1100" spc="20" dirty="0">
                <a:latin typeface="微软雅黑" panose="020B0503020204020204" pitchFamily="34" charset="-122"/>
                <a:ea typeface="微软雅黑" panose="020B0503020204020204" pitchFamily="34" charset="-122"/>
                <a:cs typeface="Calibri" panose="020F0502020204030204"/>
              </a:rPr>
              <a:t>，响应变量</a:t>
            </a:r>
            <a:r>
              <a:rPr lang="en-US" sz="1100" spc="20" dirty="0">
                <a:latin typeface="微软雅黑" panose="020B0503020204020204" pitchFamily="34" charset="-122"/>
                <a:ea typeface="微软雅黑" panose="020B0503020204020204" pitchFamily="34" charset="-122"/>
                <a:cs typeface="Calibri" panose="020F0502020204030204"/>
              </a:rPr>
              <a:t>(</a:t>
            </a:r>
            <a:r>
              <a:rPr sz="1200" dirty="0">
                <a:solidFill>
                  <a:srgbClr val="004098"/>
                </a:solidFill>
                <a:latin typeface="微软雅黑" panose="020B0503020204020204" pitchFamily="34" charset="-122"/>
                <a:ea typeface="微软雅黑" panose="020B0503020204020204" pitchFamily="34" charset="-122"/>
                <a:cs typeface="Microsoft YaHei"/>
              </a:rPr>
              <a:t>response</a:t>
            </a:r>
            <a:r>
              <a:rPr lang="en-US" sz="1100" spc="-5" dirty="0">
                <a:latin typeface="微软雅黑" panose="020B0503020204020204" pitchFamily="34" charset="-122"/>
                <a:ea typeface="微软雅黑" panose="020B0503020204020204" pitchFamily="34" charset="-122"/>
                <a:cs typeface="Calibri" panose="020F0502020204030204"/>
              </a:rPr>
              <a:t>)</a:t>
            </a:r>
            <a:r>
              <a:rPr sz="1100" spc="-5" dirty="0">
                <a:latin typeface="微软雅黑" panose="020B0503020204020204" pitchFamily="34" charset="-122"/>
                <a:ea typeface="微软雅黑" panose="020B0503020204020204" pitchFamily="34" charset="-122"/>
                <a:cs typeface="Calibri" panose="020F0502020204030204"/>
              </a:rPr>
              <a:t>,</a:t>
            </a:r>
            <a:r>
              <a:rPr lang="en-US" sz="1100" spc="105" dirty="0">
                <a:latin typeface="微软雅黑" panose="020B0503020204020204" pitchFamily="34" charset="-122"/>
                <a:ea typeface="微软雅黑" panose="020B0503020204020204" pitchFamily="34" charset="-122"/>
                <a:cs typeface="Calibri" panose="020F0502020204030204"/>
              </a:rPr>
              <a:t> </a:t>
            </a:r>
            <a:r>
              <a:rPr lang="zh-CN" altLang="en-US" sz="1100" spc="105" dirty="0">
                <a:latin typeface="微软雅黑" panose="020B0503020204020204" pitchFamily="34" charset="-122"/>
                <a:ea typeface="微软雅黑" panose="020B0503020204020204" pitchFamily="34" charset="-122"/>
                <a:cs typeface="Calibri" panose="020F0502020204030204"/>
              </a:rPr>
              <a:t>目标</a:t>
            </a:r>
            <a:r>
              <a:rPr lang="en-US" altLang="zh-CN" sz="1100" spc="105" dirty="0">
                <a:latin typeface="微软雅黑" panose="020B0503020204020204" pitchFamily="34" charset="-122"/>
                <a:ea typeface="微软雅黑" panose="020B0503020204020204" pitchFamily="34" charset="-122"/>
                <a:cs typeface="Calibri" panose="020F0502020204030204"/>
              </a:rPr>
              <a:t>(</a:t>
            </a:r>
            <a:r>
              <a:rPr sz="1200" dirty="0">
                <a:solidFill>
                  <a:srgbClr val="004098"/>
                </a:solidFill>
                <a:latin typeface="微软雅黑" panose="020B0503020204020204" pitchFamily="34" charset="-122"/>
                <a:ea typeface="微软雅黑" panose="020B0503020204020204" pitchFamily="34" charset="-122"/>
                <a:cs typeface="Microsoft YaHei"/>
              </a:rPr>
              <a:t>target</a:t>
            </a:r>
            <a:r>
              <a:rPr lang="en-US" sz="1100" spc="30" dirty="0">
                <a:latin typeface="微软雅黑" panose="020B0503020204020204" pitchFamily="34" charset="-122"/>
                <a:ea typeface="微软雅黑" panose="020B0503020204020204" pitchFamily="34" charset="-122"/>
                <a:cs typeface="Calibri" panose="020F0502020204030204"/>
              </a:rPr>
              <a:t>)</a:t>
            </a:r>
            <a:r>
              <a:rPr sz="1100" spc="30" dirty="0">
                <a:latin typeface="微软雅黑" panose="020B0503020204020204" pitchFamily="34" charset="-122"/>
                <a:ea typeface="微软雅黑" panose="020B0503020204020204" pitchFamily="34" charset="-122"/>
                <a:cs typeface="Calibri" panose="020F0502020204030204"/>
              </a:rPr>
              <a:t>.</a:t>
            </a:r>
            <a:endParaRPr sz="1100" dirty="0">
              <a:latin typeface="微软雅黑" panose="020B0503020204020204" pitchFamily="34" charset="-122"/>
              <a:ea typeface="微软雅黑" panose="020B0503020204020204" pitchFamily="34" charset="-122"/>
              <a:cs typeface="Calibri" panose="020F0502020204030204"/>
            </a:endParaRPr>
          </a:p>
          <a:p>
            <a:pPr marL="314960" marR="31750" indent="-132715">
              <a:lnSpc>
                <a:spcPct val="103000"/>
              </a:lnSpc>
              <a:spcBef>
                <a:spcPts val="600"/>
              </a:spcBef>
              <a:buClr>
                <a:srgbClr val="3333B2"/>
              </a:buClr>
              <a:buSzPct val="91000"/>
              <a:buFont typeface="宋体" panose="02010600030101010101" pitchFamily="2" charset="-122"/>
              <a:buChar char="•"/>
              <a:tabLst>
                <a:tab pos="315595" algn="l"/>
              </a:tabLst>
            </a:pPr>
            <a:r>
              <a:rPr lang="zh-CN" altLang="en-US" sz="1100" spc="15" dirty="0">
                <a:latin typeface="微软雅黑" panose="020B0503020204020204" pitchFamily="34" charset="-122"/>
                <a:ea typeface="微软雅黑" panose="020B0503020204020204" pitchFamily="34" charset="-122"/>
                <a:cs typeface="Calibri" panose="020F0502020204030204"/>
              </a:rPr>
              <a:t>预测变量</a:t>
            </a:r>
            <a:r>
              <a:rPr sz="1100" spc="5" dirty="0">
                <a:latin typeface="微软雅黑" panose="020B0503020204020204" pitchFamily="34" charset="-122"/>
                <a:ea typeface="微软雅黑" panose="020B0503020204020204" pitchFamily="34" charset="-122"/>
                <a:cs typeface="Calibri" panose="020F0502020204030204"/>
              </a:rPr>
              <a:t> </a:t>
            </a:r>
            <a:r>
              <a:rPr sz="1100" i="1" spc="330" dirty="0">
                <a:latin typeface="微软雅黑" panose="020B0503020204020204" pitchFamily="34" charset="-122"/>
                <a:ea typeface="微软雅黑" panose="020B0503020204020204" pitchFamily="34" charset="-122"/>
                <a:cs typeface="Calibri" panose="020F0502020204030204"/>
              </a:rPr>
              <a:t>X</a:t>
            </a:r>
            <a:r>
              <a:rPr lang="zh-CN" altLang="en-US" sz="1100" i="1" spc="330" dirty="0">
                <a:latin typeface="微软雅黑" panose="020B0503020204020204" pitchFamily="34" charset="-122"/>
                <a:ea typeface="微软雅黑" panose="020B0503020204020204" pitchFamily="34" charset="-122"/>
                <a:cs typeface="Calibri" panose="020F0502020204030204"/>
              </a:rPr>
              <a:t>，</a:t>
            </a:r>
            <a:r>
              <a:rPr lang="zh-CN" altLang="en-US" sz="1100" spc="330" dirty="0">
                <a:latin typeface="微软雅黑" panose="020B0503020204020204" pitchFamily="34" charset="-122"/>
                <a:ea typeface="微软雅黑" panose="020B0503020204020204" pitchFamily="34" charset="-122"/>
                <a:cs typeface="Calibri" panose="020F0502020204030204"/>
              </a:rPr>
              <a:t>也称作</a:t>
            </a:r>
            <a:r>
              <a:rPr lang="zh-CN" altLang="en-US" sz="1100" spc="20" dirty="0">
                <a:latin typeface="微软雅黑" panose="020B0503020204020204" pitchFamily="34" charset="-122"/>
                <a:ea typeface="微软雅黑" panose="020B0503020204020204" pitchFamily="34" charset="-122"/>
                <a:cs typeface="Calibri" panose="020F0502020204030204"/>
              </a:rPr>
              <a:t>输入</a:t>
            </a:r>
            <a:r>
              <a:rPr sz="1100" spc="30" dirty="0">
                <a:latin typeface="微软雅黑" panose="020B0503020204020204" pitchFamily="34" charset="-122"/>
                <a:ea typeface="微软雅黑" panose="020B0503020204020204" pitchFamily="34" charset="-122"/>
                <a:cs typeface="Calibri" panose="020F0502020204030204"/>
              </a:rPr>
              <a:t>, </a:t>
            </a:r>
            <a:r>
              <a:rPr lang="zh-CN" altLang="en-US" sz="1100" spc="30" dirty="0">
                <a:latin typeface="微软雅黑" panose="020B0503020204020204" pitchFamily="34" charset="-122"/>
                <a:ea typeface="微软雅黑" panose="020B0503020204020204" pitchFamily="34" charset="-122"/>
                <a:cs typeface="Calibri" panose="020F0502020204030204"/>
              </a:rPr>
              <a:t>协变量，属性，自变量</a:t>
            </a:r>
            <a:r>
              <a:rPr lang="en-US" sz="1100" spc="-235" dirty="0">
                <a:latin typeface="微软雅黑" panose="020B0503020204020204" pitchFamily="34" charset="-122"/>
                <a:ea typeface="微软雅黑" panose="020B0503020204020204" pitchFamily="34" charset="-122"/>
                <a:cs typeface="Calibri" panose="020F0502020204030204"/>
              </a:rPr>
              <a:t>( </a:t>
            </a:r>
            <a:r>
              <a:rPr sz="1200" dirty="0">
                <a:solidFill>
                  <a:srgbClr val="004098"/>
                </a:solidFill>
                <a:latin typeface="微软雅黑" panose="020B0503020204020204" pitchFamily="34" charset="-122"/>
                <a:ea typeface="微软雅黑" panose="020B0503020204020204" pitchFamily="34" charset="-122"/>
                <a:cs typeface="Microsoft YaHei"/>
              </a:rPr>
              <a:t>independent variables</a:t>
            </a:r>
            <a:r>
              <a:rPr sz="1100" spc="20" dirty="0">
                <a:latin typeface="微软雅黑" panose="020B0503020204020204" pitchFamily="34" charset="-122"/>
                <a:ea typeface="微软雅黑" panose="020B0503020204020204" pitchFamily="34" charset="-122"/>
                <a:cs typeface="Calibri" panose="020F0502020204030204"/>
              </a:rPr>
              <a:t>).</a:t>
            </a:r>
            <a:endParaRPr sz="1100" dirty="0">
              <a:latin typeface="微软雅黑" panose="020B0503020204020204" pitchFamily="34" charset="-122"/>
              <a:ea typeface="微软雅黑" panose="020B0503020204020204" pitchFamily="34" charset="-122"/>
              <a:cs typeface="Calibri" panose="020F0502020204030204"/>
            </a:endParaRPr>
          </a:p>
          <a:p>
            <a:pPr marL="314960" marR="267970" indent="-132715">
              <a:lnSpc>
                <a:spcPct val="103000"/>
              </a:lnSpc>
              <a:spcBef>
                <a:spcPts val="600"/>
              </a:spcBef>
              <a:buClr>
                <a:srgbClr val="3333B2"/>
              </a:buClr>
              <a:buSzPct val="91000"/>
              <a:buFont typeface="宋体" panose="02010600030101010101" pitchFamily="2" charset="-122"/>
              <a:buChar char="•"/>
              <a:tabLst>
                <a:tab pos="315595" algn="l"/>
              </a:tabLst>
            </a:pPr>
            <a:r>
              <a:rPr lang="zh-CN" altLang="en-US" sz="1100" spc="70" dirty="0">
                <a:latin typeface="微软雅黑" panose="020B0503020204020204" pitchFamily="34" charset="-122"/>
                <a:ea typeface="微软雅黑" panose="020B0503020204020204" pitchFamily="34" charset="-122"/>
                <a:cs typeface="Calibri" panose="020F0502020204030204"/>
              </a:rPr>
              <a:t>在一个回归</a:t>
            </a:r>
            <a:r>
              <a:rPr lang="en-US" altLang="zh-CN" sz="1100" spc="70" dirty="0">
                <a:latin typeface="微软雅黑" panose="020B0503020204020204" pitchFamily="34" charset="-122"/>
                <a:ea typeface="微软雅黑" panose="020B0503020204020204" pitchFamily="34" charset="-122"/>
                <a:cs typeface="Calibri" panose="020F0502020204030204"/>
              </a:rPr>
              <a:t>(</a:t>
            </a:r>
            <a:r>
              <a:rPr lang="en-US" altLang="zh-CN" sz="1100" dirty="0">
                <a:solidFill>
                  <a:srgbClr val="004098"/>
                </a:solidFill>
                <a:latin typeface="微软雅黑" panose="020B0503020204020204" pitchFamily="34" charset="-122"/>
                <a:ea typeface="微软雅黑" panose="020B0503020204020204" pitchFamily="34" charset="-122"/>
                <a:cs typeface="Calibri" panose="020F0502020204030204"/>
              </a:rPr>
              <a:t>regression</a:t>
            </a:r>
            <a:r>
              <a:rPr lang="en-US" altLang="zh-CN" sz="1100" spc="20" dirty="0">
                <a:latin typeface="微软雅黑" panose="020B0503020204020204" pitchFamily="34" charset="-122"/>
                <a:ea typeface="微软雅黑" panose="020B0503020204020204" pitchFamily="34" charset="-122"/>
                <a:cs typeface="Calibri" panose="020F0502020204030204"/>
              </a:rPr>
              <a:t>)</a:t>
            </a:r>
            <a:r>
              <a:rPr lang="zh-CN" altLang="en-US" sz="1100" spc="70" dirty="0">
                <a:latin typeface="微软雅黑" panose="020B0503020204020204" pitchFamily="34" charset="-122"/>
                <a:ea typeface="微软雅黑" panose="020B0503020204020204" pitchFamily="34" charset="-122"/>
                <a:cs typeface="Calibri" panose="020F0502020204030204"/>
              </a:rPr>
              <a:t>问题中，</a:t>
            </a:r>
            <a:r>
              <a:rPr lang="en-US" altLang="zh-CN" sz="1100" spc="70" dirty="0">
                <a:latin typeface="微软雅黑" panose="020B0503020204020204" pitchFamily="34" charset="-122"/>
                <a:ea typeface="微软雅黑" panose="020B0503020204020204" pitchFamily="34" charset="-122"/>
                <a:cs typeface="Calibri" panose="020F0502020204030204"/>
              </a:rPr>
              <a:t>Y</a:t>
            </a:r>
            <a:r>
              <a:rPr lang="zh-CN" altLang="en-US" sz="1100" spc="70" dirty="0">
                <a:latin typeface="微软雅黑" panose="020B0503020204020204" pitchFamily="34" charset="-122"/>
                <a:ea typeface="微软雅黑" panose="020B0503020204020204" pitchFamily="34" charset="-122"/>
                <a:cs typeface="Calibri" panose="020F0502020204030204"/>
              </a:rPr>
              <a:t>是连续数量类型</a:t>
            </a:r>
            <a:r>
              <a:rPr sz="1100" spc="120" dirty="0">
                <a:latin typeface="微软雅黑" panose="020B0503020204020204" pitchFamily="34" charset="-122"/>
                <a:ea typeface="微软雅黑" panose="020B0503020204020204" pitchFamily="34" charset="-122"/>
                <a:cs typeface="Calibri" panose="020F0502020204030204"/>
              </a:rPr>
              <a:t> </a:t>
            </a:r>
            <a:r>
              <a:rPr sz="1100" spc="15" dirty="0">
                <a:latin typeface="微软雅黑" panose="020B0503020204020204" pitchFamily="34" charset="-122"/>
                <a:ea typeface="微软雅黑" panose="020B0503020204020204" pitchFamily="34" charset="-122"/>
                <a:cs typeface="Calibri" panose="020F0502020204030204"/>
              </a:rPr>
              <a:t>(</a:t>
            </a:r>
            <a:r>
              <a:rPr sz="1100" spc="15" dirty="0" err="1">
                <a:latin typeface="微软雅黑" panose="020B0503020204020204" pitchFamily="34" charset="-122"/>
                <a:ea typeface="微软雅黑" panose="020B0503020204020204" pitchFamily="34" charset="-122"/>
                <a:cs typeface="Calibri" panose="020F0502020204030204"/>
              </a:rPr>
              <a:t>e.g</a:t>
            </a:r>
            <a:r>
              <a:rPr sz="1100" spc="120" dirty="0">
                <a:latin typeface="微软雅黑" panose="020B0503020204020204" pitchFamily="34" charset="-122"/>
                <a:ea typeface="微软雅黑" panose="020B0503020204020204" pitchFamily="34" charset="-122"/>
                <a:cs typeface="Calibri" panose="020F0502020204030204"/>
              </a:rPr>
              <a:t> </a:t>
            </a:r>
            <a:r>
              <a:rPr lang="zh-CN" altLang="en-US" sz="1100" spc="15" dirty="0">
                <a:latin typeface="微软雅黑" panose="020B0503020204020204" pitchFamily="34" charset="-122"/>
                <a:ea typeface="微软雅黑" panose="020B0503020204020204" pitchFamily="34" charset="-122"/>
                <a:cs typeface="Calibri" panose="020F0502020204030204"/>
              </a:rPr>
              <a:t>价格，血压</a:t>
            </a:r>
            <a:r>
              <a:rPr sz="1100" spc="10" dirty="0">
                <a:latin typeface="微软雅黑" panose="020B0503020204020204" pitchFamily="34" charset="-122"/>
                <a:ea typeface="微软雅黑" panose="020B0503020204020204" pitchFamily="34" charset="-122"/>
                <a:cs typeface="Calibri" panose="020F0502020204030204"/>
              </a:rPr>
              <a:t>).</a:t>
            </a:r>
            <a:endParaRPr sz="1100" dirty="0">
              <a:latin typeface="微软雅黑" panose="020B0503020204020204" pitchFamily="34" charset="-122"/>
              <a:ea typeface="微软雅黑" panose="020B0503020204020204" pitchFamily="34" charset="-122"/>
              <a:cs typeface="Calibri" panose="020F0502020204030204"/>
            </a:endParaRPr>
          </a:p>
          <a:p>
            <a:pPr marL="314960" marR="218440" indent="-132715" algn="just">
              <a:lnSpc>
                <a:spcPct val="103000"/>
              </a:lnSpc>
              <a:spcBef>
                <a:spcPts val="600"/>
              </a:spcBef>
              <a:buClr>
                <a:srgbClr val="3333B2"/>
              </a:buClr>
              <a:buSzPct val="91000"/>
              <a:buFont typeface="宋体" panose="02010600030101010101" pitchFamily="2" charset="-122"/>
              <a:buChar char="•"/>
              <a:tabLst>
                <a:tab pos="315595" algn="l"/>
              </a:tabLst>
            </a:pPr>
            <a:r>
              <a:rPr lang="zh-CN" altLang="en-US" sz="1100" spc="70" dirty="0">
                <a:latin typeface="微软雅黑" panose="020B0503020204020204" pitchFamily="34" charset="-122"/>
                <a:ea typeface="微软雅黑" panose="020B0503020204020204" pitchFamily="34" charset="-122"/>
                <a:cs typeface="Calibri" panose="020F0502020204030204"/>
              </a:rPr>
              <a:t>在一个分类（</a:t>
            </a:r>
            <a:r>
              <a:rPr sz="1100" spc="20" dirty="0">
                <a:solidFill>
                  <a:srgbClr val="004098"/>
                </a:solidFill>
                <a:latin typeface="微软雅黑" panose="020B0503020204020204" pitchFamily="34" charset="-122"/>
                <a:ea typeface="微软雅黑" panose="020B0503020204020204" pitchFamily="34" charset="-122"/>
                <a:cs typeface="Calibri" panose="020F0502020204030204"/>
              </a:rPr>
              <a:t>classification</a:t>
            </a:r>
            <a:r>
              <a:rPr lang="en-US" sz="1100" spc="20" dirty="0">
                <a:solidFill>
                  <a:schemeClr val="tx1">
                    <a:lumMod val="85000"/>
                    <a:lumOff val="15000"/>
                  </a:schemeClr>
                </a:solidFill>
                <a:latin typeface="微软雅黑" panose="020B0503020204020204" pitchFamily="34" charset="-122"/>
                <a:ea typeface="微软雅黑" panose="020B0503020204020204" pitchFamily="34" charset="-122"/>
                <a:cs typeface="Calibri" panose="020F0502020204030204"/>
              </a:rPr>
              <a:t>)</a:t>
            </a:r>
            <a:r>
              <a:rPr lang="zh-CN" altLang="en-US" sz="1100" spc="70" dirty="0">
                <a:latin typeface="微软雅黑" panose="020B0503020204020204" pitchFamily="34" charset="-122"/>
                <a:ea typeface="微软雅黑" panose="020B0503020204020204" pitchFamily="34" charset="-122"/>
                <a:cs typeface="Calibri" panose="020F0502020204030204"/>
              </a:rPr>
              <a:t>问题中</a:t>
            </a:r>
            <a:r>
              <a:rPr sz="1100" spc="-5" dirty="0">
                <a:latin typeface="微软雅黑" panose="020B0503020204020204" pitchFamily="34" charset="-122"/>
                <a:ea typeface="微软雅黑" panose="020B0503020204020204" pitchFamily="34" charset="-122"/>
                <a:cs typeface="Calibri" panose="020F0502020204030204"/>
              </a:rPr>
              <a:t>, </a:t>
            </a:r>
            <a:r>
              <a:rPr lang="en-US" altLang="zh-CN" sz="1100" spc="-5" dirty="0">
                <a:latin typeface="微软雅黑" panose="020B0503020204020204" pitchFamily="34" charset="-122"/>
                <a:ea typeface="微软雅黑" panose="020B0503020204020204" pitchFamily="34" charset="-122"/>
                <a:cs typeface="Calibri" panose="020F0502020204030204"/>
              </a:rPr>
              <a:t>Y</a:t>
            </a:r>
            <a:r>
              <a:rPr lang="zh-CN" altLang="en-US" sz="1100" spc="-5" dirty="0">
                <a:latin typeface="微软雅黑" panose="020B0503020204020204" pitchFamily="34" charset="-122"/>
                <a:ea typeface="微软雅黑" panose="020B0503020204020204" pitchFamily="34" charset="-122"/>
                <a:cs typeface="Calibri" panose="020F0502020204030204"/>
              </a:rPr>
              <a:t>是有限，无序的种类集合</a:t>
            </a:r>
            <a:r>
              <a:rPr sz="1100" spc="-5" dirty="0">
                <a:latin typeface="微软雅黑" panose="020B0503020204020204" pitchFamily="34" charset="-122"/>
                <a:ea typeface="微软雅黑" panose="020B0503020204020204" pitchFamily="34" charset="-122"/>
                <a:cs typeface="Calibri" panose="020F0502020204030204"/>
              </a:rPr>
              <a:t> </a:t>
            </a:r>
            <a:r>
              <a:rPr sz="1100" spc="30" dirty="0">
                <a:latin typeface="微软雅黑" panose="020B0503020204020204" pitchFamily="34" charset="-122"/>
                <a:ea typeface="微软雅黑" panose="020B0503020204020204" pitchFamily="34" charset="-122"/>
                <a:cs typeface="Calibri" panose="020F0502020204030204"/>
              </a:rPr>
              <a:t>(</a:t>
            </a:r>
            <a:r>
              <a:rPr lang="zh-CN" altLang="en-US" sz="1100" spc="30" dirty="0">
                <a:latin typeface="微软雅黑" panose="020B0503020204020204" pitchFamily="34" charset="-122"/>
                <a:ea typeface="微软雅黑" panose="020B0503020204020204" pitchFamily="34" charset="-122"/>
                <a:cs typeface="Calibri" panose="020F0502020204030204"/>
              </a:rPr>
              <a:t>生</a:t>
            </a:r>
            <a:r>
              <a:rPr sz="1100" spc="30" dirty="0">
                <a:latin typeface="微软雅黑" panose="020B0503020204020204" pitchFamily="34" charset="-122"/>
                <a:ea typeface="微软雅黑" panose="020B0503020204020204" pitchFamily="34" charset="-122"/>
                <a:cs typeface="Calibri" panose="020F0502020204030204"/>
              </a:rPr>
              <a:t>/</a:t>
            </a:r>
            <a:r>
              <a:rPr lang="zh-CN" altLang="en-US" sz="1100" spc="30" dirty="0">
                <a:latin typeface="微软雅黑" panose="020B0503020204020204" pitchFamily="34" charset="-122"/>
                <a:ea typeface="微软雅黑" panose="020B0503020204020204" pitchFamily="34" charset="-122"/>
                <a:cs typeface="Calibri" panose="020F0502020204030204"/>
              </a:rPr>
              <a:t>死</a:t>
            </a:r>
            <a:r>
              <a:rPr sz="1100" spc="30" dirty="0">
                <a:latin typeface="微软雅黑" panose="020B0503020204020204" pitchFamily="34" charset="-122"/>
                <a:ea typeface="微软雅黑" panose="020B0503020204020204" pitchFamily="34" charset="-122"/>
                <a:cs typeface="Calibri" panose="020F0502020204030204"/>
              </a:rPr>
              <a:t>, </a:t>
            </a:r>
            <a:r>
              <a:rPr lang="zh-CN" altLang="en-US" sz="1100" spc="40" dirty="0">
                <a:latin typeface="微软雅黑" panose="020B0503020204020204" pitchFamily="34" charset="-122"/>
                <a:ea typeface="微软雅黑" panose="020B0503020204020204" pitchFamily="34" charset="-122"/>
                <a:cs typeface="Calibri" panose="020F0502020204030204"/>
              </a:rPr>
              <a:t>数字</a:t>
            </a:r>
            <a:r>
              <a:rPr sz="1100" spc="5" dirty="0">
                <a:latin typeface="微软雅黑" panose="020B0503020204020204" pitchFamily="34" charset="-122"/>
                <a:ea typeface="微软雅黑" panose="020B0503020204020204" pitchFamily="34" charset="-122"/>
                <a:cs typeface="Calibri" panose="020F0502020204030204"/>
              </a:rPr>
              <a:t>0-9, </a:t>
            </a:r>
            <a:r>
              <a:rPr lang="zh-CN" altLang="en-US" sz="1100" spc="5" dirty="0">
                <a:latin typeface="微软雅黑" panose="020B0503020204020204" pitchFamily="34" charset="-122"/>
                <a:ea typeface="微软雅黑" panose="020B0503020204020204" pitchFamily="34" charset="-122"/>
                <a:cs typeface="Calibri" panose="020F0502020204030204"/>
              </a:rPr>
              <a:t>癌症类型</a:t>
            </a:r>
            <a:r>
              <a:rPr sz="1100" spc="20" dirty="0">
                <a:latin typeface="微软雅黑" panose="020B0503020204020204" pitchFamily="34" charset="-122"/>
                <a:ea typeface="微软雅黑" panose="020B0503020204020204" pitchFamily="34" charset="-122"/>
                <a:cs typeface="Calibri" panose="020F0502020204030204"/>
              </a:rPr>
              <a:t>).</a:t>
            </a:r>
            <a:endParaRPr sz="1100" dirty="0">
              <a:latin typeface="微软雅黑" panose="020B0503020204020204" pitchFamily="34" charset="-122"/>
              <a:ea typeface="微软雅黑" panose="020B0503020204020204" pitchFamily="34" charset="-122"/>
              <a:cs typeface="Calibri" panose="020F0502020204030204"/>
            </a:endParaRPr>
          </a:p>
          <a:p>
            <a:pPr marL="314960" marR="17780" indent="-132715" algn="just">
              <a:lnSpc>
                <a:spcPct val="103000"/>
              </a:lnSpc>
              <a:spcBef>
                <a:spcPts val="600"/>
              </a:spcBef>
              <a:buClr>
                <a:srgbClr val="3333B2"/>
              </a:buClr>
              <a:buSzPct val="91000"/>
              <a:buFont typeface="宋体" panose="02010600030101010101" pitchFamily="2" charset="-122"/>
              <a:buChar char="•"/>
              <a:tabLst>
                <a:tab pos="315595" algn="l"/>
              </a:tabLst>
            </a:pPr>
            <a:r>
              <a:rPr lang="zh-CN" altLang="en-US" sz="1100" spc="-10" dirty="0">
                <a:latin typeface="微软雅黑" panose="020B0503020204020204" pitchFamily="34" charset="-122"/>
                <a:ea typeface="微软雅黑" panose="020B0503020204020204" pitchFamily="34" charset="-122"/>
                <a:cs typeface="Calibri" panose="020F0502020204030204"/>
              </a:rPr>
              <a:t>监督学习就是训练数据</a:t>
            </a:r>
            <a:r>
              <a:rPr sz="1100" spc="25" dirty="0">
                <a:latin typeface="微软雅黑" panose="020B0503020204020204" pitchFamily="34" charset="-122"/>
                <a:ea typeface="微软雅黑" panose="020B0503020204020204" pitchFamily="34" charset="-122"/>
                <a:cs typeface="Calibri" panose="020F0502020204030204"/>
              </a:rPr>
              <a:t> </a:t>
            </a:r>
            <a:r>
              <a:rPr sz="1100" spc="75" dirty="0">
                <a:latin typeface="微软雅黑" panose="020B0503020204020204" pitchFamily="34" charset="-122"/>
                <a:ea typeface="微软雅黑" panose="020B0503020204020204" pitchFamily="34" charset="-122"/>
                <a:cs typeface="Calibri" panose="020F0502020204030204"/>
              </a:rPr>
              <a:t>(</a:t>
            </a:r>
            <a:r>
              <a:rPr sz="1100" i="1" spc="75" dirty="0">
                <a:latin typeface="微软雅黑" panose="020B0503020204020204" pitchFamily="34" charset="-122"/>
                <a:ea typeface="微软雅黑" panose="020B0503020204020204" pitchFamily="34" charset="-122"/>
                <a:cs typeface="Calibri" panose="020F0502020204030204"/>
              </a:rPr>
              <a:t>x</a:t>
            </a:r>
            <a:r>
              <a:rPr sz="1200" spc="112" baseline="-10000" dirty="0">
                <a:latin typeface="微软雅黑" panose="020B0503020204020204" pitchFamily="34" charset="-122"/>
                <a:ea typeface="微软雅黑" panose="020B0503020204020204" pitchFamily="34" charset="-122"/>
                <a:cs typeface="Trebuchet MS" panose="020B0603020202020204"/>
              </a:rPr>
              <a:t>1</a:t>
            </a:r>
            <a:r>
              <a:rPr sz="1100" i="1" spc="75" dirty="0">
                <a:latin typeface="微软雅黑" panose="020B0503020204020204" pitchFamily="34" charset="-122"/>
                <a:ea typeface="微软雅黑" panose="020B0503020204020204" pitchFamily="34" charset="-122"/>
                <a:cs typeface="Calibri" panose="020F0502020204030204"/>
              </a:rPr>
              <a:t>, </a:t>
            </a:r>
            <a:r>
              <a:rPr sz="1100" i="1" spc="50" dirty="0">
                <a:latin typeface="微软雅黑" panose="020B0503020204020204" pitchFamily="34" charset="-122"/>
                <a:ea typeface="微软雅黑" panose="020B0503020204020204" pitchFamily="34" charset="-122"/>
                <a:cs typeface="Calibri" panose="020F0502020204030204"/>
              </a:rPr>
              <a:t>y</a:t>
            </a:r>
            <a:r>
              <a:rPr sz="1200" spc="75" baseline="-10000" dirty="0">
                <a:latin typeface="微软雅黑" panose="020B0503020204020204" pitchFamily="34" charset="-122"/>
                <a:ea typeface="微软雅黑" panose="020B0503020204020204" pitchFamily="34" charset="-122"/>
                <a:cs typeface="Trebuchet MS" panose="020B0603020202020204"/>
              </a:rPr>
              <a:t>1</a:t>
            </a:r>
            <a:r>
              <a:rPr sz="1100" spc="50" dirty="0">
                <a:latin typeface="微软雅黑" panose="020B0503020204020204" pitchFamily="34" charset="-122"/>
                <a:ea typeface="微软雅黑" panose="020B0503020204020204" pitchFamily="34" charset="-122"/>
                <a:cs typeface="Calibri" panose="020F0502020204030204"/>
              </a:rPr>
              <a:t>)</a:t>
            </a:r>
            <a:r>
              <a:rPr sz="1100" i="1" spc="50" dirty="0">
                <a:latin typeface="微软雅黑" panose="020B0503020204020204" pitchFamily="34" charset="-122"/>
                <a:ea typeface="微软雅黑" panose="020B0503020204020204" pitchFamily="34" charset="-122"/>
                <a:cs typeface="Calibri" panose="020F0502020204030204"/>
              </a:rPr>
              <a:t>, </a:t>
            </a:r>
            <a:r>
              <a:rPr sz="1100" i="1" spc="20" dirty="0">
                <a:latin typeface="微软雅黑" panose="020B0503020204020204" pitchFamily="34" charset="-122"/>
                <a:ea typeface="微软雅黑" panose="020B0503020204020204" pitchFamily="34" charset="-122"/>
                <a:cs typeface="Calibri" panose="020F0502020204030204"/>
              </a:rPr>
              <a:t>. . . </a:t>
            </a:r>
            <a:r>
              <a:rPr sz="1100" i="1" spc="25" dirty="0">
                <a:latin typeface="微软雅黑" panose="020B0503020204020204" pitchFamily="34" charset="-122"/>
                <a:ea typeface="微软雅黑" panose="020B0503020204020204" pitchFamily="34" charset="-122"/>
                <a:cs typeface="Calibri" panose="020F0502020204030204"/>
              </a:rPr>
              <a:t>, </a:t>
            </a:r>
            <a:r>
              <a:rPr sz="1100" spc="100" dirty="0">
                <a:latin typeface="微软雅黑" panose="020B0503020204020204" pitchFamily="34" charset="-122"/>
                <a:ea typeface="微软雅黑" panose="020B0503020204020204" pitchFamily="34" charset="-122"/>
                <a:cs typeface="Calibri" panose="020F0502020204030204"/>
              </a:rPr>
              <a:t>(</a:t>
            </a:r>
            <a:r>
              <a:rPr sz="1100" i="1" spc="100" dirty="0">
                <a:latin typeface="微软雅黑" panose="020B0503020204020204" pitchFamily="34" charset="-122"/>
                <a:ea typeface="微软雅黑" panose="020B0503020204020204" pitchFamily="34" charset="-122"/>
                <a:cs typeface="Calibri" panose="020F0502020204030204"/>
              </a:rPr>
              <a:t>x</a:t>
            </a:r>
            <a:r>
              <a:rPr sz="1200" i="1" spc="150" baseline="-10000" dirty="0">
                <a:latin typeface="微软雅黑" panose="020B0503020204020204" pitchFamily="34" charset="-122"/>
                <a:ea typeface="微软雅黑" panose="020B0503020204020204" pitchFamily="34" charset="-122"/>
                <a:cs typeface="Verdana" panose="020B0604030504040204"/>
              </a:rPr>
              <a:t>N </a:t>
            </a:r>
            <a:r>
              <a:rPr sz="1100" i="1" spc="25" dirty="0">
                <a:latin typeface="微软雅黑" panose="020B0503020204020204" pitchFamily="34" charset="-122"/>
                <a:ea typeface="微软雅黑" panose="020B0503020204020204" pitchFamily="34" charset="-122"/>
                <a:cs typeface="Calibri" panose="020F0502020204030204"/>
              </a:rPr>
              <a:t>, </a:t>
            </a:r>
            <a:r>
              <a:rPr sz="1100" i="1" spc="55" dirty="0" err="1">
                <a:latin typeface="微软雅黑" panose="020B0503020204020204" pitchFamily="34" charset="-122"/>
                <a:ea typeface="微软雅黑" panose="020B0503020204020204" pitchFamily="34" charset="-122"/>
                <a:cs typeface="Calibri" panose="020F0502020204030204"/>
              </a:rPr>
              <a:t>y</a:t>
            </a:r>
            <a:r>
              <a:rPr sz="1200" i="1" spc="82" baseline="-10000" dirty="0" err="1">
                <a:latin typeface="微软雅黑" panose="020B0503020204020204" pitchFamily="34" charset="-122"/>
                <a:ea typeface="微软雅黑" panose="020B0503020204020204" pitchFamily="34" charset="-122"/>
                <a:cs typeface="Verdana" panose="020B0604030504040204"/>
              </a:rPr>
              <a:t>N</a:t>
            </a:r>
            <a:r>
              <a:rPr sz="1200" i="1" spc="82" baseline="-10000" dirty="0">
                <a:latin typeface="微软雅黑" panose="020B0503020204020204" pitchFamily="34" charset="-122"/>
                <a:ea typeface="微软雅黑" panose="020B0503020204020204" pitchFamily="34" charset="-122"/>
                <a:cs typeface="Verdana" panose="020B0604030504040204"/>
              </a:rPr>
              <a:t> </a:t>
            </a:r>
            <a:r>
              <a:rPr sz="1100" spc="55" dirty="0">
                <a:latin typeface="微软雅黑" panose="020B0503020204020204" pitchFamily="34" charset="-122"/>
                <a:ea typeface="微软雅黑" panose="020B0503020204020204" pitchFamily="34" charset="-122"/>
                <a:cs typeface="Calibri" panose="020F0502020204030204"/>
              </a:rPr>
              <a:t>)</a:t>
            </a:r>
            <a:r>
              <a:rPr lang="zh-CN" altLang="en-US" sz="1100" spc="55" dirty="0">
                <a:latin typeface="微软雅黑" panose="020B0503020204020204" pitchFamily="34" charset="-122"/>
                <a:ea typeface="微软雅黑" panose="020B0503020204020204" pitchFamily="34" charset="-122"/>
                <a:cs typeface="Calibri" panose="020F0502020204030204"/>
              </a:rPr>
              <a:t>使之建立关系，使得可以通过</a:t>
            </a:r>
            <a:r>
              <a:rPr lang="en-US" altLang="zh-CN" sz="1100" spc="55" dirty="0">
                <a:latin typeface="微软雅黑" panose="020B0503020204020204" pitchFamily="34" charset="-122"/>
                <a:ea typeface="微软雅黑" panose="020B0503020204020204" pitchFamily="34" charset="-122"/>
                <a:cs typeface="Calibri" panose="020F0502020204030204"/>
              </a:rPr>
              <a:t>X</a:t>
            </a:r>
            <a:r>
              <a:rPr lang="zh-CN" altLang="en-US" sz="1100" spc="55" dirty="0">
                <a:latin typeface="微软雅黑" panose="020B0503020204020204" pitchFamily="34" charset="-122"/>
                <a:ea typeface="微软雅黑" panose="020B0503020204020204" pitchFamily="34" charset="-122"/>
                <a:cs typeface="Calibri" panose="020F0502020204030204"/>
              </a:rPr>
              <a:t>来预测</a:t>
            </a:r>
            <a:r>
              <a:rPr lang="en-US" altLang="zh-CN" sz="1100" spc="55" dirty="0">
                <a:latin typeface="微软雅黑" panose="020B0503020204020204" pitchFamily="34" charset="-122"/>
                <a:ea typeface="微软雅黑" panose="020B0503020204020204" pitchFamily="34" charset="-122"/>
                <a:cs typeface="Calibri" panose="020F0502020204030204"/>
              </a:rPr>
              <a:t>Y</a:t>
            </a:r>
            <a:r>
              <a:rPr lang="zh-CN" altLang="en-US" sz="1100" spc="55" dirty="0">
                <a:latin typeface="微软雅黑" panose="020B0503020204020204" pitchFamily="34" charset="-122"/>
                <a:ea typeface="微软雅黑" panose="020B0503020204020204" pitchFamily="34" charset="-122"/>
                <a:cs typeface="Calibri" panose="020F0502020204030204"/>
              </a:rPr>
              <a:t>。</a:t>
            </a:r>
            <a:endParaRPr sz="1100" dirty="0">
              <a:latin typeface="微软雅黑" panose="020B0503020204020204" pitchFamily="34" charset="-122"/>
              <a:ea typeface="微软雅黑" panose="020B0503020204020204" pitchFamily="34" charset="-122"/>
              <a:cs typeface="Calibri" panose="020F0502020204030204"/>
            </a:endParaRPr>
          </a:p>
        </p:txBody>
      </p:sp>
    </p:spTree>
    <p:extLst>
      <p:ext uri="{BB962C8B-B14F-4D97-AF65-F5344CB8AC3E}">
        <p14:creationId xmlns:p14="http://schemas.microsoft.com/office/powerpoint/2010/main" val="115643529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原创设计师QQ598969553      _2">
            <a:extLst>
              <a:ext uri="{FF2B5EF4-FFF2-40B4-BE49-F238E27FC236}">
                <a16:creationId xmlns="" xmlns:a16="http://schemas.microsoft.com/office/drawing/2014/main" id="{7C4725B1-D255-CC63-745B-0C08A542F8E6}"/>
              </a:ext>
            </a:extLst>
          </p:cNvPr>
          <p:cNvSpPr txBox="1"/>
          <p:nvPr/>
        </p:nvSpPr>
        <p:spPr>
          <a:xfrm>
            <a:off x="618435" y="185570"/>
            <a:ext cx="2267573" cy="204379"/>
          </a:xfrm>
          <a:prstGeom prst="rect">
            <a:avLst/>
          </a:prstGeom>
          <a:noFill/>
        </p:spPr>
        <p:txBody>
          <a:bodyPr wrap="square" lIns="34762" tIns="17381" rIns="34762" bIns="17381" rtlCol="0">
            <a:spAutoFit/>
          </a:bodyPr>
          <a:lstStyle/>
          <a:p>
            <a:r>
              <a:rPr lang="zh-CN" altLang="en-US" sz="1100" b="1" dirty="0">
                <a:latin typeface="微软雅黑" panose="020B0503020204020204" pitchFamily="34" charset="-122"/>
                <a:ea typeface="微软雅黑" panose="020B0503020204020204" pitchFamily="34" charset="-122"/>
              </a:rPr>
              <a:t>监督</a:t>
            </a:r>
            <a:r>
              <a:rPr lang="en-US" altLang="zh-CN" sz="1100" b="1" dirty="0">
                <a:latin typeface="微软雅黑" panose="020B0503020204020204" pitchFamily="34" charset="-122"/>
                <a:ea typeface="微软雅黑" panose="020B0503020204020204" pitchFamily="34" charset="-122"/>
              </a:rPr>
              <a:t>/</a:t>
            </a:r>
            <a:r>
              <a:rPr lang="zh-CN" altLang="en-US" sz="1100" b="1" dirty="0">
                <a:latin typeface="微软雅黑" panose="020B0503020204020204" pitchFamily="34" charset="-122"/>
                <a:ea typeface="微软雅黑" panose="020B0503020204020204" pitchFamily="34" charset="-122"/>
              </a:rPr>
              <a:t>指导学习的目标</a:t>
            </a:r>
          </a:p>
        </p:txBody>
      </p:sp>
      <p:grpSp>
        <p:nvGrpSpPr>
          <p:cNvPr id="68" name="原创设计师QQ598969553      _9">
            <a:extLst>
              <a:ext uri="{FF2B5EF4-FFF2-40B4-BE49-F238E27FC236}">
                <a16:creationId xmlns="" xmlns:a16="http://schemas.microsoft.com/office/drawing/2014/main" id="{EC33079E-1247-70DE-8763-3ACDD65E706D}"/>
              </a:ext>
            </a:extLst>
          </p:cNvPr>
          <p:cNvGrpSpPr/>
          <p:nvPr/>
        </p:nvGrpSpPr>
        <p:grpSpPr>
          <a:xfrm>
            <a:off x="188162" y="153558"/>
            <a:ext cx="304678" cy="243737"/>
            <a:chOff x="4268207" y="2118116"/>
            <a:chExt cx="2653566" cy="2214138"/>
          </a:xfrm>
        </p:grpSpPr>
        <p:grpSp>
          <p:nvGrpSpPr>
            <p:cNvPr id="69" name="组合 68">
              <a:extLst>
                <a:ext uri="{FF2B5EF4-FFF2-40B4-BE49-F238E27FC236}">
                  <a16:creationId xmlns="" xmlns:a16="http://schemas.microsoft.com/office/drawing/2014/main" id="{3866FBD5-A960-6794-8BA4-9DBBA9FC3AA3}"/>
                </a:ext>
              </a:extLst>
            </p:cNvPr>
            <p:cNvGrpSpPr/>
            <p:nvPr/>
          </p:nvGrpSpPr>
          <p:grpSpPr>
            <a:xfrm>
              <a:off x="4508674" y="2118116"/>
              <a:ext cx="2204282" cy="2204282"/>
              <a:chOff x="1517331" y="1125257"/>
              <a:chExt cx="2204282" cy="2204282"/>
            </a:xfrm>
          </p:grpSpPr>
          <p:sp>
            <p:nvSpPr>
              <p:cNvPr id="71" name="椭圆 70">
                <a:extLst>
                  <a:ext uri="{FF2B5EF4-FFF2-40B4-BE49-F238E27FC236}">
                    <a16:creationId xmlns="" xmlns:a16="http://schemas.microsoft.com/office/drawing/2014/main" id="{68A1054A-58A0-C11B-68D9-FA23D2B35325}"/>
                  </a:ext>
                </a:extLst>
              </p:cNvPr>
              <p:cNvSpPr/>
              <p:nvPr/>
            </p:nvSpPr>
            <p:spPr>
              <a:xfrm>
                <a:off x="1517331" y="1125257"/>
                <a:ext cx="2204282" cy="2204282"/>
              </a:xfrm>
              <a:prstGeom prst="ellipse">
                <a:avLst/>
              </a:prstGeom>
              <a:gradFill>
                <a:gsLst>
                  <a:gs pos="0">
                    <a:srgbClr val="EBEBEB"/>
                  </a:gs>
                  <a:gs pos="100000">
                    <a:srgbClr val="FEFEFE"/>
                  </a:gs>
                </a:gsLst>
                <a:lin ang="7530000" scaled="0"/>
              </a:gradFill>
              <a:ln w="12700">
                <a:solidFill>
                  <a:schemeClr val="bg1"/>
                </a:solidFill>
              </a:ln>
              <a:effectLst>
                <a:outerShdw blurRad="457200" dist="444500" dir="7800000" sx="89000" sy="89000" algn="tr" rotWithShape="0">
                  <a:prstClr val="black">
                    <a:alpha val="3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76">
                  <a:latin typeface="字体视界-NWE粗楷体" panose="02000500000000000000" pitchFamily="2" charset="-122"/>
                  <a:ea typeface="字体视界-NWE粗楷体" panose="02000500000000000000" pitchFamily="2" charset="-122"/>
                </a:endParaRPr>
              </a:p>
            </p:txBody>
          </p:sp>
          <p:sp>
            <p:nvSpPr>
              <p:cNvPr id="72" name="椭圆 71">
                <a:extLst>
                  <a:ext uri="{FF2B5EF4-FFF2-40B4-BE49-F238E27FC236}">
                    <a16:creationId xmlns="" xmlns:a16="http://schemas.microsoft.com/office/drawing/2014/main" id="{BFBCAB49-6A8C-B2B3-35ED-D6BBBED5CF8B}"/>
                  </a:ext>
                </a:extLst>
              </p:cNvPr>
              <p:cNvSpPr/>
              <p:nvPr/>
            </p:nvSpPr>
            <p:spPr>
              <a:xfrm>
                <a:off x="1719371" y="1344751"/>
                <a:ext cx="1800198" cy="1800200"/>
              </a:xfrm>
              <a:prstGeom prst="ellipse">
                <a:avLst/>
              </a:prstGeom>
              <a:solidFill>
                <a:srgbClr val="004098"/>
              </a:solidFill>
              <a:ln>
                <a:noFill/>
              </a:ln>
              <a:effectLst>
                <a:innerShdw blurRad="101600" dist="50800" dir="18900000">
                  <a:prstClr val="black">
                    <a:alpha val="43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76">
                  <a:latin typeface="字体视界-NWE粗楷体" panose="02000500000000000000" pitchFamily="2" charset="-122"/>
                  <a:ea typeface="字体视界-NWE粗楷体" panose="02000500000000000000" pitchFamily="2" charset="-122"/>
                </a:endParaRPr>
              </a:p>
            </p:txBody>
          </p:sp>
        </p:grpSp>
        <p:sp>
          <p:nvSpPr>
            <p:cNvPr id="70" name="TextBox 80">
              <a:extLst>
                <a:ext uri="{FF2B5EF4-FFF2-40B4-BE49-F238E27FC236}">
                  <a16:creationId xmlns="" xmlns:a16="http://schemas.microsoft.com/office/drawing/2014/main" id="{7A547AF7-EE79-5DEF-44B1-CF755100FDCC}"/>
                </a:ext>
              </a:extLst>
            </p:cNvPr>
            <p:cNvSpPr txBox="1"/>
            <p:nvPr/>
          </p:nvSpPr>
          <p:spPr>
            <a:xfrm>
              <a:off x="4268207" y="2408917"/>
              <a:ext cx="2653566" cy="1923337"/>
            </a:xfrm>
            <a:prstGeom prst="rect">
              <a:avLst/>
            </a:prstGeom>
            <a:noFill/>
          </p:spPr>
          <p:txBody>
            <a:bodyPr wrap="square" rtlCol="0">
              <a:spAutoFit/>
            </a:bodyPr>
            <a:lstStyle/>
            <a:p>
              <a:r>
                <a:rPr lang="en-US" altLang="zh-CN" sz="776" dirty="0">
                  <a:solidFill>
                    <a:schemeClr val="bg1"/>
                  </a:solidFill>
                  <a:latin typeface="字体视界-NWE粗楷体" panose="02000500000000000000" pitchFamily="2" charset="-122"/>
                  <a:ea typeface="字体视界-NWE粗楷体" panose="02000500000000000000" pitchFamily="2" charset="-122"/>
                </a:rPr>
                <a:t>03</a:t>
              </a:r>
            </a:p>
          </p:txBody>
        </p:sp>
      </p:grpSp>
      <p:sp>
        <p:nvSpPr>
          <p:cNvPr id="73" name="原创设计师QQ598969553      _12">
            <a:extLst>
              <a:ext uri="{FF2B5EF4-FFF2-40B4-BE49-F238E27FC236}">
                <a16:creationId xmlns="" xmlns:a16="http://schemas.microsoft.com/office/drawing/2014/main" id="{760473EF-0D78-F124-1B4B-A4A3255E7476}"/>
              </a:ext>
            </a:extLst>
          </p:cNvPr>
          <p:cNvSpPr>
            <a:spLocks noChangeShapeType="1"/>
          </p:cNvSpPr>
          <p:nvPr/>
        </p:nvSpPr>
        <p:spPr bwMode="auto">
          <a:xfrm flipH="1" flipV="1">
            <a:off x="543649" y="130604"/>
            <a:ext cx="0" cy="307269"/>
          </a:xfrm>
          <a:prstGeom prst="line">
            <a:avLst/>
          </a:prstGeom>
          <a:noFill/>
          <a:ln w="19050">
            <a:solidFill>
              <a:srgbClr val="004098"/>
            </a:solidFill>
            <a:prstDash val="dash"/>
            <a:round/>
          </a:ln>
          <a:extLst>
            <a:ext uri="{909E8E84-426E-40DD-AFC4-6F175D3DCCD1}">
              <a14:hiddenFill xmlns:a14="http://schemas.microsoft.com/office/drawing/2010/main">
                <a:noFill/>
              </a14:hiddenFill>
            </a:ext>
          </a:extLst>
        </p:spPr>
        <p:txBody>
          <a:bodyPr/>
          <a:lstStyle/>
          <a:p>
            <a:endParaRPr lang="zh-CN" altLang="en-US" sz="776" dirty="0"/>
          </a:p>
        </p:txBody>
      </p:sp>
      <p:sp>
        <p:nvSpPr>
          <p:cNvPr id="74" name="矩形: 圆角 18">
            <a:extLst>
              <a:ext uri="{FF2B5EF4-FFF2-40B4-BE49-F238E27FC236}">
                <a16:creationId xmlns="" xmlns:a16="http://schemas.microsoft.com/office/drawing/2014/main" id="{7C923056-96D1-FDBC-A663-A1F8635BC91E}"/>
              </a:ext>
            </a:extLst>
          </p:cNvPr>
          <p:cNvSpPr/>
          <p:nvPr/>
        </p:nvSpPr>
        <p:spPr>
          <a:xfrm flipV="1">
            <a:off x="140988" y="434975"/>
            <a:ext cx="2164062" cy="31919"/>
          </a:xfrm>
          <a:prstGeom prst="roundRect">
            <a:avLst>
              <a:gd name="adj" fmla="val 50000"/>
            </a:avLst>
          </a:prstGeom>
          <a:solidFill>
            <a:srgbClr val="0040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90">
              <a:solidFill>
                <a:srgbClr val="004098"/>
              </a:solidFill>
              <a:latin typeface="字体视界-NWE粗楷体" panose="02000500000000000000" pitchFamily="2" charset="-122"/>
              <a:ea typeface="字体视界-NWE粗楷体" panose="02000500000000000000" pitchFamily="2" charset="-122"/>
            </a:endParaRPr>
          </a:p>
        </p:txBody>
      </p:sp>
      <p:sp>
        <p:nvSpPr>
          <p:cNvPr id="2" name="object 3">
            <a:extLst>
              <a:ext uri="{FF2B5EF4-FFF2-40B4-BE49-F238E27FC236}">
                <a16:creationId xmlns="" xmlns:a16="http://schemas.microsoft.com/office/drawing/2014/main" id="{6E75C70F-7FF6-AEDE-3C81-EF91346B0117}"/>
              </a:ext>
            </a:extLst>
          </p:cNvPr>
          <p:cNvSpPr txBox="1"/>
          <p:nvPr/>
        </p:nvSpPr>
        <p:spPr>
          <a:xfrm>
            <a:off x="577939" y="1229597"/>
            <a:ext cx="3628390" cy="1001556"/>
          </a:xfrm>
          <a:prstGeom prst="rect">
            <a:avLst/>
          </a:prstGeom>
        </p:spPr>
        <p:txBody>
          <a:bodyPr vert="horz" wrap="square" lIns="0" tIns="11430" rIns="0" bIns="0" rtlCol="0">
            <a:spAutoFit/>
          </a:bodyPr>
          <a:lstStyle/>
          <a:p>
            <a:pPr marL="12700">
              <a:lnSpc>
                <a:spcPct val="100000"/>
              </a:lnSpc>
              <a:spcBef>
                <a:spcPts val="90"/>
              </a:spcBef>
            </a:pPr>
            <a:r>
              <a:rPr lang="zh-CN" altLang="en-US" sz="1100" spc="70" dirty="0">
                <a:latin typeface="Calibri" panose="020F0502020204030204"/>
                <a:cs typeface="Calibri" panose="020F0502020204030204"/>
              </a:rPr>
              <a:t>基于数据训练，我们希望</a:t>
            </a:r>
            <a:r>
              <a:rPr sz="1100" spc="5" dirty="0">
                <a:latin typeface="Calibri" panose="020F0502020204030204"/>
                <a:cs typeface="Calibri" panose="020F0502020204030204"/>
              </a:rPr>
              <a:t>:</a:t>
            </a:r>
            <a:endParaRPr sz="1100" dirty="0">
              <a:latin typeface="Calibri" panose="020F0502020204030204"/>
              <a:cs typeface="Calibri" panose="020F0502020204030204"/>
            </a:endParaRPr>
          </a:p>
          <a:p>
            <a:pPr>
              <a:lnSpc>
                <a:spcPct val="100000"/>
              </a:lnSpc>
              <a:spcBef>
                <a:spcPts val="55"/>
              </a:spcBef>
            </a:pPr>
            <a:endParaRPr sz="1450" dirty="0">
              <a:latin typeface="Calibri" panose="020F0502020204030204"/>
              <a:cs typeface="Calibri" panose="020F0502020204030204"/>
            </a:endParaRPr>
          </a:p>
          <a:p>
            <a:pPr marL="289560" indent="-133350">
              <a:lnSpc>
                <a:spcPct val="100000"/>
              </a:lnSpc>
              <a:buClr>
                <a:srgbClr val="3333B2"/>
              </a:buClr>
              <a:buSzPct val="91000"/>
              <a:buFont typeface="宋体" panose="02010600030101010101" pitchFamily="2" charset="-122"/>
              <a:buChar char="•"/>
              <a:tabLst>
                <a:tab pos="290195" algn="l"/>
              </a:tabLst>
            </a:pPr>
            <a:r>
              <a:rPr lang="zh-CN" altLang="en-US" sz="1100" spc="40" dirty="0">
                <a:latin typeface="Calibri" panose="020F0502020204030204"/>
                <a:cs typeface="Calibri" panose="020F0502020204030204"/>
              </a:rPr>
              <a:t>准确地</a:t>
            </a:r>
            <a:r>
              <a:rPr lang="zh-CN" altLang="en-US" sz="1100" b="1" u="sng" spc="40" dirty="0">
                <a:solidFill>
                  <a:srgbClr val="004098"/>
                </a:solidFill>
                <a:latin typeface="Calibri" panose="020F0502020204030204"/>
                <a:cs typeface="Calibri" panose="020F0502020204030204"/>
              </a:rPr>
              <a:t>预测</a:t>
            </a:r>
            <a:r>
              <a:rPr lang="zh-CN" altLang="en-US" sz="1100" spc="40" dirty="0">
                <a:latin typeface="Calibri" panose="020F0502020204030204"/>
                <a:cs typeface="Calibri" panose="020F0502020204030204"/>
              </a:rPr>
              <a:t>未可见地测试实例</a:t>
            </a:r>
            <a:r>
              <a:rPr sz="1100" spc="-5" dirty="0">
                <a:latin typeface="Calibri" panose="020F0502020204030204"/>
                <a:cs typeface="Calibri" panose="020F0502020204030204"/>
              </a:rPr>
              <a:t>.</a:t>
            </a:r>
            <a:endParaRPr sz="1100" dirty="0">
              <a:latin typeface="Calibri" panose="020F0502020204030204"/>
              <a:cs typeface="Calibri" panose="020F0502020204030204"/>
            </a:endParaRPr>
          </a:p>
          <a:p>
            <a:pPr marL="289560" indent="-133350">
              <a:lnSpc>
                <a:spcPct val="100000"/>
              </a:lnSpc>
              <a:spcBef>
                <a:spcPts val="335"/>
              </a:spcBef>
              <a:buClr>
                <a:srgbClr val="3333B2"/>
              </a:buClr>
              <a:buSzPct val="91000"/>
              <a:buFont typeface="宋体" panose="02010600030101010101" pitchFamily="2" charset="-122"/>
              <a:buChar char="•"/>
              <a:tabLst>
                <a:tab pos="290195" algn="l"/>
              </a:tabLst>
            </a:pPr>
            <a:r>
              <a:rPr lang="zh-CN" altLang="en-US" sz="1100" b="1" u="sng" spc="25" dirty="0">
                <a:solidFill>
                  <a:srgbClr val="004098"/>
                </a:solidFill>
                <a:latin typeface="Calibri" panose="020F0502020204030204"/>
                <a:cs typeface="Calibri" panose="020F0502020204030204"/>
              </a:rPr>
              <a:t>理解</a:t>
            </a:r>
            <a:r>
              <a:rPr lang="zh-CN" altLang="en-US" sz="1100" spc="25" dirty="0">
                <a:latin typeface="Calibri" panose="020F0502020204030204"/>
                <a:cs typeface="Calibri" panose="020F0502020204030204"/>
              </a:rPr>
              <a:t>输入哪些变量</a:t>
            </a:r>
            <a:r>
              <a:rPr lang="en-US" altLang="zh-CN" sz="1100" spc="25" dirty="0">
                <a:latin typeface="Calibri" panose="020F0502020204030204"/>
                <a:cs typeface="Calibri" panose="020F0502020204030204"/>
              </a:rPr>
              <a:t>X</a:t>
            </a:r>
            <a:r>
              <a:rPr lang="zh-CN" altLang="en-US" sz="1100" spc="25" dirty="0">
                <a:latin typeface="Calibri" panose="020F0502020204030204"/>
                <a:cs typeface="Calibri" panose="020F0502020204030204"/>
              </a:rPr>
              <a:t>可以影响结果</a:t>
            </a:r>
            <a:r>
              <a:rPr lang="en-US" altLang="zh-CN" sz="1100" spc="25" dirty="0">
                <a:latin typeface="Calibri" panose="020F0502020204030204"/>
                <a:cs typeface="Calibri" panose="020F0502020204030204"/>
              </a:rPr>
              <a:t>Y</a:t>
            </a:r>
            <a:r>
              <a:rPr lang="zh-CN" altLang="en-US" sz="1100" spc="25" dirty="0">
                <a:latin typeface="Calibri" panose="020F0502020204030204"/>
                <a:cs typeface="Calibri" panose="020F0502020204030204"/>
              </a:rPr>
              <a:t>，如何影响？</a:t>
            </a:r>
            <a:endParaRPr sz="1100" dirty="0">
              <a:latin typeface="Calibri" panose="020F0502020204030204"/>
              <a:cs typeface="Calibri" panose="020F0502020204030204"/>
            </a:endParaRPr>
          </a:p>
          <a:p>
            <a:pPr marL="289560" indent="-133350">
              <a:lnSpc>
                <a:spcPct val="100000"/>
              </a:lnSpc>
              <a:spcBef>
                <a:spcPts val="335"/>
              </a:spcBef>
              <a:buClr>
                <a:srgbClr val="3333B2"/>
              </a:buClr>
              <a:buSzPct val="91000"/>
              <a:buFont typeface="宋体" panose="02010600030101010101" pitchFamily="2" charset="-122"/>
              <a:buChar char="•"/>
              <a:tabLst>
                <a:tab pos="290195" algn="l"/>
              </a:tabLst>
            </a:pPr>
            <a:r>
              <a:rPr lang="zh-CN" altLang="en-US" sz="1100" b="1" u="sng" spc="15" dirty="0">
                <a:solidFill>
                  <a:srgbClr val="004098"/>
                </a:solidFill>
                <a:latin typeface="Calibri" panose="020F0502020204030204"/>
                <a:cs typeface="Calibri" panose="020F0502020204030204"/>
              </a:rPr>
              <a:t>评价</a:t>
            </a:r>
            <a:r>
              <a:rPr lang="zh-CN" altLang="en-US" sz="1100" spc="15" dirty="0">
                <a:latin typeface="Calibri" panose="020F0502020204030204"/>
                <a:cs typeface="Calibri" panose="020F0502020204030204"/>
              </a:rPr>
              <a:t>模型预测和推论的效果或者质量</a:t>
            </a:r>
            <a:r>
              <a:rPr sz="1100" spc="-5" dirty="0">
                <a:latin typeface="Calibri" panose="020F0502020204030204"/>
                <a:cs typeface="Calibri" panose="020F0502020204030204"/>
              </a:rPr>
              <a:t>.</a:t>
            </a:r>
            <a:endParaRPr sz="1100" dirty="0">
              <a:latin typeface="Calibri" panose="020F0502020204030204"/>
              <a:cs typeface="Calibri" panose="020F0502020204030204"/>
            </a:endParaRPr>
          </a:p>
        </p:txBody>
      </p:sp>
    </p:spTree>
    <p:extLst>
      <p:ext uri="{BB962C8B-B14F-4D97-AF65-F5344CB8AC3E}">
        <p14:creationId xmlns:p14="http://schemas.microsoft.com/office/powerpoint/2010/main" val="43729008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原创设计师QQ598969553      _2">
            <a:extLst>
              <a:ext uri="{FF2B5EF4-FFF2-40B4-BE49-F238E27FC236}">
                <a16:creationId xmlns="" xmlns:a16="http://schemas.microsoft.com/office/drawing/2014/main" id="{7C4725B1-D255-CC63-745B-0C08A542F8E6}"/>
              </a:ext>
            </a:extLst>
          </p:cNvPr>
          <p:cNvSpPr txBox="1"/>
          <p:nvPr/>
        </p:nvSpPr>
        <p:spPr>
          <a:xfrm>
            <a:off x="618435" y="185570"/>
            <a:ext cx="2267573" cy="204379"/>
          </a:xfrm>
          <a:prstGeom prst="rect">
            <a:avLst/>
          </a:prstGeom>
          <a:noFill/>
        </p:spPr>
        <p:txBody>
          <a:bodyPr wrap="square" lIns="34762" tIns="17381" rIns="34762" bIns="17381" rtlCol="0">
            <a:spAutoFit/>
          </a:bodyPr>
          <a:lstStyle/>
          <a:p>
            <a:r>
              <a:rPr lang="zh-CN" altLang="en-US" sz="1100" b="1" dirty="0">
                <a:latin typeface="微软雅黑" panose="020B0503020204020204" pitchFamily="34" charset="-122"/>
                <a:ea typeface="微软雅黑" panose="020B0503020204020204" pitchFamily="34" charset="-122"/>
              </a:rPr>
              <a:t>思考与启发</a:t>
            </a:r>
          </a:p>
        </p:txBody>
      </p:sp>
      <p:grpSp>
        <p:nvGrpSpPr>
          <p:cNvPr id="68" name="原创设计师QQ598969553      _9">
            <a:extLst>
              <a:ext uri="{FF2B5EF4-FFF2-40B4-BE49-F238E27FC236}">
                <a16:creationId xmlns="" xmlns:a16="http://schemas.microsoft.com/office/drawing/2014/main" id="{EC33079E-1247-70DE-8763-3ACDD65E706D}"/>
              </a:ext>
            </a:extLst>
          </p:cNvPr>
          <p:cNvGrpSpPr/>
          <p:nvPr/>
        </p:nvGrpSpPr>
        <p:grpSpPr>
          <a:xfrm>
            <a:off x="188162" y="153558"/>
            <a:ext cx="304678" cy="243737"/>
            <a:chOff x="4268207" y="2118116"/>
            <a:chExt cx="2653566" cy="2214138"/>
          </a:xfrm>
        </p:grpSpPr>
        <p:grpSp>
          <p:nvGrpSpPr>
            <p:cNvPr id="69" name="组合 68">
              <a:extLst>
                <a:ext uri="{FF2B5EF4-FFF2-40B4-BE49-F238E27FC236}">
                  <a16:creationId xmlns="" xmlns:a16="http://schemas.microsoft.com/office/drawing/2014/main" id="{3866FBD5-A960-6794-8BA4-9DBBA9FC3AA3}"/>
                </a:ext>
              </a:extLst>
            </p:cNvPr>
            <p:cNvGrpSpPr/>
            <p:nvPr/>
          </p:nvGrpSpPr>
          <p:grpSpPr>
            <a:xfrm>
              <a:off x="4508674" y="2118116"/>
              <a:ext cx="2204282" cy="2204282"/>
              <a:chOff x="1517331" y="1125257"/>
              <a:chExt cx="2204282" cy="2204282"/>
            </a:xfrm>
          </p:grpSpPr>
          <p:sp>
            <p:nvSpPr>
              <p:cNvPr id="71" name="椭圆 70">
                <a:extLst>
                  <a:ext uri="{FF2B5EF4-FFF2-40B4-BE49-F238E27FC236}">
                    <a16:creationId xmlns="" xmlns:a16="http://schemas.microsoft.com/office/drawing/2014/main" id="{68A1054A-58A0-C11B-68D9-FA23D2B35325}"/>
                  </a:ext>
                </a:extLst>
              </p:cNvPr>
              <p:cNvSpPr/>
              <p:nvPr/>
            </p:nvSpPr>
            <p:spPr>
              <a:xfrm>
                <a:off x="1517331" y="1125257"/>
                <a:ext cx="2204282" cy="2204282"/>
              </a:xfrm>
              <a:prstGeom prst="ellipse">
                <a:avLst/>
              </a:prstGeom>
              <a:gradFill>
                <a:gsLst>
                  <a:gs pos="0">
                    <a:srgbClr val="EBEBEB"/>
                  </a:gs>
                  <a:gs pos="100000">
                    <a:srgbClr val="FEFEFE"/>
                  </a:gs>
                </a:gsLst>
                <a:lin ang="7530000" scaled="0"/>
              </a:gradFill>
              <a:ln w="12700">
                <a:solidFill>
                  <a:schemeClr val="bg1"/>
                </a:solidFill>
              </a:ln>
              <a:effectLst>
                <a:outerShdw blurRad="457200" dist="444500" dir="7800000" sx="89000" sy="89000" algn="tr" rotWithShape="0">
                  <a:prstClr val="black">
                    <a:alpha val="3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76">
                  <a:latin typeface="字体视界-NWE粗楷体" panose="02000500000000000000" pitchFamily="2" charset="-122"/>
                  <a:ea typeface="字体视界-NWE粗楷体" panose="02000500000000000000" pitchFamily="2" charset="-122"/>
                </a:endParaRPr>
              </a:p>
            </p:txBody>
          </p:sp>
          <p:sp>
            <p:nvSpPr>
              <p:cNvPr id="72" name="椭圆 71">
                <a:extLst>
                  <a:ext uri="{FF2B5EF4-FFF2-40B4-BE49-F238E27FC236}">
                    <a16:creationId xmlns="" xmlns:a16="http://schemas.microsoft.com/office/drawing/2014/main" id="{BFBCAB49-6A8C-B2B3-35ED-D6BBBED5CF8B}"/>
                  </a:ext>
                </a:extLst>
              </p:cNvPr>
              <p:cNvSpPr/>
              <p:nvPr/>
            </p:nvSpPr>
            <p:spPr>
              <a:xfrm>
                <a:off x="1719371" y="1344751"/>
                <a:ext cx="1800198" cy="1800200"/>
              </a:xfrm>
              <a:prstGeom prst="ellipse">
                <a:avLst/>
              </a:prstGeom>
              <a:solidFill>
                <a:srgbClr val="004098"/>
              </a:solidFill>
              <a:ln>
                <a:noFill/>
              </a:ln>
              <a:effectLst>
                <a:innerShdw blurRad="101600" dist="50800" dir="18900000">
                  <a:prstClr val="black">
                    <a:alpha val="43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76">
                  <a:latin typeface="字体视界-NWE粗楷体" panose="02000500000000000000" pitchFamily="2" charset="-122"/>
                  <a:ea typeface="字体视界-NWE粗楷体" panose="02000500000000000000" pitchFamily="2" charset="-122"/>
                </a:endParaRPr>
              </a:p>
            </p:txBody>
          </p:sp>
        </p:grpSp>
        <p:sp>
          <p:nvSpPr>
            <p:cNvPr id="70" name="TextBox 80">
              <a:extLst>
                <a:ext uri="{FF2B5EF4-FFF2-40B4-BE49-F238E27FC236}">
                  <a16:creationId xmlns="" xmlns:a16="http://schemas.microsoft.com/office/drawing/2014/main" id="{7A547AF7-EE79-5DEF-44B1-CF755100FDCC}"/>
                </a:ext>
              </a:extLst>
            </p:cNvPr>
            <p:cNvSpPr txBox="1"/>
            <p:nvPr/>
          </p:nvSpPr>
          <p:spPr>
            <a:xfrm>
              <a:off x="4268207" y="2408917"/>
              <a:ext cx="2653566" cy="1923337"/>
            </a:xfrm>
            <a:prstGeom prst="rect">
              <a:avLst/>
            </a:prstGeom>
            <a:noFill/>
          </p:spPr>
          <p:txBody>
            <a:bodyPr wrap="square" rtlCol="0">
              <a:spAutoFit/>
            </a:bodyPr>
            <a:lstStyle/>
            <a:p>
              <a:r>
                <a:rPr lang="en-US" altLang="zh-CN" sz="776" dirty="0">
                  <a:solidFill>
                    <a:schemeClr val="bg1"/>
                  </a:solidFill>
                  <a:latin typeface="字体视界-NWE粗楷体" panose="02000500000000000000" pitchFamily="2" charset="-122"/>
                  <a:ea typeface="字体视界-NWE粗楷体" panose="02000500000000000000" pitchFamily="2" charset="-122"/>
                </a:rPr>
                <a:t>04</a:t>
              </a:r>
            </a:p>
          </p:txBody>
        </p:sp>
      </p:grpSp>
      <p:sp>
        <p:nvSpPr>
          <p:cNvPr id="73" name="原创设计师QQ598969553      _12">
            <a:extLst>
              <a:ext uri="{FF2B5EF4-FFF2-40B4-BE49-F238E27FC236}">
                <a16:creationId xmlns="" xmlns:a16="http://schemas.microsoft.com/office/drawing/2014/main" id="{760473EF-0D78-F124-1B4B-A4A3255E7476}"/>
              </a:ext>
            </a:extLst>
          </p:cNvPr>
          <p:cNvSpPr>
            <a:spLocks noChangeShapeType="1"/>
          </p:cNvSpPr>
          <p:nvPr/>
        </p:nvSpPr>
        <p:spPr bwMode="auto">
          <a:xfrm flipH="1" flipV="1">
            <a:off x="543649" y="130604"/>
            <a:ext cx="0" cy="307269"/>
          </a:xfrm>
          <a:prstGeom prst="line">
            <a:avLst/>
          </a:prstGeom>
          <a:noFill/>
          <a:ln w="19050">
            <a:solidFill>
              <a:srgbClr val="004098"/>
            </a:solidFill>
            <a:prstDash val="dash"/>
            <a:round/>
          </a:ln>
          <a:extLst>
            <a:ext uri="{909E8E84-426E-40DD-AFC4-6F175D3DCCD1}">
              <a14:hiddenFill xmlns:a14="http://schemas.microsoft.com/office/drawing/2010/main">
                <a:noFill/>
              </a14:hiddenFill>
            </a:ext>
          </a:extLst>
        </p:spPr>
        <p:txBody>
          <a:bodyPr/>
          <a:lstStyle/>
          <a:p>
            <a:endParaRPr lang="zh-CN" altLang="en-US" sz="776" dirty="0"/>
          </a:p>
        </p:txBody>
      </p:sp>
      <p:sp>
        <p:nvSpPr>
          <p:cNvPr id="74" name="矩形: 圆角 18">
            <a:extLst>
              <a:ext uri="{FF2B5EF4-FFF2-40B4-BE49-F238E27FC236}">
                <a16:creationId xmlns="" xmlns:a16="http://schemas.microsoft.com/office/drawing/2014/main" id="{7C923056-96D1-FDBC-A663-A1F8635BC91E}"/>
              </a:ext>
            </a:extLst>
          </p:cNvPr>
          <p:cNvSpPr/>
          <p:nvPr/>
        </p:nvSpPr>
        <p:spPr>
          <a:xfrm flipV="1">
            <a:off x="140988" y="434975"/>
            <a:ext cx="2164062" cy="31919"/>
          </a:xfrm>
          <a:prstGeom prst="roundRect">
            <a:avLst>
              <a:gd name="adj" fmla="val 50000"/>
            </a:avLst>
          </a:prstGeom>
          <a:solidFill>
            <a:srgbClr val="0040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90">
              <a:solidFill>
                <a:srgbClr val="004098"/>
              </a:solidFill>
              <a:latin typeface="字体视界-NWE粗楷体" panose="02000500000000000000" pitchFamily="2" charset="-122"/>
              <a:ea typeface="字体视界-NWE粗楷体" panose="02000500000000000000" pitchFamily="2" charset="-122"/>
            </a:endParaRPr>
          </a:p>
        </p:txBody>
      </p:sp>
      <p:sp>
        <p:nvSpPr>
          <p:cNvPr id="3" name="object 3">
            <a:extLst>
              <a:ext uri="{FF2B5EF4-FFF2-40B4-BE49-F238E27FC236}">
                <a16:creationId xmlns="" xmlns:a16="http://schemas.microsoft.com/office/drawing/2014/main" id="{77930AB1-12E6-7084-F1A9-DCC5583311FC}"/>
              </a:ext>
            </a:extLst>
          </p:cNvPr>
          <p:cNvSpPr txBox="1"/>
          <p:nvPr/>
        </p:nvSpPr>
        <p:spPr>
          <a:xfrm>
            <a:off x="340501" y="892175"/>
            <a:ext cx="3946792" cy="2103396"/>
          </a:xfrm>
          <a:prstGeom prst="rect">
            <a:avLst/>
          </a:prstGeom>
        </p:spPr>
        <p:txBody>
          <a:bodyPr vert="horz" wrap="square" lIns="0" tIns="6985" rIns="0" bIns="0" rtlCol="0">
            <a:spAutoFit/>
          </a:bodyPr>
          <a:lstStyle/>
          <a:p>
            <a:pPr marL="144780" marR="5080" indent="-132715">
              <a:lnSpc>
                <a:spcPct val="103000"/>
              </a:lnSpc>
              <a:spcBef>
                <a:spcPts val="600"/>
              </a:spcBef>
              <a:buClr>
                <a:srgbClr val="3333B2"/>
              </a:buClr>
              <a:buSzPct val="91000"/>
              <a:buFont typeface="宋体" panose="02010600030101010101" pitchFamily="2" charset="-122"/>
              <a:buChar char="•"/>
              <a:tabLst>
                <a:tab pos="145415" algn="l"/>
              </a:tabLst>
            </a:pPr>
            <a:r>
              <a:rPr lang="zh-CN" altLang="en-US" sz="1200" dirty="0">
                <a:solidFill>
                  <a:srgbClr val="000000">
                    <a:alpha val="100000"/>
                  </a:srgbClr>
                </a:solidFill>
                <a:latin typeface="黑体" panose="02010609060101010101" pitchFamily="49" charset="-122"/>
                <a:ea typeface="黑体" panose="02010609060101010101" pitchFamily="49" charset="-122"/>
                <a:cs typeface="Microsoft YaHei"/>
              </a:rPr>
              <a:t>为了知道 </a:t>
            </a:r>
            <a:r>
              <a:rPr lang="en-US" altLang="zh-CN" sz="1200" b="1" dirty="0">
                <a:solidFill>
                  <a:srgbClr val="004098"/>
                </a:solidFill>
                <a:latin typeface="黑体" panose="02010609060101010101" pitchFamily="49" charset="-122"/>
                <a:ea typeface="黑体" panose="02010609060101010101" pitchFamily="49" charset="-122"/>
                <a:cs typeface="Microsoft YaHei"/>
              </a:rPr>
              <a:t>How</a:t>
            </a:r>
            <a:r>
              <a:rPr lang="en-US" altLang="zh-CN" sz="1200" dirty="0">
                <a:solidFill>
                  <a:srgbClr val="000000">
                    <a:alpha val="100000"/>
                  </a:srgbClr>
                </a:solidFill>
                <a:latin typeface="黑体" panose="02010609060101010101" pitchFamily="49" charset="-122"/>
                <a:ea typeface="黑体" panose="02010609060101010101" pitchFamily="49" charset="-122"/>
                <a:cs typeface="Microsoft YaHei"/>
              </a:rPr>
              <a:t> </a:t>
            </a:r>
            <a:r>
              <a:rPr lang="zh-CN" altLang="en-US" sz="1200" dirty="0">
                <a:solidFill>
                  <a:srgbClr val="000000">
                    <a:alpha val="100000"/>
                  </a:srgbClr>
                </a:solidFill>
                <a:latin typeface="黑体" panose="02010609060101010101" pitchFamily="49" charset="-122"/>
                <a:ea typeface="黑体" panose="02010609060101010101" pitchFamily="49" charset="-122"/>
                <a:cs typeface="Microsoft YaHei"/>
              </a:rPr>
              <a:t>和 </a:t>
            </a:r>
            <a:r>
              <a:rPr lang="en-US" altLang="zh-CN" sz="1200" b="1" dirty="0">
                <a:solidFill>
                  <a:srgbClr val="004098"/>
                </a:solidFill>
                <a:latin typeface="黑体" panose="02010609060101010101" pitchFamily="49" charset="-122"/>
                <a:ea typeface="黑体" panose="02010609060101010101" pitchFamily="49" charset="-122"/>
                <a:cs typeface="Microsoft YaHei"/>
              </a:rPr>
              <a:t>When</a:t>
            </a:r>
            <a:r>
              <a:rPr lang="en-US" altLang="zh-CN" sz="1200" dirty="0">
                <a:solidFill>
                  <a:srgbClr val="00B050"/>
                </a:solidFill>
                <a:latin typeface="黑体" panose="02010609060101010101" pitchFamily="49" charset="-122"/>
                <a:ea typeface="黑体" panose="02010609060101010101" pitchFamily="49" charset="-122"/>
                <a:cs typeface="Microsoft YaHei"/>
              </a:rPr>
              <a:t> </a:t>
            </a:r>
            <a:r>
              <a:rPr lang="zh-CN" altLang="en-US" sz="1200" dirty="0">
                <a:solidFill>
                  <a:srgbClr val="000000">
                    <a:alpha val="100000"/>
                  </a:srgbClr>
                </a:solidFill>
                <a:latin typeface="黑体" panose="02010609060101010101" pitchFamily="49" charset="-122"/>
                <a:ea typeface="黑体" panose="02010609060101010101" pitchFamily="49" charset="-122"/>
                <a:cs typeface="Microsoft YaHei"/>
              </a:rPr>
              <a:t>使用各种技术，我们必须</a:t>
            </a:r>
            <a:r>
              <a:rPr sz="1200" dirty="0" err="1">
                <a:solidFill>
                  <a:srgbClr val="000000">
                    <a:alpha val="100000"/>
                  </a:srgbClr>
                </a:solidFill>
                <a:latin typeface="黑体" panose="02010609060101010101" pitchFamily="49" charset="-122"/>
                <a:ea typeface="黑体" panose="02010609060101010101" pitchFamily="49" charset="-122"/>
                <a:cs typeface="Microsoft YaHei"/>
              </a:rPr>
              <a:t>了解</a:t>
            </a:r>
            <a:r>
              <a:rPr lang="zh-CN" altLang="en-US" sz="1200" dirty="0">
                <a:solidFill>
                  <a:srgbClr val="000000">
                    <a:alpha val="100000"/>
                  </a:srgbClr>
                </a:solidFill>
                <a:latin typeface="黑体" panose="02010609060101010101" pitchFamily="49" charset="-122"/>
                <a:ea typeface="黑体" panose="02010609060101010101" pitchFamily="49" charset="-122"/>
                <a:cs typeface="Microsoft YaHei"/>
              </a:rPr>
              <a:t>这些</a:t>
            </a:r>
            <a:r>
              <a:rPr sz="1200" dirty="0" err="1">
                <a:solidFill>
                  <a:srgbClr val="000000">
                    <a:alpha val="100000"/>
                  </a:srgbClr>
                </a:solidFill>
                <a:latin typeface="黑体" panose="02010609060101010101" pitchFamily="49" charset="-122"/>
                <a:ea typeface="黑体" panose="02010609060101010101" pitchFamily="49" charset="-122"/>
                <a:cs typeface="Microsoft YaHei"/>
              </a:rPr>
              <a:t>技术背后的</a:t>
            </a:r>
            <a:r>
              <a:rPr lang="zh-CN" altLang="en-US" sz="1200" dirty="0">
                <a:solidFill>
                  <a:srgbClr val="000000">
                    <a:alpha val="100000"/>
                  </a:srgbClr>
                </a:solidFill>
                <a:latin typeface="黑体" panose="02010609060101010101" pitchFamily="49" charset="-122"/>
                <a:ea typeface="黑体" panose="02010609060101010101" pitchFamily="49" charset="-122"/>
                <a:cs typeface="Microsoft YaHei"/>
              </a:rPr>
              <a:t>原理</a:t>
            </a:r>
            <a:r>
              <a:rPr sz="1200" dirty="0">
                <a:solidFill>
                  <a:srgbClr val="000000">
                    <a:alpha val="100000"/>
                  </a:srgbClr>
                </a:solidFill>
                <a:latin typeface="黑体" panose="02010609060101010101" pitchFamily="49" charset="-122"/>
                <a:ea typeface="黑体" panose="02010609060101010101" pitchFamily="49" charset="-122"/>
                <a:cs typeface="Microsoft YaHei"/>
              </a:rPr>
              <a:t>。</a:t>
            </a:r>
          </a:p>
          <a:p>
            <a:pPr marL="144780" marR="5080" indent="-132715">
              <a:lnSpc>
                <a:spcPct val="103000"/>
              </a:lnSpc>
              <a:spcBef>
                <a:spcPts val="600"/>
              </a:spcBef>
              <a:buClr>
                <a:srgbClr val="3333B2"/>
              </a:buClr>
              <a:buSzPct val="91000"/>
              <a:buFont typeface="宋体" panose="02010600030101010101" pitchFamily="2" charset="-122"/>
              <a:buChar char="•"/>
              <a:tabLst>
                <a:tab pos="145415" algn="l"/>
              </a:tabLst>
            </a:pPr>
            <a:r>
              <a:rPr lang="zh-CN" altLang="en-US" sz="1200" dirty="0">
                <a:solidFill>
                  <a:srgbClr val="000000">
                    <a:alpha val="100000"/>
                  </a:srgbClr>
                </a:solidFill>
                <a:latin typeface="黑体" panose="02010609060101010101" pitchFamily="49" charset="-122"/>
                <a:ea typeface="黑体" panose="02010609060101010101" pitchFamily="49" charset="-122"/>
                <a:cs typeface="Microsoft YaHei"/>
              </a:rPr>
              <a:t>首先</a:t>
            </a:r>
            <a:r>
              <a:rPr sz="1200" dirty="0" err="1">
                <a:solidFill>
                  <a:srgbClr val="000000">
                    <a:alpha val="100000"/>
                  </a:srgbClr>
                </a:solidFill>
                <a:latin typeface="黑体" panose="02010609060101010101" pitchFamily="49" charset="-122"/>
                <a:ea typeface="黑体" panose="02010609060101010101" pitchFamily="49" charset="-122"/>
                <a:cs typeface="Microsoft YaHei"/>
              </a:rPr>
              <a:t>了解</a:t>
            </a:r>
            <a:r>
              <a:rPr lang="zh-CN" altLang="en-US" sz="1200" dirty="0">
                <a:solidFill>
                  <a:srgbClr val="000000">
                    <a:alpha val="100000"/>
                  </a:srgbClr>
                </a:solidFill>
                <a:latin typeface="黑体" panose="02010609060101010101" pitchFamily="49" charset="-122"/>
                <a:ea typeface="黑体" panose="02010609060101010101" pitchFamily="49" charset="-122"/>
                <a:cs typeface="Microsoft YaHei"/>
              </a:rPr>
              <a:t>了</a:t>
            </a:r>
            <a:r>
              <a:rPr sz="1200" dirty="0" err="1">
                <a:solidFill>
                  <a:srgbClr val="000000">
                    <a:alpha val="100000"/>
                  </a:srgbClr>
                </a:solidFill>
                <a:latin typeface="黑体" panose="02010609060101010101" pitchFamily="49" charset="-122"/>
                <a:ea typeface="黑体" panose="02010609060101010101" pitchFamily="49" charset="-122"/>
                <a:cs typeface="Microsoft YaHei"/>
              </a:rPr>
              <a:t>简单的方法</a:t>
            </a:r>
            <a:r>
              <a:rPr sz="1200" dirty="0">
                <a:solidFill>
                  <a:srgbClr val="000000">
                    <a:alpha val="100000"/>
                  </a:srgbClr>
                </a:solidFill>
                <a:latin typeface="黑体" panose="02010609060101010101" pitchFamily="49" charset="-122"/>
                <a:ea typeface="黑体" panose="02010609060101010101" pitchFamily="49" charset="-122"/>
                <a:cs typeface="Microsoft YaHei"/>
              </a:rPr>
              <a:t>，</a:t>
            </a:r>
            <a:r>
              <a:rPr lang="zh-CN" altLang="en-US" sz="1200" dirty="0">
                <a:solidFill>
                  <a:srgbClr val="000000">
                    <a:alpha val="100000"/>
                  </a:srgbClr>
                </a:solidFill>
                <a:latin typeface="黑体" panose="02010609060101010101" pitchFamily="49" charset="-122"/>
                <a:ea typeface="黑体" panose="02010609060101010101" pitchFamily="49" charset="-122"/>
                <a:cs typeface="Microsoft YaHei"/>
              </a:rPr>
              <a:t>之后</a:t>
            </a:r>
            <a:r>
              <a:rPr sz="1200" dirty="0" err="1">
                <a:solidFill>
                  <a:srgbClr val="000000">
                    <a:alpha val="100000"/>
                  </a:srgbClr>
                </a:solidFill>
                <a:latin typeface="黑体" panose="02010609060101010101" pitchFamily="49" charset="-122"/>
                <a:ea typeface="黑体" panose="02010609060101010101" pitchFamily="49" charset="-122"/>
                <a:cs typeface="Microsoft YaHei"/>
              </a:rPr>
              <a:t>才能掌握更复杂的方法</a:t>
            </a:r>
            <a:r>
              <a:rPr sz="1200" dirty="0">
                <a:solidFill>
                  <a:srgbClr val="000000">
                    <a:alpha val="100000"/>
                  </a:srgbClr>
                </a:solidFill>
                <a:latin typeface="黑体" panose="02010609060101010101" pitchFamily="49" charset="-122"/>
                <a:ea typeface="黑体" panose="02010609060101010101" pitchFamily="49" charset="-122"/>
                <a:cs typeface="Microsoft YaHei"/>
              </a:rPr>
              <a:t>。</a:t>
            </a:r>
          </a:p>
          <a:p>
            <a:pPr marL="144780" marR="5080" indent="-132715">
              <a:lnSpc>
                <a:spcPct val="103000"/>
              </a:lnSpc>
              <a:spcBef>
                <a:spcPts val="600"/>
              </a:spcBef>
              <a:buClr>
                <a:srgbClr val="3333B2"/>
              </a:buClr>
              <a:buSzPct val="91000"/>
              <a:buFont typeface="宋体" panose="02010600030101010101" pitchFamily="2" charset="-122"/>
              <a:buChar char="•"/>
              <a:tabLst>
                <a:tab pos="145415" algn="l"/>
              </a:tabLst>
            </a:pPr>
            <a:r>
              <a:rPr sz="1200" dirty="0" err="1">
                <a:solidFill>
                  <a:srgbClr val="000000">
                    <a:alpha val="100000"/>
                  </a:srgbClr>
                </a:solidFill>
                <a:latin typeface="黑体" panose="02010609060101010101" pitchFamily="49" charset="-122"/>
                <a:ea typeface="黑体" panose="02010609060101010101" pitchFamily="49" charset="-122"/>
                <a:cs typeface="Microsoft YaHei"/>
              </a:rPr>
              <a:t>准确评估一种方法的性能很重要，要知道它</a:t>
            </a:r>
            <a:r>
              <a:rPr lang="zh-CN" altLang="en-US" sz="1200" dirty="0">
                <a:solidFill>
                  <a:srgbClr val="000000">
                    <a:alpha val="100000"/>
                  </a:srgbClr>
                </a:solidFill>
                <a:latin typeface="黑体" panose="02010609060101010101" pitchFamily="49" charset="-122"/>
                <a:ea typeface="黑体" panose="02010609060101010101" pitchFamily="49" charset="-122"/>
                <a:cs typeface="Microsoft YaHei"/>
              </a:rPr>
              <a:t>到底有</a:t>
            </a:r>
            <a:r>
              <a:rPr sz="1200" dirty="0" err="1">
                <a:solidFill>
                  <a:srgbClr val="000000">
                    <a:alpha val="100000"/>
                  </a:srgbClr>
                </a:solidFill>
                <a:latin typeface="黑体" panose="02010609060101010101" pitchFamily="49" charset="-122"/>
                <a:ea typeface="黑体" panose="02010609060101010101" pitchFamily="49" charset="-122"/>
                <a:cs typeface="Microsoft YaHei"/>
              </a:rPr>
              <a:t>多好或有多糟糕</a:t>
            </a:r>
            <a:endParaRPr lang="en-US" sz="1200" dirty="0">
              <a:solidFill>
                <a:srgbClr val="000000">
                  <a:alpha val="100000"/>
                </a:srgbClr>
              </a:solidFill>
              <a:latin typeface="黑体" panose="02010609060101010101" pitchFamily="49" charset="-122"/>
              <a:ea typeface="黑体" panose="02010609060101010101" pitchFamily="49" charset="-122"/>
              <a:cs typeface="Microsoft YaHei"/>
            </a:endParaRPr>
          </a:p>
          <a:p>
            <a:pPr marL="12065" marR="5080">
              <a:lnSpc>
                <a:spcPct val="103000"/>
              </a:lnSpc>
              <a:spcBef>
                <a:spcPts val="600"/>
              </a:spcBef>
              <a:buClr>
                <a:srgbClr val="3333B2"/>
              </a:buClr>
              <a:buSzPct val="91000"/>
              <a:tabLst>
                <a:tab pos="145415" algn="l"/>
              </a:tabLst>
            </a:pPr>
            <a:r>
              <a:rPr lang="en-US" sz="1200" dirty="0">
                <a:solidFill>
                  <a:srgbClr val="000000">
                    <a:alpha val="100000"/>
                  </a:srgbClr>
                </a:solidFill>
                <a:latin typeface="黑体" panose="02010609060101010101" pitchFamily="49" charset="-122"/>
                <a:ea typeface="黑体" panose="02010609060101010101" pitchFamily="49" charset="-122"/>
                <a:cs typeface="Microsoft YaHei"/>
              </a:rPr>
              <a:t>  </a:t>
            </a:r>
            <a:r>
              <a:rPr sz="1200" dirty="0">
                <a:solidFill>
                  <a:srgbClr val="000000">
                    <a:alpha val="100000"/>
                  </a:srgbClr>
                </a:solidFill>
                <a:latin typeface="黑体" panose="02010609060101010101" pitchFamily="49" charset="-122"/>
                <a:ea typeface="黑体" panose="02010609060101010101" pitchFamily="49" charset="-122"/>
                <a:cs typeface="Microsoft YaHei"/>
              </a:rPr>
              <a:t>[</a:t>
            </a:r>
            <a:r>
              <a:rPr sz="1200" dirty="0" err="1">
                <a:solidFill>
                  <a:srgbClr val="000000">
                    <a:alpha val="100000"/>
                  </a:srgbClr>
                </a:solidFill>
                <a:latin typeface="黑体" panose="02010609060101010101" pitchFamily="49" charset="-122"/>
                <a:ea typeface="黑体" panose="02010609060101010101" pitchFamily="49" charset="-122"/>
                <a:cs typeface="Microsoft YaHei"/>
              </a:rPr>
              <a:t>简单的方法通常表现得和高级的方法一样好</a:t>
            </a:r>
            <a:r>
              <a:rPr sz="1200" dirty="0">
                <a:solidFill>
                  <a:srgbClr val="000000">
                    <a:alpha val="100000"/>
                  </a:srgbClr>
                </a:solidFill>
                <a:latin typeface="黑体" panose="02010609060101010101" pitchFamily="49" charset="-122"/>
                <a:ea typeface="黑体" panose="02010609060101010101" pitchFamily="49" charset="-122"/>
                <a:cs typeface="Microsoft YaHei"/>
              </a:rPr>
              <a:t>！</a:t>
            </a:r>
            <a:r>
              <a:rPr lang="en-US" sz="1200" dirty="0">
                <a:solidFill>
                  <a:srgbClr val="000000">
                    <a:alpha val="100000"/>
                  </a:srgbClr>
                </a:solidFill>
                <a:latin typeface="黑体" panose="02010609060101010101" pitchFamily="49" charset="-122"/>
                <a:ea typeface="黑体" panose="02010609060101010101" pitchFamily="49" charset="-122"/>
                <a:cs typeface="Microsoft YaHei"/>
              </a:rPr>
              <a:t>]</a:t>
            </a:r>
            <a:endParaRPr sz="1200" dirty="0">
              <a:solidFill>
                <a:srgbClr val="000000">
                  <a:alpha val="100000"/>
                </a:srgbClr>
              </a:solidFill>
              <a:latin typeface="黑体" panose="02010609060101010101" pitchFamily="49" charset="-122"/>
              <a:ea typeface="黑体" panose="02010609060101010101" pitchFamily="49" charset="-122"/>
              <a:cs typeface="Microsoft YaHei"/>
            </a:endParaRPr>
          </a:p>
          <a:p>
            <a:pPr marL="144780" marR="5080" indent="-132715">
              <a:lnSpc>
                <a:spcPct val="103000"/>
              </a:lnSpc>
              <a:spcBef>
                <a:spcPts val="600"/>
              </a:spcBef>
              <a:buClr>
                <a:srgbClr val="3333B2"/>
              </a:buClr>
              <a:buSzPct val="91000"/>
              <a:buFont typeface="宋体" panose="02010600030101010101" pitchFamily="2" charset="-122"/>
              <a:buChar char="•"/>
              <a:tabLst>
                <a:tab pos="145415" algn="l"/>
              </a:tabLst>
            </a:pPr>
            <a:r>
              <a:rPr sz="1200" dirty="0" err="1">
                <a:solidFill>
                  <a:srgbClr val="000000">
                    <a:alpha val="100000"/>
                  </a:srgbClr>
                </a:solidFill>
                <a:latin typeface="黑体" panose="02010609060101010101" pitchFamily="49" charset="-122"/>
                <a:ea typeface="黑体" panose="02010609060101010101" pitchFamily="49" charset="-122"/>
                <a:cs typeface="Microsoft YaHei"/>
              </a:rPr>
              <a:t>这是一个令人兴奋的研究领域，在科学、工业和金融领域</a:t>
            </a:r>
            <a:r>
              <a:rPr lang="zh-CN" altLang="en-US" sz="1200" dirty="0">
                <a:solidFill>
                  <a:srgbClr val="000000">
                    <a:alpha val="100000"/>
                  </a:srgbClr>
                </a:solidFill>
                <a:latin typeface="黑体" panose="02010609060101010101" pitchFamily="49" charset="-122"/>
                <a:ea typeface="黑体" panose="02010609060101010101" pitchFamily="49" charset="-122"/>
                <a:cs typeface="Microsoft YaHei"/>
              </a:rPr>
              <a:t>都</a:t>
            </a:r>
            <a:r>
              <a:rPr sz="1200" dirty="0" err="1">
                <a:solidFill>
                  <a:srgbClr val="000000">
                    <a:alpha val="100000"/>
                  </a:srgbClr>
                </a:solidFill>
                <a:latin typeface="黑体" panose="02010609060101010101" pitchFamily="49" charset="-122"/>
                <a:ea typeface="黑体" panose="02010609060101010101" pitchFamily="49" charset="-122"/>
                <a:cs typeface="Microsoft YaHei"/>
              </a:rPr>
              <a:t>有重要应用</a:t>
            </a:r>
            <a:r>
              <a:rPr sz="1200" dirty="0">
                <a:solidFill>
                  <a:srgbClr val="000000">
                    <a:alpha val="100000"/>
                  </a:srgbClr>
                </a:solidFill>
                <a:latin typeface="黑体" panose="02010609060101010101" pitchFamily="49" charset="-122"/>
                <a:ea typeface="黑体" panose="02010609060101010101" pitchFamily="49" charset="-122"/>
                <a:cs typeface="Microsoft YaHei"/>
              </a:rPr>
              <a:t>。</a:t>
            </a:r>
          </a:p>
          <a:p>
            <a:pPr marL="144780" marR="5080" indent="-132715">
              <a:lnSpc>
                <a:spcPct val="103000"/>
              </a:lnSpc>
              <a:spcBef>
                <a:spcPts val="600"/>
              </a:spcBef>
              <a:buClr>
                <a:srgbClr val="3333B2"/>
              </a:buClr>
              <a:buSzPct val="91000"/>
              <a:buFont typeface="宋体" panose="02010600030101010101" pitchFamily="2" charset="-122"/>
              <a:buChar char="•"/>
              <a:tabLst>
                <a:tab pos="145415" algn="l"/>
              </a:tabLst>
            </a:pPr>
            <a:r>
              <a:rPr sz="1200" dirty="0">
                <a:solidFill>
                  <a:srgbClr val="000000">
                    <a:alpha val="100000"/>
                  </a:srgbClr>
                </a:solidFill>
                <a:latin typeface="黑体" panose="02010609060101010101" pitchFamily="49" charset="-122"/>
                <a:ea typeface="黑体" panose="02010609060101010101" pitchFamily="49" charset="-122"/>
                <a:cs typeface="Microsoft YaHei"/>
              </a:rPr>
              <a:t>统计学习是现代数据科学家培训的基本要素。</a:t>
            </a:r>
          </a:p>
        </p:txBody>
      </p:sp>
    </p:spTree>
    <p:extLst>
      <p:ext uri="{BB962C8B-B14F-4D97-AF65-F5344CB8AC3E}">
        <p14:creationId xmlns:p14="http://schemas.microsoft.com/office/powerpoint/2010/main" val="66349367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原创设计师QQ598969553      _2">
            <a:extLst>
              <a:ext uri="{FF2B5EF4-FFF2-40B4-BE49-F238E27FC236}">
                <a16:creationId xmlns="" xmlns:a16="http://schemas.microsoft.com/office/drawing/2014/main" id="{7C4725B1-D255-CC63-745B-0C08A542F8E6}"/>
              </a:ext>
            </a:extLst>
          </p:cNvPr>
          <p:cNvSpPr txBox="1"/>
          <p:nvPr/>
        </p:nvSpPr>
        <p:spPr>
          <a:xfrm>
            <a:off x="618435" y="185570"/>
            <a:ext cx="2267573" cy="204379"/>
          </a:xfrm>
          <a:prstGeom prst="rect">
            <a:avLst/>
          </a:prstGeom>
          <a:noFill/>
        </p:spPr>
        <p:txBody>
          <a:bodyPr wrap="square" lIns="34762" tIns="17381" rIns="34762" bIns="17381" rtlCol="0">
            <a:spAutoFit/>
          </a:bodyPr>
          <a:lstStyle/>
          <a:p>
            <a:r>
              <a:rPr lang="zh-CN" altLang="en-US" sz="1100" b="1" dirty="0">
                <a:latin typeface="微软雅黑" panose="020B0503020204020204" pitchFamily="34" charset="-122"/>
                <a:ea typeface="微软雅黑" panose="020B0503020204020204" pitchFamily="34" charset="-122"/>
              </a:rPr>
              <a:t>无指导学习</a:t>
            </a:r>
            <a:r>
              <a:rPr lang="en-US" altLang="zh-CN" sz="1100" b="1" dirty="0">
                <a:latin typeface="微软雅黑" panose="020B0503020204020204" pitchFamily="34" charset="-122"/>
                <a:ea typeface="微软雅黑" panose="020B0503020204020204" pitchFamily="34" charset="-122"/>
              </a:rPr>
              <a:t>/</a:t>
            </a:r>
            <a:r>
              <a:rPr lang="zh-CN" altLang="en-US" sz="1100" b="1" dirty="0">
                <a:latin typeface="微软雅黑" panose="020B0503020204020204" pitchFamily="34" charset="-122"/>
                <a:ea typeface="微软雅黑" panose="020B0503020204020204" pitchFamily="34" charset="-122"/>
              </a:rPr>
              <a:t>无监督学习</a:t>
            </a:r>
          </a:p>
        </p:txBody>
      </p:sp>
      <p:grpSp>
        <p:nvGrpSpPr>
          <p:cNvPr id="68" name="原创设计师QQ598969553      _9">
            <a:extLst>
              <a:ext uri="{FF2B5EF4-FFF2-40B4-BE49-F238E27FC236}">
                <a16:creationId xmlns="" xmlns:a16="http://schemas.microsoft.com/office/drawing/2014/main" id="{EC33079E-1247-70DE-8763-3ACDD65E706D}"/>
              </a:ext>
            </a:extLst>
          </p:cNvPr>
          <p:cNvGrpSpPr/>
          <p:nvPr/>
        </p:nvGrpSpPr>
        <p:grpSpPr>
          <a:xfrm>
            <a:off x="188162" y="153558"/>
            <a:ext cx="304678" cy="243737"/>
            <a:chOff x="4268207" y="2118116"/>
            <a:chExt cx="2653566" cy="2214138"/>
          </a:xfrm>
        </p:grpSpPr>
        <p:grpSp>
          <p:nvGrpSpPr>
            <p:cNvPr id="69" name="组合 68">
              <a:extLst>
                <a:ext uri="{FF2B5EF4-FFF2-40B4-BE49-F238E27FC236}">
                  <a16:creationId xmlns="" xmlns:a16="http://schemas.microsoft.com/office/drawing/2014/main" id="{3866FBD5-A960-6794-8BA4-9DBBA9FC3AA3}"/>
                </a:ext>
              </a:extLst>
            </p:cNvPr>
            <p:cNvGrpSpPr/>
            <p:nvPr/>
          </p:nvGrpSpPr>
          <p:grpSpPr>
            <a:xfrm>
              <a:off x="4508674" y="2118116"/>
              <a:ext cx="2204282" cy="2204282"/>
              <a:chOff x="1517331" y="1125257"/>
              <a:chExt cx="2204282" cy="2204282"/>
            </a:xfrm>
          </p:grpSpPr>
          <p:sp>
            <p:nvSpPr>
              <p:cNvPr id="71" name="椭圆 70">
                <a:extLst>
                  <a:ext uri="{FF2B5EF4-FFF2-40B4-BE49-F238E27FC236}">
                    <a16:creationId xmlns="" xmlns:a16="http://schemas.microsoft.com/office/drawing/2014/main" id="{68A1054A-58A0-C11B-68D9-FA23D2B35325}"/>
                  </a:ext>
                </a:extLst>
              </p:cNvPr>
              <p:cNvSpPr/>
              <p:nvPr/>
            </p:nvSpPr>
            <p:spPr>
              <a:xfrm>
                <a:off x="1517331" y="1125257"/>
                <a:ext cx="2204282" cy="2204282"/>
              </a:xfrm>
              <a:prstGeom prst="ellipse">
                <a:avLst/>
              </a:prstGeom>
              <a:gradFill>
                <a:gsLst>
                  <a:gs pos="0">
                    <a:srgbClr val="EBEBEB"/>
                  </a:gs>
                  <a:gs pos="100000">
                    <a:srgbClr val="FEFEFE"/>
                  </a:gs>
                </a:gsLst>
                <a:lin ang="7530000" scaled="0"/>
              </a:gradFill>
              <a:ln w="12700">
                <a:solidFill>
                  <a:schemeClr val="bg1"/>
                </a:solidFill>
              </a:ln>
              <a:effectLst>
                <a:outerShdw blurRad="457200" dist="444500" dir="7800000" sx="89000" sy="89000" algn="tr" rotWithShape="0">
                  <a:prstClr val="black">
                    <a:alpha val="3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76">
                  <a:latin typeface="字体视界-NWE粗楷体" panose="02000500000000000000" pitchFamily="2" charset="-122"/>
                  <a:ea typeface="字体视界-NWE粗楷体" panose="02000500000000000000" pitchFamily="2" charset="-122"/>
                </a:endParaRPr>
              </a:p>
            </p:txBody>
          </p:sp>
          <p:sp>
            <p:nvSpPr>
              <p:cNvPr id="72" name="椭圆 71">
                <a:extLst>
                  <a:ext uri="{FF2B5EF4-FFF2-40B4-BE49-F238E27FC236}">
                    <a16:creationId xmlns="" xmlns:a16="http://schemas.microsoft.com/office/drawing/2014/main" id="{BFBCAB49-6A8C-B2B3-35ED-D6BBBED5CF8B}"/>
                  </a:ext>
                </a:extLst>
              </p:cNvPr>
              <p:cNvSpPr/>
              <p:nvPr/>
            </p:nvSpPr>
            <p:spPr>
              <a:xfrm>
                <a:off x="1719371" y="1344751"/>
                <a:ext cx="1800198" cy="1800200"/>
              </a:xfrm>
              <a:prstGeom prst="ellipse">
                <a:avLst/>
              </a:prstGeom>
              <a:solidFill>
                <a:srgbClr val="004098"/>
              </a:solidFill>
              <a:ln>
                <a:noFill/>
              </a:ln>
              <a:effectLst>
                <a:innerShdw blurRad="101600" dist="50800" dir="18900000">
                  <a:prstClr val="black">
                    <a:alpha val="43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76">
                  <a:latin typeface="字体视界-NWE粗楷体" panose="02000500000000000000" pitchFamily="2" charset="-122"/>
                  <a:ea typeface="字体视界-NWE粗楷体" panose="02000500000000000000" pitchFamily="2" charset="-122"/>
                </a:endParaRPr>
              </a:p>
            </p:txBody>
          </p:sp>
        </p:grpSp>
        <p:sp>
          <p:nvSpPr>
            <p:cNvPr id="70" name="TextBox 80">
              <a:extLst>
                <a:ext uri="{FF2B5EF4-FFF2-40B4-BE49-F238E27FC236}">
                  <a16:creationId xmlns="" xmlns:a16="http://schemas.microsoft.com/office/drawing/2014/main" id="{7A547AF7-EE79-5DEF-44B1-CF755100FDCC}"/>
                </a:ext>
              </a:extLst>
            </p:cNvPr>
            <p:cNvSpPr txBox="1"/>
            <p:nvPr/>
          </p:nvSpPr>
          <p:spPr>
            <a:xfrm>
              <a:off x="4268207" y="2408917"/>
              <a:ext cx="2653566" cy="1923337"/>
            </a:xfrm>
            <a:prstGeom prst="rect">
              <a:avLst/>
            </a:prstGeom>
            <a:noFill/>
          </p:spPr>
          <p:txBody>
            <a:bodyPr wrap="square" rtlCol="0">
              <a:spAutoFit/>
            </a:bodyPr>
            <a:lstStyle/>
            <a:p>
              <a:r>
                <a:rPr lang="en-US" altLang="zh-CN" sz="776" dirty="0">
                  <a:solidFill>
                    <a:schemeClr val="bg1"/>
                  </a:solidFill>
                  <a:latin typeface="字体视界-NWE粗楷体" panose="02000500000000000000" pitchFamily="2" charset="-122"/>
                  <a:ea typeface="字体视界-NWE粗楷体" panose="02000500000000000000" pitchFamily="2" charset="-122"/>
                </a:rPr>
                <a:t>05</a:t>
              </a:r>
            </a:p>
          </p:txBody>
        </p:sp>
      </p:grpSp>
      <p:sp>
        <p:nvSpPr>
          <p:cNvPr id="73" name="原创设计师QQ598969553      _12">
            <a:extLst>
              <a:ext uri="{FF2B5EF4-FFF2-40B4-BE49-F238E27FC236}">
                <a16:creationId xmlns="" xmlns:a16="http://schemas.microsoft.com/office/drawing/2014/main" id="{760473EF-0D78-F124-1B4B-A4A3255E7476}"/>
              </a:ext>
            </a:extLst>
          </p:cNvPr>
          <p:cNvSpPr>
            <a:spLocks noChangeShapeType="1"/>
          </p:cNvSpPr>
          <p:nvPr/>
        </p:nvSpPr>
        <p:spPr bwMode="auto">
          <a:xfrm flipH="1" flipV="1">
            <a:off x="543649" y="130604"/>
            <a:ext cx="0" cy="307269"/>
          </a:xfrm>
          <a:prstGeom prst="line">
            <a:avLst/>
          </a:prstGeom>
          <a:noFill/>
          <a:ln w="19050">
            <a:solidFill>
              <a:srgbClr val="004098"/>
            </a:solidFill>
            <a:prstDash val="dash"/>
            <a:round/>
          </a:ln>
          <a:extLst>
            <a:ext uri="{909E8E84-426E-40DD-AFC4-6F175D3DCCD1}">
              <a14:hiddenFill xmlns:a14="http://schemas.microsoft.com/office/drawing/2010/main">
                <a:noFill/>
              </a14:hiddenFill>
            </a:ext>
          </a:extLst>
        </p:spPr>
        <p:txBody>
          <a:bodyPr/>
          <a:lstStyle/>
          <a:p>
            <a:endParaRPr lang="zh-CN" altLang="en-US" sz="776" dirty="0"/>
          </a:p>
        </p:txBody>
      </p:sp>
      <p:sp>
        <p:nvSpPr>
          <p:cNvPr id="74" name="矩形: 圆角 18">
            <a:extLst>
              <a:ext uri="{FF2B5EF4-FFF2-40B4-BE49-F238E27FC236}">
                <a16:creationId xmlns="" xmlns:a16="http://schemas.microsoft.com/office/drawing/2014/main" id="{7C923056-96D1-FDBC-A663-A1F8635BC91E}"/>
              </a:ext>
            </a:extLst>
          </p:cNvPr>
          <p:cNvSpPr/>
          <p:nvPr/>
        </p:nvSpPr>
        <p:spPr>
          <a:xfrm flipV="1">
            <a:off x="140988" y="434975"/>
            <a:ext cx="2164062" cy="31919"/>
          </a:xfrm>
          <a:prstGeom prst="roundRect">
            <a:avLst>
              <a:gd name="adj" fmla="val 50000"/>
            </a:avLst>
          </a:prstGeom>
          <a:solidFill>
            <a:srgbClr val="0040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90">
              <a:solidFill>
                <a:srgbClr val="004098"/>
              </a:solidFill>
              <a:latin typeface="字体视界-NWE粗楷体" panose="02000500000000000000" pitchFamily="2" charset="-122"/>
              <a:ea typeface="字体视界-NWE粗楷体" panose="02000500000000000000" pitchFamily="2" charset="-122"/>
            </a:endParaRPr>
          </a:p>
        </p:txBody>
      </p:sp>
      <p:sp>
        <p:nvSpPr>
          <p:cNvPr id="2" name="object 3">
            <a:extLst>
              <a:ext uri="{FF2B5EF4-FFF2-40B4-BE49-F238E27FC236}">
                <a16:creationId xmlns="" xmlns:a16="http://schemas.microsoft.com/office/drawing/2014/main" id="{ACB3DB4C-4DF0-AB6A-787A-4B214B63497E}"/>
              </a:ext>
            </a:extLst>
          </p:cNvPr>
          <p:cNvSpPr txBox="1"/>
          <p:nvPr/>
        </p:nvSpPr>
        <p:spPr>
          <a:xfrm>
            <a:off x="567779" y="968375"/>
            <a:ext cx="3641992" cy="1737783"/>
          </a:xfrm>
          <a:prstGeom prst="rect">
            <a:avLst/>
          </a:prstGeom>
        </p:spPr>
        <p:txBody>
          <a:bodyPr vert="horz" wrap="square" lIns="0" tIns="6985" rIns="0" bIns="0" rtlCol="0">
            <a:spAutoFit/>
          </a:bodyPr>
          <a:lstStyle/>
          <a:p>
            <a:pPr marL="144780" marR="5080" indent="-132715">
              <a:lnSpc>
                <a:spcPct val="103000"/>
              </a:lnSpc>
              <a:spcBef>
                <a:spcPts val="600"/>
              </a:spcBef>
              <a:buClr>
                <a:srgbClr val="3333B2"/>
              </a:buClr>
              <a:buSzPct val="91000"/>
              <a:buFont typeface="宋体" panose="02010600030101010101" pitchFamily="2" charset="-122"/>
              <a:buChar char="•"/>
              <a:tabLst>
                <a:tab pos="145415" algn="l"/>
              </a:tabLst>
            </a:pPr>
            <a:r>
              <a:rPr sz="1200" dirty="0">
                <a:solidFill>
                  <a:srgbClr val="000000">
                    <a:alpha val="100000"/>
                  </a:srgbClr>
                </a:solidFill>
                <a:latin typeface="黑体" panose="02010609060101010101" pitchFamily="49" charset="-122"/>
                <a:ea typeface="黑体" panose="02010609060101010101" pitchFamily="49" charset="-122"/>
                <a:cs typeface="Microsoft YaHei"/>
              </a:rPr>
              <a:t>没有结果变量，只是在一组样本上测量的一组预测变量（特征）。</a:t>
            </a:r>
          </a:p>
          <a:p>
            <a:pPr marL="144780" marR="5080" indent="-132715">
              <a:lnSpc>
                <a:spcPct val="103000"/>
              </a:lnSpc>
              <a:spcBef>
                <a:spcPts val="600"/>
              </a:spcBef>
              <a:buClr>
                <a:srgbClr val="3333B2"/>
              </a:buClr>
              <a:buSzPct val="91000"/>
              <a:buFont typeface="宋体" panose="02010600030101010101" pitchFamily="2" charset="-122"/>
              <a:buChar char="•"/>
              <a:tabLst>
                <a:tab pos="145415" algn="l"/>
              </a:tabLst>
            </a:pPr>
            <a:r>
              <a:rPr sz="1200" dirty="0">
                <a:solidFill>
                  <a:srgbClr val="000000">
                    <a:alpha val="100000"/>
                  </a:srgbClr>
                </a:solidFill>
                <a:latin typeface="黑体" panose="02010609060101010101" pitchFamily="49" charset="-122"/>
                <a:ea typeface="黑体" panose="02010609060101010101" pitchFamily="49" charset="-122"/>
                <a:cs typeface="Microsoft YaHei"/>
              </a:rPr>
              <a:t>目标更加模糊——</a:t>
            </a:r>
            <a:r>
              <a:rPr sz="1200" dirty="0" err="1">
                <a:solidFill>
                  <a:srgbClr val="000000">
                    <a:alpha val="100000"/>
                  </a:srgbClr>
                </a:solidFill>
                <a:latin typeface="黑体" panose="02010609060101010101" pitchFamily="49" charset="-122"/>
                <a:ea typeface="黑体" panose="02010609060101010101" pitchFamily="49" charset="-122"/>
                <a:cs typeface="Microsoft YaHei"/>
              </a:rPr>
              <a:t>找到行为相似的样本组，找到行为相似的特征，找到变化</a:t>
            </a:r>
            <a:r>
              <a:rPr lang="zh-CN" altLang="en-US" sz="1200" dirty="0">
                <a:solidFill>
                  <a:srgbClr val="000000">
                    <a:alpha val="100000"/>
                  </a:srgbClr>
                </a:solidFill>
                <a:latin typeface="黑体" panose="02010609060101010101" pitchFamily="49" charset="-122"/>
                <a:ea typeface="黑体" panose="02010609060101010101" pitchFamily="49" charset="-122"/>
                <a:cs typeface="Microsoft YaHei"/>
              </a:rPr>
              <a:t>的</a:t>
            </a:r>
            <a:r>
              <a:rPr sz="1200" dirty="0" err="1">
                <a:solidFill>
                  <a:srgbClr val="000000">
                    <a:alpha val="100000"/>
                  </a:srgbClr>
                </a:solidFill>
                <a:latin typeface="黑体" panose="02010609060101010101" pitchFamily="49" charset="-122"/>
                <a:ea typeface="黑体" panose="02010609060101010101" pitchFamily="49" charset="-122"/>
                <a:cs typeface="Microsoft YaHei"/>
              </a:rPr>
              <a:t>最大的</a:t>
            </a:r>
            <a:r>
              <a:rPr lang="zh-CN" altLang="en-US" sz="1200" dirty="0">
                <a:solidFill>
                  <a:srgbClr val="000000">
                    <a:alpha val="100000"/>
                  </a:srgbClr>
                </a:solidFill>
                <a:latin typeface="黑体" panose="02010609060101010101" pitchFamily="49" charset="-122"/>
                <a:ea typeface="黑体" panose="02010609060101010101" pitchFamily="49" charset="-122"/>
                <a:cs typeface="Microsoft YaHei"/>
              </a:rPr>
              <a:t>那些</a:t>
            </a:r>
            <a:r>
              <a:rPr sz="1200" dirty="0" err="1">
                <a:solidFill>
                  <a:srgbClr val="000000">
                    <a:alpha val="100000"/>
                  </a:srgbClr>
                </a:solidFill>
                <a:latin typeface="黑体" panose="02010609060101010101" pitchFamily="49" charset="-122"/>
                <a:ea typeface="黑体" panose="02010609060101010101" pitchFamily="49" charset="-122"/>
                <a:cs typeface="Microsoft YaHei"/>
              </a:rPr>
              <a:t>特征的线性组合</a:t>
            </a:r>
            <a:r>
              <a:rPr sz="1200" dirty="0">
                <a:solidFill>
                  <a:srgbClr val="000000">
                    <a:alpha val="100000"/>
                  </a:srgbClr>
                </a:solidFill>
                <a:latin typeface="黑体" panose="02010609060101010101" pitchFamily="49" charset="-122"/>
                <a:ea typeface="黑体" panose="02010609060101010101" pitchFamily="49" charset="-122"/>
                <a:cs typeface="Microsoft YaHei"/>
              </a:rPr>
              <a:t>。</a:t>
            </a:r>
          </a:p>
          <a:p>
            <a:pPr marL="144780" marR="5080" indent="-132715">
              <a:lnSpc>
                <a:spcPct val="103000"/>
              </a:lnSpc>
              <a:spcBef>
                <a:spcPts val="600"/>
              </a:spcBef>
              <a:buClr>
                <a:srgbClr val="3333B2"/>
              </a:buClr>
              <a:buSzPct val="91000"/>
              <a:buFont typeface="宋体" panose="02010600030101010101" pitchFamily="2" charset="-122"/>
              <a:buChar char="•"/>
              <a:tabLst>
                <a:tab pos="145415" algn="l"/>
              </a:tabLst>
            </a:pPr>
            <a:r>
              <a:rPr sz="1200" dirty="0">
                <a:solidFill>
                  <a:srgbClr val="000000">
                    <a:alpha val="100000"/>
                  </a:srgbClr>
                </a:solidFill>
                <a:latin typeface="黑体" panose="02010609060101010101" pitchFamily="49" charset="-122"/>
                <a:ea typeface="黑体" panose="02010609060101010101" pitchFamily="49" charset="-122"/>
                <a:cs typeface="Microsoft YaHei"/>
              </a:rPr>
              <a:t>很难知道你的表现如何。</a:t>
            </a:r>
          </a:p>
          <a:p>
            <a:pPr marL="144780" marR="5080" indent="-132715">
              <a:lnSpc>
                <a:spcPct val="103000"/>
              </a:lnSpc>
              <a:spcBef>
                <a:spcPts val="600"/>
              </a:spcBef>
              <a:buClr>
                <a:srgbClr val="3333B2"/>
              </a:buClr>
              <a:buSzPct val="91000"/>
              <a:buFont typeface="宋体" panose="02010600030101010101" pitchFamily="2" charset="-122"/>
              <a:buChar char="•"/>
              <a:tabLst>
                <a:tab pos="145415" algn="l"/>
              </a:tabLst>
            </a:pPr>
            <a:r>
              <a:rPr lang="zh-CN" altLang="en-US" sz="1200" dirty="0">
                <a:solidFill>
                  <a:srgbClr val="000000">
                    <a:alpha val="100000"/>
                  </a:srgbClr>
                </a:solidFill>
                <a:latin typeface="黑体" panose="02010609060101010101" pitchFamily="49" charset="-122"/>
                <a:ea typeface="黑体" panose="02010609060101010101" pitchFamily="49" charset="-122"/>
                <a:cs typeface="Microsoft YaHei"/>
              </a:rPr>
              <a:t>与</a:t>
            </a:r>
            <a:r>
              <a:rPr sz="1200" dirty="0" err="1">
                <a:solidFill>
                  <a:srgbClr val="000000">
                    <a:alpha val="100000"/>
                  </a:srgbClr>
                </a:solidFill>
                <a:latin typeface="黑体" panose="02010609060101010101" pitchFamily="49" charset="-122"/>
                <a:ea typeface="黑体" panose="02010609060101010101" pitchFamily="49" charset="-122"/>
                <a:cs typeface="Microsoft YaHei"/>
              </a:rPr>
              <a:t>监督学习</a:t>
            </a:r>
            <a:r>
              <a:rPr lang="zh-CN" altLang="en-US" sz="1200" dirty="0">
                <a:solidFill>
                  <a:srgbClr val="000000">
                    <a:alpha val="100000"/>
                  </a:srgbClr>
                </a:solidFill>
                <a:latin typeface="黑体" panose="02010609060101010101" pitchFamily="49" charset="-122"/>
                <a:ea typeface="黑体" panose="02010609060101010101" pitchFamily="49" charset="-122"/>
                <a:cs typeface="Microsoft YaHei"/>
              </a:rPr>
              <a:t>不相同</a:t>
            </a:r>
            <a:r>
              <a:rPr sz="1200" dirty="0">
                <a:solidFill>
                  <a:srgbClr val="000000">
                    <a:alpha val="100000"/>
                  </a:srgbClr>
                </a:solidFill>
                <a:latin typeface="黑体" panose="02010609060101010101" pitchFamily="49" charset="-122"/>
                <a:ea typeface="黑体" panose="02010609060101010101" pitchFamily="49" charset="-122"/>
                <a:cs typeface="Microsoft YaHei"/>
              </a:rPr>
              <a:t>，</a:t>
            </a:r>
            <a:r>
              <a:rPr sz="1200" dirty="0" err="1">
                <a:solidFill>
                  <a:srgbClr val="000000">
                    <a:alpha val="100000"/>
                  </a:srgbClr>
                </a:solidFill>
                <a:latin typeface="黑体" panose="02010609060101010101" pitchFamily="49" charset="-122"/>
                <a:ea typeface="黑体" panose="02010609060101010101" pitchFamily="49" charset="-122"/>
                <a:cs typeface="Microsoft YaHei"/>
              </a:rPr>
              <a:t>但可以用作监督学习的预处理步骤</a:t>
            </a:r>
            <a:r>
              <a:rPr sz="1200" dirty="0">
                <a:solidFill>
                  <a:srgbClr val="000000">
                    <a:alpha val="100000"/>
                  </a:srgbClr>
                </a:solidFill>
                <a:latin typeface="黑体" panose="02010609060101010101" pitchFamily="49" charset="-122"/>
                <a:ea typeface="黑体" panose="02010609060101010101" pitchFamily="49" charset="-122"/>
                <a:cs typeface="Microsoft YaHei"/>
              </a:rPr>
              <a:t>。</a:t>
            </a:r>
          </a:p>
        </p:txBody>
      </p:sp>
    </p:spTree>
    <p:extLst>
      <p:ext uri="{BB962C8B-B14F-4D97-AF65-F5344CB8AC3E}">
        <p14:creationId xmlns:p14="http://schemas.microsoft.com/office/powerpoint/2010/main" val="260300328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原创设计师QQ598969553      _2">
            <a:extLst>
              <a:ext uri="{FF2B5EF4-FFF2-40B4-BE49-F238E27FC236}">
                <a16:creationId xmlns="" xmlns:a16="http://schemas.microsoft.com/office/drawing/2014/main" id="{7C4725B1-D255-CC63-745B-0C08A542F8E6}"/>
              </a:ext>
            </a:extLst>
          </p:cNvPr>
          <p:cNvSpPr txBox="1"/>
          <p:nvPr/>
        </p:nvSpPr>
        <p:spPr>
          <a:xfrm>
            <a:off x="618435" y="185570"/>
            <a:ext cx="2267573" cy="204379"/>
          </a:xfrm>
          <a:prstGeom prst="rect">
            <a:avLst/>
          </a:prstGeom>
          <a:noFill/>
        </p:spPr>
        <p:txBody>
          <a:bodyPr wrap="square" lIns="34762" tIns="17381" rIns="34762" bIns="17381" rtlCol="0">
            <a:spAutoFit/>
          </a:bodyPr>
          <a:lstStyle/>
          <a:p>
            <a:r>
              <a:rPr lang="zh-CN" altLang="en-US" sz="1100" b="1" dirty="0">
                <a:latin typeface="微软雅黑" panose="020B0503020204020204" pitchFamily="34" charset="-122"/>
                <a:ea typeface="微软雅黑" panose="020B0503020204020204" pitchFamily="34" charset="-122"/>
              </a:rPr>
              <a:t>统计学习 </a:t>
            </a:r>
            <a:r>
              <a:rPr lang="en-US" altLang="zh-CN" sz="1100" b="1" dirty="0">
                <a:latin typeface="微软雅黑" panose="020B0503020204020204" pitchFamily="34" charset="-122"/>
                <a:ea typeface="微软雅黑" panose="020B0503020204020204" pitchFamily="34" charset="-122"/>
              </a:rPr>
              <a:t>vs </a:t>
            </a:r>
            <a:r>
              <a:rPr lang="zh-CN" altLang="en-US" sz="1100" b="1" dirty="0">
                <a:latin typeface="微软雅黑" panose="020B0503020204020204" pitchFamily="34" charset="-122"/>
                <a:ea typeface="微软雅黑" panose="020B0503020204020204" pitchFamily="34" charset="-122"/>
              </a:rPr>
              <a:t>机器学习</a:t>
            </a:r>
          </a:p>
        </p:txBody>
      </p:sp>
      <p:grpSp>
        <p:nvGrpSpPr>
          <p:cNvPr id="68" name="原创设计师QQ598969553      _9">
            <a:extLst>
              <a:ext uri="{FF2B5EF4-FFF2-40B4-BE49-F238E27FC236}">
                <a16:creationId xmlns="" xmlns:a16="http://schemas.microsoft.com/office/drawing/2014/main" id="{EC33079E-1247-70DE-8763-3ACDD65E706D}"/>
              </a:ext>
            </a:extLst>
          </p:cNvPr>
          <p:cNvGrpSpPr/>
          <p:nvPr/>
        </p:nvGrpSpPr>
        <p:grpSpPr>
          <a:xfrm>
            <a:off x="188162" y="153558"/>
            <a:ext cx="304678" cy="243737"/>
            <a:chOff x="4268207" y="2118116"/>
            <a:chExt cx="2653566" cy="2214138"/>
          </a:xfrm>
        </p:grpSpPr>
        <p:grpSp>
          <p:nvGrpSpPr>
            <p:cNvPr id="69" name="组合 68">
              <a:extLst>
                <a:ext uri="{FF2B5EF4-FFF2-40B4-BE49-F238E27FC236}">
                  <a16:creationId xmlns="" xmlns:a16="http://schemas.microsoft.com/office/drawing/2014/main" id="{3866FBD5-A960-6794-8BA4-9DBBA9FC3AA3}"/>
                </a:ext>
              </a:extLst>
            </p:cNvPr>
            <p:cNvGrpSpPr/>
            <p:nvPr/>
          </p:nvGrpSpPr>
          <p:grpSpPr>
            <a:xfrm>
              <a:off x="4508674" y="2118116"/>
              <a:ext cx="2204282" cy="2204282"/>
              <a:chOff x="1517331" y="1125257"/>
              <a:chExt cx="2204282" cy="2204282"/>
            </a:xfrm>
          </p:grpSpPr>
          <p:sp>
            <p:nvSpPr>
              <p:cNvPr id="71" name="椭圆 70">
                <a:extLst>
                  <a:ext uri="{FF2B5EF4-FFF2-40B4-BE49-F238E27FC236}">
                    <a16:creationId xmlns="" xmlns:a16="http://schemas.microsoft.com/office/drawing/2014/main" id="{68A1054A-58A0-C11B-68D9-FA23D2B35325}"/>
                  </a:ext>
                </a:extLst>
              </p:cNvPr>
              <p:cNvSpPr/>
              <p:nvPr/>
            </p:nvSpPr>
            <p:spPr>
              <a:xfrm>
                <a:off x="1517331" y="1125257"/>
                <a:ext cx="2204282" cy="2204282"/>
              </a:xfrm>
              <a:prstGeom prst="ellipse">
                <a:avLst/>
              </a:prstGeom>
              <a:gradFill>
                <a:gsLst>
                  <a:gs pos="0">
                    <a:srgbClr val="EBEBEB"/>
                  </a:gs>
                  <a:gs pos="100000">
                    <a:srgbClr val="FEFEFE"/>
                  </a:gs>
                </a:gsLst>
                <a:lin ang="7530000" scaled="0"/>
              </a:gradFill>
              <a:ln w="12700">
                <a:solidFill>
                  <a:schemeClr val="bg1"/>
                </a:solidFill>
              </a:ln>
              <a:effectLst>
                <a:outerShdw blurRad="457200" dist="444500" dir="7800000" sx="89000" sy="89000" algn="tr" rotWithShape="0">
                  <a:prstClr val="black">
                    <a:alpha val="3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76">
                  <a:latin typeface="字体视界-NWE粗楷体" panose="02000500000000000000" pitchFamily="2" charset="-122"/>
                  <a:ea typeface="字体视界-NWE粗楷体" panose="02000500000000000000" pitchFamily="2" charset="-122"/>
                </a:endParaRPr>
              </a:p>
            </p:txBody>
          </p:sp>
          <p:sp>
            <p:nvSpPr>
              <p:cNvPr id="72" name="椭圆 71">
                <a:extLst>
                  <a:ext uri="{FF2B5EF4-FFF2-40B4-BE49-F238E27FC236}">
                    <a16:creationId xmlns="" xmlns:a16="http://schemas.microsoft.com/office/drawing/2014/main" id="{BFBCAB49-6A8C-B2B3-35ED-D6BBBED5CF8B}"/>
                  </a:ext>
                </a:extLst>
              </p:cNvPr>
              <p:cNvSpPr/>
              <p:nvPr/>
            </p:nvSpPr>
            <p:spPr>
              <a:xfrm>
                <a:off x="1719371" y="1344751"/>
                <a:ext cx="1800198" cy="1800200"/>
              </a:xfrm>
              <a:prstGeom prst="ellipse">
                <a:avLst/>
              </a:prstGeom>
              <a:solidFill>
                <a:srgbClr val="004098"/>
              </a:solidFill>
              <a:ln>
                <a:noFill/>
              </a:ln>
              <a:effectLst>
                <a:innerShdw blurRad="101600" dist="50800" dir="18900000">
                  <a:prstClr val="black">
                    <a:alpha val="43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76">
                  <a:latin typeface="字体视界-NWE粗楷体" panose="02000500000000000000" pitchFamily="2" charset="-122"/>
                  <a:ea typeface="字体视界-NWE粗楷体" panose="02000500000000000000" pitchFamily="2" charset="-122"/>
                </a:endParaRPr>
              </a:p>
            </p:txBody>
          </p:sp>
        </p:grpSp>
        <p:sp>
          <p:nvSpPr>
            <p:cNvPr id="70" name="TextBox 80">
              <a:extLst>
                <a:ext uri="{FF2B5EF4-FFF2-40B4-BE49-F238E27FC236}">
                  <a16:creationId xmlns="" xmlns:a16="http://schemas.microsoft.com/office/drawing/2014/main" id="{7A547AF7-EE79-5DEF-44B1-CF755100FDCC}"/>
                </a:ext>
              </a:extLst>
            </p:cNvPr>
            <p:cNvSpPr txBox="1"/>
            <p:nvPr/>
          </p:nvSpPr>
          <p:spPr>
            <a:xfrm>
              <a:off x="4268207" y="2408917"/>
              <a:ext cx="2653566" cy="1923337"/>
            </a:xfrm>
            <a:prstGeom prst="rect">
              <a:avLst/>
            </a:prstGeom>
            <a:noFill/>
          </p:spPr>
          <p:txBody>
            <a:bodyPr wrap="square" rtlCol="0">
              <a:spAutoFit/>
            </a:bodyPr>
            <a:lstStyle/>
            <a:p>
              <a:r>
                <a:rPr lang="en-US" altLang="zh-CN" sz="776" dirty="0">
                  <a:solidFill>
                    <a:schemeClr val="bg1"/>
                  </a:solidFill>
                  <a:latin typeface="字体视界-NWE粗楷体" panose="02000500000000000000" pitchFamily="2" charset="-122"/>
                  <a:ea typeface="字体视界-NWE粗楷体" panose="02000500000000000000" pitchFamily="2" charset="-122"/>
                </a:rPr>
                <a:t>06</a:t>
              </a:r>
            </a:p>
          </p:txBody>
        </p:sp>
      </p:grpSp>
      <p:sp>
        <p:nvSpPr>
          <p:cNvPr id="73" name="原创设计师QQ598969553      _12">
            <a:extLst>
              <a:ext uri="{FF2B5EF4-FFF2-40B4-BE49-F238E27FC236}">
                <a16:creationId xmlns="" xmlns:a16="http://schemas.microsoft.com/office/drawing/2014/main" id="{760473EF-0D78-F124-1B4B-A4A3255E7476}"/>
              </a:ext>
            </a:extLst>
          </p:cNvPr>
          <p:cNvSpPr>
            <a:spLocks noChangeShapeType="1"/>
          </p:cNvSpPr>
          <p:nvPr/>
        </p:nvSpPr>
        <p:spPr bwMode="auto">
          <a:xfrm flipH="1" flipV="1">
            <a:off x="543649" y="130604"/>
            <a:ext cx="0" cy="307269"/>
          </a:xfrm>
          <a:prstGeom prst="line">
            <a:avLst/>
          </a:prstGeom>
          <a:noFill/>
          <a:ln w="19050">
            <a:solidFill>
              <a:srgbClr val="004098"/>
            </a:solidFill>
            <a:prstDash val="dash"/>
            <a:round/>
          </a:ln>
          <a:extLst>
            <a:ext uri="{909E8E84-426E-40DD-AFC4-6F175D3DCCD1}">
              <a14:hiddenFill xmlns:a14="http://schemas.microsoft.com/office/drawing/2010/main">
                <a:noFill/>
              </a14:hiddenFill>
            </a:ext>
          </a:extLst>
        </p:spPr>
        <p:txBody>
          <a:bodyPr/>
          <a:lstStyle/>
          <a:p>
            <a:endParaRPr lang="zh-CN" altLang="en-US" sz="776" dirty="0"/>
          </a:p>
        </p:txBody>
      </p:sp>
      <p:sp>
        <p:nvSpPr>
          <p:cNvPr id="74" name="矩形: 圆角 18">
            <a:extLst>
              <a:ext uri="{FF2B5EF4-FFF2-40B4-BE49-F238E27FC236}">
                <a16:creationId xmlns="" xmlns:a16="http://schemas.microsoft.com/office/drawing/2014/main" id="{7C923056-96D1-FDBC-A663-A1F8635BC91E}"/>
              </a:ext>
            </a:extLst>
          </p:cNvPr>
          <p:cNvSpPr/>
          <p:nvPr/>
        </p:nvSpPr>
        <p:spPr>
          <a:xfrm flipV="1">
            <a:off x="140988" y="434975"/>
            <a:ext cx="2164062" cy="31919"/>
          </a:xfrm>
          <a:prstGeom prst="roundRect">
            <a:avLst>
              <a:gd name="adj" fmla="val 50000"/>
            </a:avLst>
          </a:prstGeom>
          <a:solidFill>
            <a:srgbClr val="0040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90">
              <a:solidFill>
                <a:srgbClr val="004098"/>
              </a:solidFill>
              <a:latin typeface="字体视界-NWE粗楷体" panose="02000500000000000000" pitchFamily="2" charset="-122"/>
              <a:ea typeface="字体视界-NWE粗楷体" panose="02000500000000000000" pitchFamily="2" charset="-122"/>
            </a:endParaRPr>
          </a:p>
        </p:txBody>
      </p:sp>
      <p:sp>
        <p:nvSpPr>
          <p:cNvPr id="3" name="矩形 2">
            <a:extLst>
              <a:ext uri="{FF2B5EF4-FFF2-40B4-BE49-F238E27FC236}">
                <a16:creationId xmlns="" xmlns:a16="http://schemas.microsoft.com/office/drawing/2014/main" id="{7149561F-594F-4BAC-127A-865977862515}"/>
              </a:ext>
            </a:extLst>
          </p:cNvPr>
          <p:cNvSpPr/>
          <p:nvPr/>
        </p:nvSpPr>
        <p:spPr>
          <a:xfrm>
            <a:off x="445666" y="701666"/>
            <a:ext cx="3891673" cy="2455800"/>
          </a:xfrm>
          <a:prstGeom prst="rect">
            <a:avLst/>
          </a:prstGeom>
        </p:spPr>
        <p:txBody>
          <a:bodyPr wrap="square">
            <a:spAutoFit/>
          </a:bodyPr>
          <a:lstStyle/>
          <a:p>
            <a:pPr marL="144780" marR="5080" indent="-132715">
              <a:lnSpc>
                <a:spcPct val="103000"/>
              </a:lnSpc>
              <a:spcBef>
                <a:spcPts val="600"/>
              </a:spcBef>
              <a:buClr>
                <a:srgbClr val="3333B2"/>
              </a:buClr>
              <a:buSzPct val="91000"/>
              <a:buFont typeface="宋体" panose="02010600030101010101" pitchFamily="2" charset="-122"/>
              <a:buChar char="•"/>
              <a:tabLst>
                <a:tab pos="145415" algn="l"/>
              </a:tabLst>
            </a:pPr>
            <a:r>
              <a:rPr lang="zh-CN" altLang="en-US" sz="1200" dirty="0">
                <a:solidFill>
                  <a:srgbClr val="000000">
                    <a:alpha val="100000"/>
                  </a:srgbClr>
                </a:solidFill>
                <a:latin typeface="黑体" panose="02010609060101010101" pitchFamily="49" charset="-122"/>
                <a:ea typeface="黑体" panose="02010609060101010101" pitchFamily="49" charset="-122"/>
                <a:cs typeface="Microsoft YaHei"/>
              </a:rPr>
              <a:t>机器学习作为人工智能的一个子领域而逐步成长</a:t>
            </a:r>
          </a:p>
          <a:p>
            <a:pPr marL="144780" marR="5080" indent="-132715">
              <a:lnSpc>
                <a:spcPct val="103000"/>
              </a:lnSpc>
              <a:spcBef>
                <a:spcPts val="600"/>
              </a:spcBef>
              <a:buClr>
                <a:srgbClr val="3333B2"/>
              </a:buClr>
              <a:buSzPct val="91000"/>
              <a:buFont typeface="宋体" panose="02010600030101010101" pitchFamily="2" charset="-122"/>
              <a:buChar char="•"/>
              <a:tabLst>
                <a:tab pos="145415" algn="l"/>
              </a:tabLst>
            </a:pPr>
            <a:r>
              <a:rPr lang="zh-CN" altLang="en-US" sz="1200" dirty="0">
                <a:solidFill>
                  <a:srgbClr val="000000">
                    <a:alpha val="100000"/>
                  </a:srgbClr>
                </a:solidFill>
                <a:latin typeface="黑体" panose="02010609060101010101" pitchFamily="49" charset="-122"/>
                <a:ea typeface="黑体" panose="02010609060101010101" pitchFamily="49" charset="-122"/>
                <a:cs typeface="Microsoft YaHei"/>
              </a:rPr>
              <a:t>统计学习作为统计的子领域而存在.</a:t>
            </a:r>
          </a:p>
          <a:p>
            <a:pPr marL="144780" marR="5080" indent="-132715">
              <a:lnSpc>
                <a:spcPct val="103000"/>
              </a:lnSpc>
              <a:spcBef>
                <a:spcPts val="600"/>
              </a:spcBef>
              <a:buClr>
                <a:srgbClr val="3333B2"/>
              </a:buClr>
              <a:buSzPct val="91000"/>
              <a:buFont typeface="宋体" panose="02010600030101010101" pitchFamily="2" charset="-122"/>
              <a:buChar char="•"/>
              <a:tabLst>
                <a:tab pos="145415" algn="l"/>
              </a:tabLst>
            </a:pPr>
            <a:r>
              <a:rPr lang="zh-CN" altLang="en-US" sz="1200" dirty="0">
                <a:solidFill>
                  <a:srgbClr val="000000">
                    <a:alpha val="100000"/>
                  </a:srgbClr>
                </a:solidFill>
                <a:latin typeface="黑体" panose="02010609060101010101" pitchFamily="49" charset="-122"/>
                <a:ea typeface="黑体" panose="02010609060101010101" pitchFamily="49" charset="-122"/>
                <a:cs typeface="Microsoft YaHei"/>
              </a:rPr>
              <a:t>There is much overlap — 两个领域都聚焦于有监督和无监督学习的问题:</a:t>
            </a:r>
          </a:p>
          <a:p>
            <a:pPr marL="144780" marR="5080" indent="-132715">
              <a:lnSpc>
                <a:spcPct val="103000"/>
              </a:lnSpc>
              <a:spcBef>
                <a:spcPts val="600"/>
              </a:spcBef>
              <a:buClr>
                <a:srgbClr val="3333B2"/>
              </a:buClr>
              <a:buSzPct val="91000"/>
              <a:buFont typeface="宋体" panose="02010600030101010101" pitchFamily="2" charset="-122"/>
              <a:buChar char="•"/>
              <a:tabLst>
                <a:tab pos="145415" algn="l"/>
              </a:tabLst>
            </a:pPr>
            <a:r>
              <a:rPr lang="zh-CN" altLang="en-US" sz="1200" dirty="0">
                <a:solidFill>
                  <a:srgbClr val="000000">
                    <a:alpha val="100000"/>
                  </a:srgbClr>
                </a:solidFill>
                <a:latin typeface="黑体" panose="02010609060101010101" pitchFamily="49" charset="-122"/>
                <a:ea typeface="黑体" panose="02010609060101010101" pitchFamily="49" charset="-122"/>
                <a:cs typeface="Microsoft YaHei"/>
              </a:rPr>
              <a:t>机器学习更强调大规模应用和预测的准确性</a:t>
            </a:r>
          </a:p>
          <a:p>
            <a:pPr marL="144780" marR="5080" indent="-132715">
              <a:lnSpc>
                <a:spcPct val="103000"/>
              </a:lnSpc>
              <a:spcBef>
                <a:spcPts val="600"/>
              </a:spcBef>
              <a:buClr>
                <a:srgbClr val="3333B2"/>
              </a:buClr>
              <a:buSzPct val="91000"/>
              <a:buFont typeface="宋体" panose="02010600030101010101" pitchFamily="2" charset="-122"/>
              <a:buChar char="•"/>
              <a:tabLst>
                <a:tab pos="145415" algn="l"/>
              </a:tabLst>
            </a:pPr>
            <a:r>
              <a:rPr lang="zh-CN" altLang="en-US" sz="1200" dirty="0">
                <a:solidFill>
                  <a:srgbClr val="000000">
                    <a:alpha val="100000"/>
                  </a:srgbClr>
                </a:solidFill>
                <a:latin typeface="黑体" panose="02010609060101010101" pitchFamily="49" charset="-122"/>
                <a:ea typeface="黑体" panose="02010609060101010101" pitchFamily="49" charset="-122"/>
                <a:cs typeface="Microsoft YaHei"/>
              </a:rPr>
              <a:t>统计学习强调模型及其可解释性(</a:t>
            </a:r>
            <a:r>
              <a:rPr lang="zh-CN" altLang="en-US" sz="1200" dirty="0">
                <a:solidFill>
                  <a:srgbClr val="004098"/>
                </a:solidFill>
                <a:latin typeface="黑体" panose="02010609060101010101" pitchFamily="49" charset="-122"/>
                <a:ea typeface="黑体" panose="02010609060101010101" pitchFamily="49" charset="-122"/>
                <a:cs typeface="Microsoft YaHei"/>
              </a:rPr>
              <a:t>interpretability</a:t>
            </a:r>
            <a:r>
              <a:rPr lang="zh-CN" altLang="en-US" sz="1200" dirty="0">
                <a:solidFill>
                  <a:srgbClr val="000000">
                    <a:alpha val="100000"/>
                  </a:srgbClr>
                </a:solidFill>
                <a:latin typeface="黑体" panose="02010609060101010101" pitchFamily="49" charset="-122"/>
                <a:ea typeface="黑体" panose="02010609060101010101" pitchFamily="49" charset="-122"/>
                <a:cs typeface="Microsoft YaHei"/>
              </a:rPr>
              <a:t> )，精度(</a:t>
            </a:r>
            <a:r>
              <a:rPr lang="zh-CN" altLang="en-US" sz="1200" dirty="0">
                <a:solidFill>
                  <a:srgbClr val="004098"/>
                </a:solidFill>
                <a:latin typeface="黑体" panose="02010609060101010101" pitchFamily="49" charset="-122"/>
                <a:ea typeface="黑体" panose="02010609060101010101" pitchFamily="49" charset="-122"/>
                <a:cs typeface="Microsoft YaHei"/>
              </a:rPr>
              <a:t>precision</a:t>
            </a:r>
            <a:r>
              <a:rPr lang="zh-CN" altLang="en-US" sz="1200" dirty="0">
                <a:solidFill>
                  <a:srgbClr val="000000">
                    <a:alpha val="100000"/>
                  </a:srgbClr>
                </a:solidFill>
                <a:latin typeface="黑体" panose="02010609060101010101" pitchFamily="49" charset="-122"/>
                <a:ea typeface="黑体" panose="02010609060101010101" pitchFamily="49" charset="-122"/>
                <a:cs typeface="Microsoft YaHei"/>
              </a:rPr>
              <a:t>) 和不确定性(</a:t>
            </a:r>
            <a:r>
              <a:rPr lang="zh-CN" altLang="en-US" sz="1200" dirty="0">
                <a:solidFill>
                  <a:srgbClr val="004098"/>
                </a:solidFill>
                <a:latin typeface="黑体" panose="02010609060101010101" pitchFamily="49" charset="-122"/>
                <a:ea typeface="黑体" panose="02010609060101010101" pitchFamily="49" charset="-122"/>
                <a:cs typeface="Microsoft YaHei"/>
              </a:rPr>
              <a:t>uncertainty</a:t>
            </a:r>
            <a:r>
              <a:rPr lang="zh-CN" altLang="en-US" sz="1200" dirty="0">
                <a:solidFill>
                  <a:srgbClr val="000000">
                    <a:alpha val="100000"/>
                  </a:srgbClr>
                </a:solidFill>
                <a:latin typeface="黑体" panose="02010609060101010101" pitchFamily="49" charset="-122"/>
                <a:ea typeface="黑体" panose="02010609060101010101" pitchFamily="49" charset="-122"/>
                <a:cs typeface="Microsoft YaHei"/>
              </a:rPr>
              <a:t>).</a:t>
            </a:r>
          </a:p>
          <a:p>
            <a:pPr marL="144780" marR="5080" indent="-132715">
              <a:lnSpc>
                <a:spcPct val="103000"/>
              </a:lnSpc>
              <a:spcBef>
                <a:spcPts val="600"/>
              </a:spcBef>
              <a:buClr>
                <a:srgbClr val="3333B2"/>
              </a:buClr>
              <a:buSzPct val="91000"/>
              <a:buFont typeface="宋体" panose="02010600030101010101" pitchFamily="2" charset="-122"/>
              <a:buChar char="•"/>
              <a:tabLst>
                <a:tab pos="145415" algn="l"/>
              </a:tabLst>
            </a:pPr>
            <a:r>
              <a:rPr lang="zh-CN" altLang="en-US" sz="1200" dirty="0">
                <a:solidFill>
                  <a:srgbClr val="000000">
                    <a:alpha val="100000"/>
                  </a:srgbClr>
                </a:solidFill>
                <a:latin typeface="黑体" panose="02010609060101010101" pitchFamily="49" charset="-122"/>
                <a:ea typeface="黑体" panose="02010609060101010101" pitchFamily="49" charset="-122"/>
                <a:cs typeface="Microsoft YaHei"/>
              </a:rPr>
              <a:t>两者之间的差别越来越模糊，并且存在这大量的交叉.</a:t>
            </a:r>
          </a:p>
          <a:p>
            <a:pPr marL="144780" marR="5080" indent="-132715">
              <a:lnSpc>
                <a:spcPct val="103000"/>
              </a:lnSpc>
              <a:spcBef>
                <a:spcPts val="600"/>
              </a:spcBef>
              <a:buClr>
                <a:srgbClr val="3333B2"/>
              </a:buClr>
              <a:buSzPct val="91000"/>
              <a:buFont typeface="宋体" panose="02010600030101010101" pitchFamily="2" charset="-122"/>
              <a:buChar char="•"/>
              <a:tabLst>
                <a:tab pos="145415" algn="l"/>
              </a:tabLst>
            </a:pPr>
            <a:r>
              <a:rPr lang="zh-CN" altLang="en-US" sz="1200" dirty="0">
                <a:solidFill>
                  <a:srgbClr val="000000">
                    <a:alpha val="100000"/>
                  </a:srgbClr>
                </a:solidFill>
                <a:latin typeface="黑体" panose="02010609060101010101" pitchFamily="49" charset="-122"/>
                <a:ea typeface="黑体" panose="02010609060101010101" pitchFamily="49" charset="-122"/>
                <a:cs typeface="Microsoft YaHei"/>
              </a:rPr>
              <a:t>机器学习的市场营销方面做的更好!</a:t>
            </a:r>
          </a:p>
        </p:txBody>
      </p:sp>
    </p:spTree>
    <p:extLst>
      <p:ext uri="{BB962C8B-B14F-4D97-AF65-F5344CB8AC3E}">
        <p14:creationId xmlns:p14="http://schemas.microsoft.com/office/powerpoint/2010/main" val="100066949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308722" y="1590624"/>
            <a:ext cx="3890866" cy="371640"/>
          </a:xfrm>
          <a:prstGeom prst="rect">
            <a:avLst/>
          </a:prstGeom>
          <a:noFill/>
        </p:spPr>
        <p:txBody>
          <a:bodyPr wrap="square" rtlCol="0">
            <a:spAutoFit/>
          </a:bodyPr>
          <a:lstStyle/>
          <a:p>
            <a:pPr algn="ctr" defTabSz="345744"/>
            <a:r>
              <a:rPr lang="en-US" altLang="zh-CN" sz="1815" dirty="0" smtClean="0">
                <a:solidFill>
                  <a:srgbClr val="004098"/>
                </a:solidFill>
                <a:latin typeface="华文新魏" panose="02010800040101010101" pitchFamily="2" charset="-122"/>
                <a:ea typeface="华文新魏" panose="02010800040101010101" pitchFamily="2" charset="-122"/>
              </a:rPr>
              <a:t>Q:</a:t>
            </a:r>
            <a:r>
              <a:rPr lang="zh-CN" altLang="en-US" sz="1815" dirty="0" smtClean="0">
                <a:solidFill>
                  <a:srgbClr val="004098"/>
                </a:solidFill>
                <a:latin typeface="华文新魏" panose="02010800040101010101" pitchFamily="2" charset="-122"/>
                <a:ea typeface="华文新魏" panose="02010800040101010101" pitchFamily="2" charset="-122"/>
              </a:rPr>
              <a:t>请说出你知道的有名统计学家？</a:t>
            </a:r>
            <a:endParaRPr lang="zh-CN" altLang="en-US" sz="1815" dirty="0">
              <a:solidFill>
                <a:srgbClr val="004098"/>
              </a:solidFill>
              <a:latin typeface="华文新魏" panose="02010800040101010101" pitchFamily="2" charset="-122"/>
              <a:ea typeface="华文新魏" panose="02010800040101010101" pitchFamily="2" charset="-122"/>
            </a:endParaRPr>
          </a:p>
        </p:txBody>
      </p:sp>
      <p:sp>
        <p:nvSpPr>
          <p:cNvPr id="3" name="矩形: 剪去对角 2"/>
          <p:cNvSpPr/>
          <p:nvPr/>
        </p:nvSpPr>
        <p:spPr>
          <a:xfrm flipH="1">
            <a:off x="4028926" y="3075970"/>
            <a:ext cx="581174" cy="247490"/>
          </a:xfrm>
          <a:prstGeom prst="snip2DiagRect">
            <a:avLst>
              <a:gd name="adj1" fmla="val 0"/>
              <a:gd name="adj2" fmla="val 50000"/>
            </a:avLst>
          </a:prstGeom>
          <a:solidFill>
            <a:srgbClr val="0040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5744"/>
            <a:endParaRPr lang="zh-CN" altLang="en-US" sz="681">
              <a:solidFill>
                <a:prstClr val="white"/>
              </a:solidFill>
              <a:latin typeface="等线" panose="02010600030101010101" charset="-122"/>
              <a:ea typeface="等线" panose="02010600030101010101" charset="-122"/>
            </a:endParaRPr>
          </a:p>
        </p:txBody>
      </p:sp>
      <p:sp>
        <p:nvSpPr>
          <p:cNvPr id="4" name="矩形: 剪去对角 3"/>
          <p:cNvSpPr/>
          <p:nvPr/>
        </p:nvSpPr>
        <p:spPr>
          <a:xfrm>
            <a:off x="0" y="3079570"/>
            <a:ext cx="607805" cy="247490"/>
          </a:xfrm>
          <a:prstGeom prst="snip2DiagRect">
            <a:avLst>
              <a:gd name="adj1" fmla="val 0"/>
              <a:gd name="adj2" fmla="val 50000"/>
            </a:avLst>
          </a:prstGeom>
          <a:solidFill>
            <a:srgbClr val="0040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5744"/>
            <a:endParaRPr lang="zh-CN" altLang="en-US" sz="681">
              <a:solidFill>
                <a:prstClr val="white"/>
              </a:solidFill>
              <a:latin typeface="等线" panose="02010600030101010101" charset="-122"/>
              <a:ea typeface="等线" panose="02010600030101010101" charset="-122"/>
            </a:endParaRPr>
          </a:p>
        </p:txBody>
      </p:sp>
      <p:sp>
        <p:nvSpPr>
          <p:cNvPr id="5" name="矩形 4"/>
          <p:cNvSpPr/>
          <p:nvPr/>
        </p:nvSpPr>
        <p:spPr>
          <a:xfrm>
            <a:off x="230" y="3239181"/>
            <a:ext cx="4609871" cy="120744"/>
          </a:xfrm>
          <a:prstGeom prst="rect">
            <a:avLst/>
          </a:prstGeom>
          <a:solidFill>
            <a:srgbClr val="004098"/>
          </a:solidFill>
          <a:ln>
            <a:noFill/>
          </a:ln>
        </p:spPr>
        <p:style>
          <a:lnRef idx="2">
            <a:schemeClr val="dk1">
              <a:shade val="50000"/>
            </a:schemeClr>
          </a:lnRef>
          <a:fillRef idx="1">
            <a:schemeClr val="dk1"/>
          </a:fillRef>
          <a:effectRef idx="0">
            <a:schemeClr val="dk1"/>
          </a:effectRef>
          <a:fontRef idx="minor">
            <a:schemeClr val="lt1"/>
          </a:fontRef>
        </p:style>
        <p:txBody>
          <a:bodyPr anchor="ctr"/>
          <a:lstStyle/>
          <a:p>
            <a:pPr algn="ctr" defTabSz="345744">
              <a:defRPr/>
            </a:pPr>
            <a:endParaRPr lang="zh-CN" altLang="en-US" sz="681">
              <a:solidFill>
                <a:prstClr val="white"/>
              </a:solidFill>
              <a:latin typeface="Constantia" panose="02030602050306030303"/>
              <a:ea typeface="宋体" panose="02010600030101010101" pitchFamily="2" charset="-122"/>
            </a:endParaRPr>
          </a:p>
        </p:txBody>
      </p:sp>
      <p:pic>
        <p:nvPicPr>
          <p:cNvPr id="6" name="图片 5" descr="图片1"/>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2463" y="3252734"/>
            <a:ext cx="2523764" cy="84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图片 6" descr="图片1"/>
          <p:cNvPicPr>
            <a:picLocks noChangeAspect="1"/>
          </p:cNvPicPr>
          <p:nvPr/>
        </p:nvPicPr>
        <p:blipFill>
          <a:blip r:embed="rId4" cstate="print">
            <a:extLst>
              <a:ext uri="{28A0092B-C50C-407E-A947-70E740481C1C}">
                <a14:useLocalDpi xmlns:a14="http://schemas.microsoft.com/office/drawing/2010/main" val="0"/>
              </a:ext>
            </a:extLst>
          </a:blip>
          <a:srcRect r="16708" b="7407"/>
          <a:stretch>
            <a:fillRect/>
          </a:stretch>
        </p:blipFill>
        <p:spPr bwMode="auto">
          <a:xfrm>
            <a:off x="2382909" y="3253566"/>
            <a:ext cx="2218800" cy="82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8" name="直接连接符 7"/>
          <p:cNvCxnSpPr/>
          <p:nvPr/>
        </p:nvCxnSpPr>
        <p:spPr>
          <a:xfrm>
            <a:off x="308722" y="1555821"/>
            <a:ext cx="3890866" cy="0"/>
          </a:xfrm>
          <a:prstGeom prst="line">
            <a:avLst/>
          </a:prstGeom>
          <a:ln>
            <a:solidFill>
              <a:srgbClr val="004098"/>
            </a:solidFill>
          </a:ln>
        </p:spPr>
        <p:style>
          <a:lnRef idx="3">
            <a:schemeClr val="accent1"/>
          </a:lnRef>
          <a:fillRef idx="0">
            <a:schemeClr val="accent1"/>
          </a:fillRef>
          <a:effectRef idx="2">
            <a:schemeClr val="accent1"/>
          </a:effectRef>
          <a:fontRef idx="minor">
            <a:schemeClr val="tx1"/>
          </a:fontRef>
        </p:style>
      </p:cxnSp>
      <p:cxnSp>
        <p:nvCxnSpPr>
          <p:cNvPr id="9" name="直接连接符 8"/>
          <p:cNvCxnSpPr/>
          <p:nvPr/>
        </p:nvCxnSpPr>
        <p:spPr>
          <a:xfrm>
            <a:off x="334051" y="1964866"/>
            <a:ext cx="3890866" cy="0"/>
          </a:xfrm>
          <a:prstGeom prst="line">
            <a:avLst/>
          </a:prstGeom>
          <a:ln>
            <a:solidFill>
              <a:srgbClr val="004098"/>
            </a:solidFill>
          </a:ln>
        </p:spPr>
        <p:style>
          <a:lnRef idx="3">
            <a:schemeClr val="accent1"/>
          </a:lnRef>
          <a:fillRef idx="0">
            <a:schemeClr val="accent1"/>
          </a:fillRef>
          <a:effectRef idx="2">
            <a:schemeClr val="accent1"/>
          </a:effectRef>
          <a:fontRef idx="minor">
            <a:schemeClr val="tx1"/>
          </a:fontRef>
        </p:style>
      </p:cxnSp>
      <p:pic>
        <p:nvPicPr>
          <p:cNvPr id="10" name="图片 9"/>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40384" y="506035"/>
            <a:ext cx="929333" cy="841291"/>
          </a:xfrm>
          <a:prstGeom prst="rect">
            <a:avLst/>
          </a:prstGeom>
        </p:spPr>
      </p:pic>
      <p:pic>
        <p:nvPicPr>
          <p:cNvPr id="11" name="图片 28"/>
          <p:cNvPicPr>
            <a:picLocks noChangeAspect="1"/>
          </p:cNvPicPr>
          <p:nvPr/>
        </p:nvPicPr>
        <p:blipFill>
          <a:blip r:embed="rId6" cstate="print">
            <a:extLst>
              <a:ext uri="{28A0092B-C50C-407E-A947-70E740481C1C}">
                <a14:useLocalDpi xmlns:a14="http://schemas.microsoft.com/office/drawing/2010/main" val="0"/>
              </a:ext>
            </a:extLst>
          </a:blip>
          <a:srcRect r="28519"/>
          <a:stretch>
            <a:fillRect/>
          </a:stretch>
        </p:blipFill>
        <p:spPr bwMode="auto">
          <a:xfrm>
            <a:off x="4251309" y="1222667"/>
            <a:ext cx="351475" cy="9727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图片 28"/>
          <p:cNvPicPr>
            <a:picLocks noChangeAspect="1"/>
          </p:cNvPicPr>
          <p:nvPr/>
        </p:nvPicPr>
        <p:blipFill>
          <a:blip r:embed="rId6" cstate="print">
            <a:extLst>
              <a:ext uri="{28A0092B-C50C-407E-A947-70E740481C1C}">
                <a14:useLocalDpi xmlns:a14="http://schemas.microsoft.com/office/drawing/2010/main" val="0"/>
              </a:ext>
            </a:extLst>
          </a:blip>
          <a:srcRect r="28519"/>
          <a:stretch>
            <a:fillRect/>
          </a:stretch>
        </p:blipFill>
        <p:spPr bwMode="auto">
          <a:xfrm flipH="1">
            <a:off x="-3105" y="1225004"/>
            <a:ext cx="351475" cy="9727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6" name="Picture 2" descr="https://img2.baidu.com/it/u=2786522753,3558489752&amp;fm=253&amp;fmt=auto&amp;app=138&amp;f=JPEG?w=440&amp;h=440"/>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719931" y="419453"/>
            <a:ext cx="1049786" cy="10497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6756692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原创设计师QQ598969553      _2">
            <a:extLst>
              <a:ext uri="{FF2B5EF4-FFF2-40B4-BE49-F238E27FC236}">
                <a16:creationId xmlns="" xmlns:a16="http://schemas.microsoft.com/office/drawing/2014/main" id="{7C4725B1-D255-CC63-745B-0C08A542F8E6}"/>
              </a:ext>
            </a:extLst>
          </p:cNvPr>
          <p:cNvSpPr txBox="1"/>
          <p:nvPr/>
        </p:nvSpPr>
        <p:spPr>
          <a:xfrm>
            <a:off x="618435" y="185570"/>
            <a:ext cx="2267573" cy="204379"/>
          </a:xfrm>
          <a:prstGeom prst="rect">
            <a:avLst/>
          </a:prstGeom>
          <a:noFill/>
        </p:spPr>
        <p:txBody>
          <a:bodyPr wrap="square" lIns="34762" tIns="17381" rIns="34762" bIns="17381" rtlCol="0">
            <a:spAutoFit/>
          </a:bodyPr>
          <a:lstStyle/>
          <a:p>
            <a:r>
              <a:rPr lang="zh-CN" altLang="en-US" sz="1100" b="1" dirty="0">
                <a:latin typeface="微软雅黑" panose="020B0503020204020204" pitchFamily="34" charset="-122"/>
                <a:ea typeface="微软雅黑" panose="020B0503020204020204" pitchFamily="34" charset="-122"/>
              </a:rPr>
              <a:t>统计学习历史</a:t>
            </a:r>
          </a:p>
        </p:txBody>
      </p:sp>
      <p:grpSp>
        <p:nvGrpSpPr>
          <p:cNvPr id="68" name="原创设计师QQ598969553      _9">
            <a:extLst>
              <a:ext uri="{FF2B5EF4-FFF2-40B4-BE49-F238E27FC236}">
                <a16:creationId xmlns="" xmlns:a16="http://schemas.microsoft.com/office/drawing/2014/main" id="{EC33079E-1247-70DE-8763-3ACDD65E706D}"/>
              </a:ext>
            </a:extLst>
          </p:cNvPr>
          <p:cNvGrpSpPr/>
          <p:nvPr/>
        </p:nvGrpSpPr>
        <p:grpSpPr>
          <a:xfrm>
            <a:off x="188162" y="153558"/>
            <a:ext cx="304678" cy="243737"/>
            <a:chOff x="4268207" y="2118116"/>
            <a:chExt cx="2653566" cy="2214138"/>
          </a:xfrm>
        </p:grpSpPr>
        <p:grpSp>
          <p:nvGrpSpPr>
            <p:cNvPr id="69" name="组合 68">
              <a:extLst>
                <a:ext uri="{FF2B5EF4-FFF2-40B4-BE49-F238E27FC236}">
                  <a16:creationId xmlns="" xmlns:a16="http://schemas.microsoft.com/office/drawing/2014/main" id="{3866FBD5-A960-6794-8BA4-9DBBA9FC3AA3}"/>
                </a:ext>
              </a:extLst>
            </p:cNvPr>
            <p:cNvGrpSpPr/>
            <p:nvPr/>
          </p:nvGrpSpPr>
          <p:grpSpPr>
            <a:xfrm>
              <a:off x="4508674" y="2118116"/>
              <a:ext cx="2204282" cy="2204282"/>
              <a:chOff x="1517331" y="1125257"/>
              <a:chExt cx="2204282" cy="2204282"/>
            </a:xfrm>
          </p:grpSpPr>
          <p:sp>
            <p:nvSpPr>
              <p:cNvPr id="71" name="椭圆 70">
                <a:extLst>
                  <a:ext uri="{FF2B5EF4-FFF2-40B4-BE49-F238E27FC236}">
                    <a16:creationId xmlns="" xmlns:a16="http://schemas.microsoft.com/office/drawing/2014/main" id="{68A1054A-58A0-C11B-68D9-FA23D2B35325}"/>
                  </a:ext>
                </a:extLst>
              </p:cNvPr>
              <p:cNvSpPr/>
              <p:nvPr/>
            </p:nvSpPr>
            <p:spPr>
              <a:xfrm>
                <a:off x="1517331" y="1125257"/>
                <a:ext cx="2204282" cy="2204282"/>
              </a:xfrm>
              <a:prstGeom prst="ellipse">
                <a:avLst/>
              </a:prstGeom>
              <a:gradFill>
                <a:gsLst>
                  <a:gs pos="0">
                    <a:srgbClr val="EBEBEB"/>
                  </a:gs>
                  <a:gs pos="100000">
                    <a:srgbClr val="FEFEFE"/>
                  </a:gs>
                </a:gsLst>
                <a:lin ang="7530000" scaled="0"/>
              </a:gradFill>
              <a:ln w="12700">
                <a:solidFill>
                  <a:schemeClr val="bg1"/>
                </a:solidFill>
              </a:ln>
              <a:effectLst>
                <a:outerShdw blurRad="457200" dist="444500" dir="7800000" sx="89000" sy="89000" algn="tr" rotWithShape="0">
                  <a:prstClr val="black">
                    <a:alpha val="3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76">
                  <a:latin typeface="字体视界-NWE粗楷体" panose="02000500000000000000" pitchFamily="2" charset="-122"/>
                  <a:ea typeface="字体视界-NWE粗楷体" panose="02000500000000000000" pitchFamily="2" charset="-122"/>
                </a:endParaRPr>
              </a:p>
            </p:txBody>
          </p:sp>
          <p:sp>
            <p:nvSpPr>
              <p:cNvPr id="72" name="椭圆 71">
                <a:extLst>
                  <a:ext uri="{FF2B5EF4-FFF2-40B4-BE49-F238E27FC236}">
                    <a16:creationId xmlns="" xmlns:a16="http://schemas.microsoft.com/office/drawing/2014/main" id="{BFBCAB49-6A8C-B2B3-35ED-D6BBBED5CF8B}"/>
                  </a:ext>
                </a:extLst>
              </p:cNvPr>
              <p:cNvSpPr/>
              <p:nvPr/>
            </p:nvSpPr>
            <p:spPr>
              <a:xfrm>
                <a:off x="1719371" y="1344751"/>
                <a:ext cx="1800198" cy="1800200"/>
              </a:xfrm>
              <a:prstGeom prst="ellipse">
                <a:avLst/>
              </a:prstGeom>
              <a:solidFill>
                <a:srgbClr val="004098"/>
              </a:solidFill>
              <a:ln>
                <a:noFill/>
              </a:ln>
              <a:effectLst>
                <a:innerShdw blurRad="101600" dist="50800" dir="18900000">
                  <a:prstClr val="black">
                    <a:alpha val="43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76">
                  <a:latin typeface="字体视界-NWE粗楷体" panose="02000500000000000000" pitchFamily="2" charset="-122"/>
                  <a:ea typeface="字体视界-NWE粗楷体" panose="02000500000000000000" pitchFamily="2" charset="-122"/>
                </a:endParaRPr>
              </a:p>
            </p:txBody>
          </p:sp>
        </p:grpSp>
        <p:sp>
          <p:nvSpPr>
            <p:cNvPr id="70" name="TextBox 80">
              <a:extLst>
                <a:ext uri="{FF2B5EF4-FFF2-40B4-BE49-F238E27FC236}">
                  <a16:creationId xmlns="" xmlns:a16="http://schemas.microsoft.com/office/drawing/2014/main" id="{7A547AF7-EE79-5DEF-44B1-CF755100FDCC}"/>
                </a:ext>
              </a:extLst>
            </p:cNvPr>
            <p:cNvSpPr txBox="1"/>
            <p:nvPr/>
          </p:nvSpPr>
          <p:spPr>
            <a:xfrm>
              <a:off x="4268207" y="2408917"/>
              <a:ext cx="2653566" cy="1923337"/>
            </a:xfrm>
            <a:prstGeom prst="rect">
              <a:avLst/>
            </a:prstGeom>
            <a:noFill/>
          </p:spPr>
          <p:txBody>
            <a:bodyPr wrap="square" rtlCol="0">
              <a:spAutoFit/>
            </a:bodyPr>
            <a:lstStyle/>
            <a:p>
              <a:r>
                <a:rPr lang="en-US" altLang="zh-CN" sz="776" dirty="0">
                  <a:solidFill>
                    <a:schemeClr val="bg1"/>
                  </a:solidFill>
                  <a:latin typeface="字体视界-NWE粗楷体" panose="02000500000000000000" pitchFamily="2" charset="-122"/>
                  <a:ea typeface="字体视界-NWE粗楷体" panose="02000500000000000000" pitchFamily="2" charset="-122"/>
                </a:rPr>
                <a:t>07</a:t>
              </a:r>
            </a:p>
          </p:txBody>
        </p:sp>
      </p:grpSp>
      <p:sp>
        <p:nvSpPr>
          <p:cNvPr id="73" name="原创设计师QQ598969553      _12">
            <a:extLst>
              <a:ext uri="{FF2B5EF4-FFF2-40B4-BE49-F238E27FC236}">
                <a16:creationId xmlns="" xmlns:a16="http://schemas.microsoft.com/office/drawing/2014/main" id="{760473EF-0D78-F124-1B4B-A4A3255E7476}"/>
              </a:ext>
            </a:extLst>
          </p:cNvPr>
          <p:cNvSpPr>
            <a:spLocks noChangeShapeType="1"/>
          </p:cNvSpPr>
          <p:nvPr/>
        </p:nvSpPr>
        <p:spPr bwMode="auto">
          <a:xfrm flipH="1" flipV="1">
            <a:off x="543649" y="130604"/>
            <a:ext cx="0" cy="307269"/>
          </a:xfrm>
          <a:prstGeom prst="line">
            <a:avLst/>
          </a:prstGeom>
          <a:noFill/>
          <a:ln w="19050">
            <a:solidFill>
              <a:srgbClr val="004098"/>
            </a:solidFill>
            <a:prstDash val="dash"/>
            <a:round/>
          </a:ln>
          <a:extLst>
            <a:ext uri="{909E8E84-426E-40DD-AFC4-6F175D3DCCD1}">
              <a14:hiddenFill xmlns:a14="http://schemas.microsoft.com/office/drawing/2010/main">
                <a:noFill/>
              </a14:hiddenFill>
            </a:ext>
          </a:extLst>
        </p:spPr>
        <p:txBody>
          <a:bodyPr/>
          <a:lstStyle/>
          <a:p>
            <a:endParaRPr lang="zh-CN" altLang="en-US" sz="776" dirty="0"/>
          </a:p>
        </p:txBody>
      </p:sp>
      <p:sp>
        <p:nvSpPr>
          <p:cNvPr id="74" name="矩形: 圆角 18">
            <a:extLst>
              <a:ext uri="{FF2B5EF4-FFF2-40B4-BE49-F238E27FC236}">
                <a16:creationId xmlns="" xmlns:a16="http://schemas.microsoft.com/office/drawing/2014/main" id="{7C923056-96D1-FDBC-A663-A1F8635BC91E}"/>
              </a:ext>
            </a:extLst>
          </p:cNvPr>
          <p:cNvSpPr/>
          <p:nvPr/>
        </p:nvSpPr>
        <p:spPr>
          <a:xfrm flipV="1">
            <a:off x="140988" y="434975"/>
            <a:ext cx="2164062" cy="31919"/>
          </a:xfrm>
          <a:prstGeom prst="roundRect">
            <a:avLst>
              <a:gd name="adj" fmla="val 50000"/>
            </a:avLst>
          </a:prstGeom>
          <a:solidFill>
            <a:srgbClr val="0040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90">
              <a:solidFill>
                <a:srgbClr val="004098"/>
              </a:solidFill>
              <a:latin typeface="字体视界-NWE粗楷体" panose="02000500000000000000" pitchFamily="2" charset="-122"/>
              <a:ea typeface="字体视界-NWE粗楷体" panose="02000500000000000000" pitchFamily="2" charset="-122"/>
            </a:endParaRPr>
          </a:p>
        </p:txBody>
      </p:sp>
      <p:sp>
        <p:nvSpPr>
          <p:cNvPr id="2" name="矩形 1">
            <a:extLst>
              <a:ext uri="{FF2B5EF4-FFF2-40B4-BE49-F238E27FC236}">
                <a16:creationId xmlns="" xmlns:a16="http://schemas.microsoft.com/office/drawing/2014/main" id="{D4BC2402-B359-0321-E149-3F0C42A006DA}"/>
              </a:ext>
            </a:extLst>
          </p:cNvPr>
          <p:cNvSpPr/>
          <p:nvPr/>
        </p:nvSpPr>
        <p:spPr>
          <a:xfrm>
            <a:off x="247860" y="815975"/>
            <a:ext cx="4191000" cy="2092881"/>
          </a:xfrm>
          <a:prstGeom prst="rect">
            <a:avLst/>
          </a:prstGeom>
        </p:spPr>
        <p:txBody>
          <a:bodyPr wrap="square">
            <a:spAutoFit/>
          </a:bodyPr>
          <a:lstStyle/>
          <a:p>
            <a:pPr marL="177800" indent="-177800">
              <a:buFont typeface="Arial" panose="020B0604020202020204" pitchFamily="34" charset="0"/>
              <a:buChar char="•"/>
            </a:pPr>
            <a:r>
              <a:rPr lang="zh-CN" altLang="en-US" sz="1000" dirty="0"/>
              <a:t>19世纪初，勒让德，高斯在发表有关最小二乘法的文章时，提出了</a:t>
            </a:r>
            <a:r>
              <a:rPr lang="zh-CN" altLang="en-US" sz="1000" b="1" u="sng" dirty="0">
                <a:solidFill>
                  <a:srgbClr val="004098"/>
                </a:solidFill>
              </a:rPr>
              <a:t>线性回归</a:t>
            </a:r>
            <a:r>
              <a:rPr lang="zh-CN" altLang="en-US" sz="1000" dirty="0"/>
              <a:t>的最早形式。</a:t>
            </a:r>
          </a:p>
          <a:p>
            <a:pPr marL="177800" indent="-177800">
              <a:buFont typeface="Arial" panose="020B0604020202020204" pitchFamily="34" charset="0"/>
              <a:buChar char="•"/>
            </a:pPr>
            <a:r>
              <a:rPr lang="zh-CN" altLang="en-US" sz="1000" dirty="0"/>
              <a:t>1936年费舍尔提出了线性判断分析，之后又有人提出了</a:t>
            </a:r>
            <a:r>
              <a:rPr lang="zh-CN" altLang="en-US" sz="1000" b="1" u="sng" dirty="0">
                <a:solidFill>
                  <a:srgbClr val="004098"/>
                </a:solidFill>
              </a:rPr>
              <a:t>逻辑斯蒂回归</a:t>
            </a:r>
            <a:r>
              <a:rPr lang="zh-CN" altLang="en-US" sz="1000" dirty="0"/>
              <a:t>。</a:t>
            </a:r>
          </a:p>
          <a:p>
            <a:pPr marL="177800" indent="-177800">
              <a:buFont typeface="Arial" panose="020B0604020202020204" pitchFamily="34" charset="0"/>
              <a:buChar char="•"/>
            </a:pPr>
            <a:r>
              <a:rPr lang="zh-CN" altLang="en-US" sz="1000" dirty="0"/>
              <a:t>70年代，内尔德和韦德伯恩提出了新概念—</a:t>
            </a:r>
            <a:r>
              <a:rPr lang="zh-CN" altLang="en-US" sz="1000" b="1" u="sng" dirty="0">
                <a:solidFill>
                  <a:srgbClr val="004098"/>
                </a:solidFill>
              </a:rPr>
              <a:t>广义线性回归</a:t>
            </a:r>
            <a:r>
              <a:rPr lang="zh-CN" altLang="en-US" sz="1000" dirty="0"/>
              <a:t>，囊括了统计学习种线性和逻辑斯蒂回归在内的线性模型。</a:t>
            </a:r>
          </a:p>
          <a:p>
            <a:pPr marL="177800" indent="-177800">
              <a:buFont typeface="Arial" panose="020B0604020202020204" pitchFamily="34" charset="0"/>
              <a:buChar char="•"/>
            </a:pPr>
            <a:r>
              <a:rPr lang="zh-CN" altLang="en-US" sz="1000" dirty="0"/>
              <a:t>20 世纪 80 年代，计算技术条 件具备，非线性模型不再受计算的困扰。 80 年代中期，布赖曼( Breiman) 、弗里德曼( Friedman) 、奥申( Olshen) 和斯通 (Stone) 提出了</a:t>
            </a:r>
            <a:r>
              <a:rPr lang="zh-CN" altLang="en-US" sz="1000" b="1" u="sng" dirty="0">
                <a:solidFill>
                  <a:srgbClr val="004098"/>
                </a:solidFill>
              </a:rPr>
              <a:t>分类回归树</a:t>
            </a:r>
            <a:r>
              <a:rPr lang="zh-CN" altLang="en-US" sz="1000" dirty="0"/>
              <a:t>，率先示范了一个实用方法在具体实施中的威力，其中包括了用于模型选择的交叉验证法。</a:t>
            </a:r>
          </a:p>
          <a:p>
            <a:pPr marL="177800" indent="-177800">
              <a:buFont typeface="Arial" panose="020B0604020202020204" pitchFamily="34" charset="0"/>
              <a:buChar char="•"/>
            </a:pPr>
            <a:r>
              <a:rPr lang="zh-CN" altLang="en-US" sz="1000" dirty="0"/>
              <a:t>1986 年，哈斯帖( Hastie) 和提布施瓦 尼( Tibshirani )提出了一个被称为</a:t>
            </a:r>
            <a:r>
              <a:rPr lang="zh-CN" altLang="en-US" sz="1000" b="1" u="sng" dirty="0">
                <a:solidFill>
                  <a:srgbClr val="004098"/>
                </a:solidFill>
              </a:rPr>
              <a:t>广义可加模型</a:t>
            </a:r>
            <a:r>
              <a:rPr lang="zh-CN" altLang="en-US" sz="1000" dirty="0"/>
              <a:t>的概念，将一类非线性模型扩展至广义线性模 型族中，还开发了实用软件实现模型。</a:t>
            </a:r>
          </a:p>
        </p:txBody>
      </p:sp>
    </p:spTree>
    <p:extLst>
      <p:ext uri="{BB962C8B-B14F-4D97-AF65-F5344CB8AC3E}">
        <p14:creationId xmlns:p14="http://schemas.microsoft.com/office/powerpoint/2010/main" val="363572119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原创设计师QQ598969553      _2">
            <a:extLst>
              <a:ext uri="{FF2B5EF4-FFF2-40B4-BE49-F238E27FC236}">
                <a16:creationId xmlns="" xmlns:a16="http://schemas.microsoft.com/office/drawing/2014/main" id="{7C4725B1-D255-CC63-745B-0C08A542F8E6}"/>
              </a:ext>
            </a:extLst>
          </p:cNvPr>
          <p:cNvSpPr txBox="1"/>
          <p:nvPr/>
        </p:nvSpPr>
        <p:spPr>
          <a:xfrm>
            <a:off x="618435" y="185570"/>
            <a:ext cx="2267573" cy="204379"/>
          </a:xfrm>
          <a:prstGeom prst="rect">
            <a:avLst/>
          </a:prstGeom>
          <a:noFill/>
        </p:spPr>
        <p:txBody>
          <a:bodyPr wrap="square" lIns="34762" tIns="17381" rIns="34762" bIns="17381" rtlCol="0">
            <a:spAutoFit/>
          </a:bodyPr>
          <a:lstStyle/>
          <a:p>
            <a:r>
              <a:rPr lang="zh-CN" altLang="en-US" sz="1100" b="1" dirty="0">
                <a:latin typeface="微软雅黑" panose="020B0503020204020204" pitchFamily="34" charset="-122"/>
                <a:ea typeface="微软雅黑" panose="020B0503020204020204" pitchFamily="34" charset="-122"/>
              </a:rPr>
              <a:t>统计学习历史人物</a:t>
            </a:r>
          </a:p>
        </p:txBody>
      </p:sp>
      <p:grpSp>
        <p:nvGrpSpPr>
          <p:cNvPr id="68" name="原创设计师QQ598969553      _9">
            <a:extLst>
              <a:ext uri="{FF2B5EF4-FFF2-40B4-BE49-F238E27FC236}">
                <a16:creationId xmlns="" xmlns:a16="http://schemas.microsoft.com/office/drawing/2014/main" id="{EC33079E-1247-70DE-8763-3ACDD65E706D}"/>
              </a:ext>
            </a:extLst>
          </p:cNvPr>
          <p:cNvGrpSpPr/>
          <p:nvPr/>
        </p:nvGrpSpPr>
        <p:grpSpPr>
          <a:xfrm>
            <a:off x="188162" y="153558"/>
            <a:ext cx="304678" cy="243737"/>
            <a:chOff x="4268207" y="2118116"/>
            <a:chExt cx="2653566" cy="2214138"/>
          </a:xfrm>
        </p:grpSpPr>
        <p:grpSp>
          <p:nvGrpSpPr>
            <p:cNvPr id="69" name="组合 68">
              <a:extLst>
                <a:ext uri="{FF2B5EF4-FFF2-40B4-BE49-F238E27FC236}">
                  <a16:creationId xmlns="" xmlns:a16="http://schemas.microsoft.com/office/drawing/2014/main" id="{3866FBD5-A960-6794-8BA4-9DBBA9FC3AA3}"/>
                </a:ext>
              </a:extLst>
            </p:cNvPr>
            <p:cNvGrpSpPr/>
            <p:nvPr/>
          </p:nvGrpSpPr>
          <p:grpSpPr>
            <a:xfrm>
              <a:off x="4508674" y="2118116"/>
              <a:ext cx="2204282" cy="2204282"/>
              <a:chOff x="1517331" y="1125257"/>
              <a:chExt cx="2204282" cy="2204282"/>
            </a:xfrm>
          </p:grpSpPr>
          <p:sp>
            <p:nvSpPr>
              <p:cNvPr id="71" name="椭圆 70">
                <a:extLst>
                  <a:ext uri="{FF2B5EF4-FFF2-40B4-BE49-F238E27FC236}">
                    <a16:creationId xmlns="" xmlns:a16="http://schemas.microsoft.com/office/drawing/2014/main" id="{68A1054A-58A0-C11B-68D9-FA23D2B35325}"/>
                  </a:ext>
                </a:extLst>
              </p:cNvPr>
              <p:cNvSpPr/>
              <p:nvPr/>
            </p:nvSpPr>
            <p:spPr>
              <a:xfrm>
                <a:off x="1517331" y="1125257"/>
                <a:ext cx="2204282" cy="2204282"/>
              </a:xfrm>
              <a:prstGeom prst="ellipse">
                <a:avLst/>
              </a:prstGeom>
              <a:gradFill>
                <a:gsLst>
                  <a:gs pos="0">
                    <a:srgbClr val="EBEBEB"/>
                  </a:gs>
                  <a:gs pos="100000">
                    <a:srgbClr val="FEFEFE"/>
                  </a:gs>
                </a:gsLst>
                <a:lin ang="7530000" scaled="0"/>
              </a:gradFill>
              <a:ln w="12700">
                <a:solidFill>
                  <a:schemeClr val="bg1"/>
                </a:solidFill>
              </a:ln>
              <a:effectLst>
                <a:outerShdw blurRad="457200" dist="444500" dir="7800000" sx="89000" sy="89000" algn="tr" rotWithShape="0">
                  <a:prstClr val="black">
                    <a:alpha val="3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76">
                  <a:latin typeface="字体视界-NWE粗楷体" panose="02000500000000000000" pitchFamily="2" charset="-122"/>
                  <a:ea typeface="字体视界-NWE粗楷体" panose="02000500000000000000" pitchFamily="2" charset="-122"/>
                </a:endParaRPr>
              </a:p>
            </p:txBody>
          </p:sp>
          <p:sp>
            <p:nvSpPr>
              <p:cNvPr id="72" name="椭圆 71">
                <a:extLst>
                  <a:ext uri="{FF2B5EF4-FFF2-40B4-BE49-F238E27FC236}">
                    <a16:creationId xmlns="" xmlns:a16="http://schemas.microsoft.com/office/drawing/2014/main" id="{BFBCAB49-6A8C-B2B3-35ED-D6BBBED5CF8B}"/>
                  </a:ext>
                </a:extLst>
              </p:cNvPr>
              <p:cNvSpPr/>
              <p:nvPr/>
            </p:nvSpPr>
            <p:spPr>
              <a:xfrm>
                <a:off x="1719371" y="1344751"/>
                <a:ext cx="1800198" cy="1800200"/>
              </a:xfrm>
              <a:prstGeom prst="ellipse">
                <a:avLst/>
              </a:prstGeom>
              <a:solidFill>
                <a:srgbClr val="004098"/>
              </a:solidFill>
              <a:ln>
                <a:noFill/>
              </a:ln>
              <a:effectLst>
                <a:innerShdw blurRad="101600" dist="50800" dir="18900000">
                  <a:prstClr val="black">
                    <a:alpha val="43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76">
                  <a:latin typeface="字体视界-NWE粗楷体" panose="02000500000000000000" pitchFamily="2" charset="-122"/>
                  <a:ea typeface="字体视界-NWE粗楷体" panose="02000500000000000000" pitchFamily="2" charset="-122"/>
                </a:endParaRPr>
              </a:p>
            </p:txBody>
          </p:sp>
        </p:grpSp>
        <p:sp>
          <p:nvSpPr>
            <p:cNvPr id="70" name="TextBox 80">
              <a:extLst>
                <a:ext uri="{FF2B5EF4-FFF2-40B4-BE49-F238E27FC236}">
                  <a16:creationId xmlns="" xmlns:a16="http://schemas.microsoft.com/office/drawing/2014/main" id="{7A547AF7-EE79-5DEF-44B1-CF755100FDCC}"/>
                </a:ext>
              </a:extLst>
            </p:cNvPr>
            <p:cNvSpPr txBox="1"/>
            <p:nvPr/>
          </p:nvSpPr>
          <p:spPr>
            <a:xfrm>
              <a:off x="4268207" y="2408917"/>
              <a:ext cx="2653566" cy="1923337"/>
            </a:xfrm>
            <a:prstGeom prst="rect">
              <a:avLst/>
            </a:prstGeom>
            <a:noFill/>
          </p:spPr>
          <p:txBody>
            <a:bodyPr wrap="square" rtlCol="0">
              <a:spAutoFit/>
            </a:bodyPr>
            <a:lstStyle/>
            <a:p>
              <a:r>
                <a:rPr lang="en-US" altLang="zh-CN" sz="776" dirty="0">
                  <a:solidFill>
                    <a:schemeClr val="bg1"/>
                  </a:solidFill>
                  <a:latin typeface="字体视界-NWE粗楷体" panose="02000500000000000000" pitchFamily="2" charset="-122"/>
                  <a:ea typeface="字体视界-NWE粗楷体" panose="02000500000000000000" pitchFamily="2" charset="-122"/>
                </a:rPr>
                <a:t>08</a:t>
              </a:r>
            </a:p>
          </p:txBody>
        </p:sp>
      </p:grpSp>
      <p:sp>
        <p:nvSpPr>
          <p:cNvPr id="73" name="原创设计师QQ598969553      _12">
            <a:extLst>
              <a:ext uri="{FF2B5EF4-FFF2-40B4-BE49-F238E27FC236}">
                <a16:creationId xmlns="" xmlns:a16="http://schemas.microsoft.com/office/drawing/2014/main" id="{760473EF-0D78-F124-1B4B-A4A3255E7476}"/>
              </a:ext>
            </a:extLst>
          </p:cNvPr>
          <p:cNvSpPr>
            <a:spLocks noChangeShapeType="1"/>
          </p:cNvSpPr>
          <p:nvPr/>
        </p:nvSpPr>
        <p:spPr bwMode="auto">
          <a:xfrm flipH="1" flipV="1">
            <a:off x="543649" y="130604"/>
            <a:ext cx="0" cy="307269"/>
          </a:xfrm>
          <a:prstGeom prst="line">
            <a:avLst/>
          </a:prstGeom>
          <a:noFill/>
          <a:ln w="19050">
            <a:solidFill>
              <a:srgbClr val="004098"/>
            </a:solidFill>
            <a:prstDash val="dash"/>
            <a:round/>
          </a:ln>
          <a:extLst>
            <a:ext uri="{909E8E84-426E-40DD-AFC4-6F175D3DCCD1}">
              <a14:hiddenFill xmlns:a14="http://schemas.microsoft.com/office/drawing/2010/main">
                <a:noFill/>
              </a14:hiddenFill>
            </a:ext>
          </a:extLst>
        </p:spPr>
        <p:txBody>
          <a:bodyPr/>
          <a:lstStyle/>
          <a:p>
            <a:endParaRPr lang="zh-CN" altLang="en-US" sz="776" dirty="0"/>
          </a:p>
        </p:txBody>
      </p:sp>
      <p:sp>
        <p:nvSpPr>
          <p:cNvPr id="74" name="矩形: 圆角 18">
            <a:extLst>
              <a:ext uri="{FF2B5EF4-FFF2-40B4-BE49-F238E27FC236}">
                <a16:creationId xmlns="" xmlns:a16="http://schemas.microsoft.com/office/drawing/2014/main" id="{7C923056-96D1-FDBC-A663-A1F8635BC91E}"/>
              </a:ext>
            </a:extLst>
          </p:cNvPr>
          <p:cNvSpPr/>
          <p:nvPr/>
        </p:nvSpPr>
        <p:spPr>
          <a:xfrm flipV="1">
            <a:off x="140988" y="434975"/>
            <a:ext cx="2164062" cy="31919"/>
          </a:xfrm>
          <a:prstGeom prst="roundRect">
            <a:avLst>
              <a:gd name="adj" fmla="val 50000"/>
            </a:avLst>
          </a:prstGeom>
          <a:solidFill>
            <a:srgbClr val="0040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90">
              <a:solidFill>
                <a:srgbClr val="004098"/>
              </a:solidFill>
              <a:latin typeface="字体视界-NWE粗楷体" panose="02000500000000000000" pitchFamily="2" charset="-122"/>
              <a:ea typeface="字体视界-NWE粗楷体" panose="02000500000000000000" pitchFamily="2" charset="-122"/>
            </a:endParaRPr>
          </a:p>
        </p:txBody>
      </p:sp>
      <p:sp>
        <p:nvSpPr>
          <p:cNvPr id="7" name="矩形 6">
            <a:extLst>
              <a:ext uri="{FF2B5EF4-FFF2-40B4-BE49-F238E27FC236}">
                <a16:creationId xmlns="" xmlns:a16="http://schemas.microsoft.com/office/drawing/2014/main" id="{9B7ADD6E-1AF2-2490-7CA5-F925D7E47F93}"/>
              </a:ext>
            </a:extLst>
          </p:cNvPr>
          <p:cNvSpPr/>
          <p:nvPr/>
        </p:nvSpPr>
        <p:spPr>
          <a:xfrm>
            <a:off x="1522952" y="1037877"/>
            <a:ext cx="2895600" cy="1384995"/>
          </a:xfrm>
          <a:prstGeom prst="rect">
            <a:avLst/>
          </a:prstGeom>
        </p:spPr>
        <p:txBody>
          <a:bodyPr wrap="square">
            <a:spAutoFit/>
          </a:bodyPr>
          <a:lstStyle/>
          <a:p>
            <a:r>
              <a:rPr lang="zh-CN" altLang="en-US" sz="1200" dirty="0"/>
              <a:t>托马斯</a:t>
            </a:r>
            <a:r>
              <a:rPr lang="en-US" altLang="zh-CN" sz="1200" dirty="0"/>
              <a:t>·</a:t>
            </a:r>
            <a:r>
              <a:rPr lang="zh-CN" altLang="en-US" sz="1200" dirty="0"/>
              <a:t>贝叶斯（</a:t>
            </a:r>
            <a:r>
              <a:rPr lang="en-US" altLang="zh-CN" sz="1200" dirty="0"/>
              <a:t>Thomas Bayes</a:t>
            </a:r>
            <a:r>
              <a:rPr lang="zh-CN" altLang="en-US" sz="1200" dirty="0"/>
              <a:t>，约</a:t>
            </a:r>
            <a:r>
              <a:rPr lang="en-US" altLang="zh-CN" sz="1200" dirty="0"/>
              <a:t>1702</a:t>
            </a:r>
            <a:r>
              <a:rPr lang="zh-CN" altLang="en-US" sz="1200" dirty="0"/>
              <a:t>年－</a:t>
            </a:r>
            <a:r>
              <a:rPr lang="en-US" altLang="zh-CN" sz="1200" dirty="0"/>
              <a:t>1761</a:t>
            </a:r>
            <a:r>
              <a:rPr lang="zh-CN" altLang="en-US" sz="1200" dirty="0"/>
              <a:t>年</a:t>
            </a:r>
            <a:r>
              <a:rPr lang="en-US" altLang="zh-CN" sz="1200" dirty="0"/>
              <a:t>4</a:t>
            </a:r>
            <a:r>
              <a:rPr lang="zh-CN" altLang="en-US" sz="1200" dirty="0"/>
              <a:t>月</a:t>
            </a:r>
            <a:r>
              <a:rPr lang="en-US" altLang="zh-CN" sz="1200" dirty="0"/>
              <a:t>7</a:t>
            </a:r>
            <a:r>
              <a:rPr lang="zh-CN" altLang="en-US" sz="1200" dirty="0"/>
              <a:t>日），</a:t>
            </a:r>
            <a:r>
              <a:rPr lang="en-US" altLang="zh-CN" sz="1200" dirty="0"/>
              <a:t>18</a:t>
            </a:r>
            <a:r>
              <a:rPr lang="zh-CN" altLang="en-US" sz="1200" dirty="0"/>
              <a:t>世纪英国数学家。</a:t>
            </a:r>
            <a:endParaRPr lang="en-US" altLang="zh-CN" sz="1200" dirty="0"/>
          </a:p>
          <a:p>
            <a:endParaRPr lang="en-US" altLang="zh-CN" sz="1200" dirty="0"/>
          </a:p>
          <a:p>
            <a:r>
              <a:rPr lang="zh-CN" altLang="en-US" sz="1200" b="1" dirty="0">
                <a:solidFill>
                  <a:srgbClr val="004098"/>
                </a:solidFill>
              </a:rPr>
              <a:t>贝叶斯定理</a:t>
            </a:r>
            <a:r>
              <a:rPr lang="zh-CN" altLang="en-US" sz="1200" dirty="0"/>
              <a:t>（</a:t>
            </a:r>
            <a:r>
              <a:rPr lang="en-US" altLang="zh-CN" sz="1200" dirty="0"/>
              <a:t>Bayes' theorem</a:t>
            </a:r>
            <a:r>
              <a:rPr lang="zh-CN" altLang="en-US" sz="1200" dirty="0"/>
              <a:t>）是概率论中的一个定理，描述在已知一些条件下，某事件的发生机率。</a:t>
            </a:r>
          </a:p>
        </p:txBody>
      </p:sp>
      <p:pic>
        <p:nvPicPr>
          <p:cNvPr id="8" name="Picture 2" descr="https://pic1.zhimg.com/80/v2-0d0c638ed58b22e9b5fabf3d4c8c49e0_720w.jpg">
            <a:extLst>
              <a:ext uri="{FF2B5EF4-FFF2-40B4-BE49-F238E27FC236}">
                <a16:creationId xmlns="" xmlns:a16="http://schemas.microsoft.com/office/drawing/2014/main" id="{B56CFAD2-86AB-90C6-25B8-3C397FE2B28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1812" y="1041052"/>
            <a:ext cx="1260000" cy="1351184"/>
          </a:xfrm>
          <a:prstGeom prst="rect">
            <a:avLst/>
          </a:prstGeom>
          <a:noFill/>
          <a:extLst>
            <a:ext uri="{909E8E84-426E-40DD-AFC4-6F175D3DCCD1}">
              <a14:hiddenFill xmlns:a14="http://schemas.microsoft.com/office/drawing/2010/main">
                <a:solidFill>
                  <a:srgbClr val="FFFFFF"/>
                </a:solidFill>
              </a14:hiddenFill>
            </a:ext>
          </a:extLst>
        </p:spPr>
      </p:pic>
      <p:sp>
        <p:nvSpPr>
          <p:cNvPr id="2" name="矩形: 剪去对角 1">
            <a:extLst>
              <a:ext uri="{FF2B5EF4-FFF2-40B4-BE49-F238E27FC236}">
                <a16:creationId xmlns="" xmlns:a16="http://schemas.microsoft.com/office/drawing/2014/main" id="{7A39F7E2-AC03-3E9D-B38B-2BB233419043}"/>
              </a:ext>
            </a:extLst>
          </p:cNvPr>
          <p:cNvSpPr/>
          <p:nvPr/>
        </p:nvSpPr>
        <p:spPr>
          <a:xfrm flipH="1">
            <a:off x="4028926" y="3213260"/>
            <a:ext cx="581174" cy="247490"/>
          </a:xfrm>
          <a:prstGeom prst="snip2DiagRect">
            <a:avLst>
              <a:gd name="adj1" fmla="val 0"/>
              <a:gd name="adj2" fmla="val 50000"/>
            </a:avLst>
          </a:prstGeom>
          <a:solidFill>
            <a:srgbClr val="0040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5751"/>
            <a:endParaRPr lang="zh-CN" altLang="en-US" sz="681">
              <a:solidFill>
                <a:prstClr val="white"/>
              </a:solidFill>
              <a:latin typeface="等线"/>
              <a:ea typeface="等线" panose="02010600030101010101" pitchFamily="2" charset="-122"/>
            </a:endParaRPr>
          </a:p>
        </p:txBody>
      </p:sp>
      <p:sp>
        <p:nvSpPr>
          <p:cNvPr id="3" name="矩形: 剪去对角 2">
            <a:extLst>
              <a:ext uri="{FF2B5EF4-FFF2-40B4-BE49-F238E27FC236}">
                <a16:creationId xmlns="" xmlns:a16="http://schemas.microsoft.com/office/drawing/2014/main" id="{ECF9B8DB-DC86-C09E-F89F-ED3A25798D2F}"/>
              </a:ext>
            </a:extLst>
          </p:cNvPr>
          <p:cNvSpPr/>
          <p:nvPr/>
        </p:nvSpPr>
        <p:spPr>
          <a:xfrm>
            <a:off x="0" y="3216860"/>
            <a:ext cx="607805" cy="247490"/>
          </a:xfrm>
          <a:prstGeom prst="snip2DiagRect">
            <a:avLst>
              <a:gd name="adj1" fmla="val 0"/>
              <a:gd name="adj2" fmla="val 50000"/>
            </a:avLst>
          </a:prstGeom>
          <a:solidFill>
            <a:srgbClr val="0040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5751"/>
            <a:endParaRPr lang="zh-CN" altLang="en-US" sz="681">
              <a:solidFill>
                <a:prstClr val="white"/>
              </a:solidFill>
              <a:latin typeface="等线"/>
              <a:ea typeface="等线" panose="02010600030101010101" pitchFamily="2" charset="-122"/>
            </a:endParaRPr>
          </a:p>
        </p:txBody>
      </p:sp>
      <p:sp>
        <p:nvSpPr>
          <p:cNvPr id="4" name="矩形 3">
            <a:extLst>
              <a:ext uri="{FF2B5EF4-FFF2-40B4-BE49-F238E27FC236}">
                <a16:creationId xmlns="" xmlns:a16="http://schemas.microsoft.com/office/drawing/2014/main" id="{22CEF4E7-AFE0-D518-24D9-7166D001782B}"/>
              </a:ext>
            </a:extLst>
          </p:cNvPr>
          <p:cNvSpPr/>
          <p:nvPr/>
        </p:nvSpPr>
        <p:spPr>
          <a:xfrm>
            <a:off x="230" y="3376471"/>
            <a:ext cx="4609871" cy="120744"/>
          </a:xfrm>
          <a:prstGeom prst="rect">
            <a:avLst/>
          </a:prstGeom>
          <a:solidFill>
            <a:srgbClr val="004098"/>
          </a:solidFill>
          <a:ln>
            <a:noFill/>
          </a:ln>
        </p:spPr>
        <p:style>
          <a:lnRef idx="2">
            <a:schemeClr val="dk1">
              <a:shade val="50000"/>
            </a:schemeClr>
          </a:lnRef>
          <a:fillRef idx="1">
            <a:schemeClr val="dk1"/>
          </a:fillRef>
          <a:effectRef idx="0">
            <a:schemeClr val="dk1"/>
          </a:effectRef>
          <a:fontRef idx="minor">
            <a:schemeClr val="lt1"/>
          </a:fontRef>
        </p:style>
        <p:txBody>
          <a:bodyPr anchor="ctr"/>
          <a:lstStyle/>
          <a:p>
            <a:pPr algn="ctr" defTabSz="345612">
              <a:defRPr/>
            </a:pPr>
            <a:endParaRPr lang="zh-CN" altLang="en-US" sz="680">
              <a:solidFill>
                <a:prstClr val="white"/>
              </a:solidFill>
              <a:latin typeface="Constantia"/>
              <a:ea typeface="宋体" panose="02010600030101010101" pitchFamily="2" charset="-122"/>
            </a:endParaRPr>
          </a:p>
        </p:txBody>
      </p:sp>
      <p:pic>
        <p:nvPicPr>
          <p:cNvPr id="5" name="图片 4" descr="图片1">
            <a:extLst>
              <a:ext uri="{FF2B5EF4-FFF2-40B4-BE49-F238E27FC236}">
                <a16:creationId xmlns="" xmlns:a16="http://schemas.microsoft.com/office/drawing/2014/main" id="{5B149758-7AE0-B662-6314-0D2A4CB66C4F}"/>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32463" y="3390024"/>
            <a:ext cx="2523764" cy="84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图片 5" descr="图片1">
            <a:extLst>
              <a:ext uri="{FF2B5EF4-FFF2-40B4-BE49-F238E27FC236}">
                <a16:creationId xmlns="" xmlns:a16="http://schemas.microsoft.com/office/drawing/2014/main" id="{22665822-0B87-847A-2DB9-F665F7A474F7}"/>
              </a:ext>
            </a:extLst>
          </p:cNvPr>
          <p:cNvPicPr>
            <a:picLocks noChangeAspect="1"/>
          </p:cNvPicPr>
          <p:nvPr/>
        </p:nvPicPr>
        <p:blipFill>
          <a:blip r:embed="rId5" cstate="print">
            <a:extLst>
              <a:ext uri="{28A0092B-C50C-407E-A947-70E740481C1C}">
                <a14:useLocalDpi xmlns:a14="http://schemas.microsoft.com/office/drawing/2010/main" val="0"/>
              </a:ext>
            </a:extLst>
          </a:blip>
          <a:srcRect r="16708" b="7407"/>
          <a:stretch>
            <a:fillRect/>
          </a:stretch>
        </p:blipFill>
        <p:spPr bwMode="auto">
          <a:xfrm>
            <a:off x="2382909" y="3390856"/>
            <a:ext cx="2218800" cy="82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339750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原创设计师QQ598969553      _2">
            <a:extLst>
              <a:ext uri="{FF2B5EF4-FFF2-40B4-BE49-F238E27FC236}">
                <a16:creationId xmlns="" xmlns:a16="http://schemas.microsoft.com/office/drawing/2014/main" id="{7C4725B1-D255-CC63-745B-0C08A542F8E6}"/>
              </a:ext>
            </a:extLst>
          </p:cNvPr>
          <p:cNvSpPr txBox="1"/>
          <p:nvPr/>
        </p:nvSpPr>
        <p:spPr>
          <a:xfrm>
            <a:off x="618435" y="185570"/>
            <a:ext cx="2267573" cy="204379"/>
          </a:xfrm>
          <a:prstGeom prst="rect">
            <a:avLst/>
          </a:prstGeom>
          <a:noFill/>
        </p:spPr>
        <p:txBody>
          <a:bodyPr wrap="square" lIns="34762" tIns="17381" rIns="34762" bIns="17381" rtlCol="0">
            <a:spAutoFit/>
          </a:bodyPr>
          <a:lstStyle/>
          <a:p>
            <a:r>
              <a:rPr lang="zh-CN" altLang="en-US" sz="1100" b="1" dirty="0">
                <a:latin typeface="微软雅黑" panose="020B0503020204020204" pitchFamily="34" charset="-122"/>
                <a:ea typeface="微软雅黑" panose="020B0503020204020204" pitchFamily="34" charset="-122"/>
              </a:rPr>
              <a:t>统计学习历史人物</a:t>
            </a:r>
          </a:p>
        </p:txBody>
      </p:sp>
      <p:grpSp>
        <p:nvGrpSpPr>
          <p:cNvPr id="68" name="原创设计师QQ598969553      _9">
            <a:extLst>
              <a:ext uri="{FF2B5EF4-FFF2-40B4-BE49-F238E27FC236}">
                <a16:creationId xmlns="" xmlns:a16="http://schemas.microsoft.com/office/drawing/2014/main" id="{EC33079E-1247-70DE-8763-3ACDD65E706D}"/>
              </a:ext>
            </a:extLst>
          </p:cNvPr>
          <p:cNvGrpSpPr/>
          <p:nvPr/>
        </p:nvGrpSpPr>
        <p:grpSpPr>
          <a:xfrm>
            <a:off x="188162" y="153558"/>
            <a:ext cx="304678" cy="243737"/>
            <a:chOff x="4268207" y="2118116"/>
            <a:chExt cx="2653566" cy="2214138"/>
          </a:xfrm>
        </p:grpSpPr>
        <p:grpSp>
          <p:nvGrpSpPr>
            <p:cNvPr id="69" name="组合 68">
              <a:extLst>
                <a:ext uri="{FF2B5EF4-FFF2-40B4-BE49-F238E27FC236}">
                  <a16:creationId xmlns="" xmlns:a16="http://schemas.microsoft.com/office/drawing/2014/main" id="{3866FBD5-A960-6794-8BA4-9DBBA9FC3AA3}"/>
                </a:ext>
              </a:extLst>
            </p:cNvPr>
            <p:cNvGrpSpPr/>
            <p:nvPr/>
          </p:nvGrpSpPr>
          <p:grpSpPr>
            <a:xfrm>
              <a:off x="4508674" y="2118116"/>
              <a:ext cx="2204282" cy="2204282"/>
              <a:chOff x="1517331" y="1125257"/>
              <a:chExt cx="2204282" cy="2204282"/>
            </a:xfrm>
          </p:grpSpPr>
          <p:sp>
            <p:nvSpPr>
              <p:cNvPr id="71" name="椭圆 70">
                <a:extLst>
                  <a:ext uri="{FF2B5EF4-FFF2-40B4-BE49-F238E27FC236}">
                    <a16:creationId xmlns="" xmlns:a16="http://schemas.microsoft.com/office/drawing/2014/main" id="{68A1054A-58A0-C11B-68D9-FA23D2B35325}"/>
                  </a:ext>
                </a:extLst>
              </p:cNvPr>
              <p:cNvSpPr/>
              <p:nvPr/>
            </p:nvSpPr>
            <p:spPr>
              <a:xfrm>
                <a:off x="1517331" y="1125257"/>
                <a:ext cx="2204282" cy="2204282"/>
              </a:xfrm>
              <a:prstGeom prst="ellipse">
                <a:avLst/>
              </a:prstGeom>
              <a:gradFill>
                <a:gsLst>
                  <a:gs pos="0">
                    <a:srgbClr val="EBEBEB"/>
                  </a:gs>
                  <a:gs pos="100000">
                    <a:srgbClr val="FEFEFE"/>
                  </a:gs>
                </a:gsLst>
                <a:lin ang="7530000" scaled="0"/>
              </a:gradFill>
              <a:ln w="12700">
                <a:solidFill>
                  <a:schemeClr val="bg1"/>
                </a:solidFill>
              </a:ln>
              <a:effectLst>
                <a:outerShdw blurRad="457200" dist="444500" dir="7800000" sx="89000" sy="89000" algn="tr" rotWithShape="0">
                  <a:prstClr val="black">
                    <a:alpha val="3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76">
                  <a:latin typeface="字体视界-NWE粗楷体" panose="02000500000000000000" pitchFamily="2" charset="-122"/>
                  <a:ea typeface="字体视界-NWE粗楷体" panose="02000500000000000000" pitchFamily="2" charset="-122"/>
                </a:endParaRPr>
              </a:p>
            </p:txBody>
          </p:sp>
          <p:sp>
            <p:nvSpPr>
              <p:cNvPr id="72" name="椭圆 71">
                <a:extLst>
                  <a:ext uri="{FF2B5EF4-FFF2-40B4-BE49-F238E27FC236}">
                    <a16:creationId xmlns="" xmlns:a16="http://schemas.microsoft.com/office/drawing/2014/main" id="{BFBCAB49-6A8C-B2B3-35ED-D6BBBED5CF8B}"/>
                  </a:ext>
                </a:extLst>
              </p:cNvPr>
              <p:cNvSpPr/>
              <p:nvPr/>
            </p:nvSpPr>
            <p:spPr>
              <a:xfrm>
                <a:off x="1719371" y="1344751"/>
                <a:ext cx="1800198" cy="1800200"/>
              </a:xfrm>
              <a:prstGeom prst="ellipse">
                <a:avLst/>
              </a:prstGeom>
              <a:solidFill>
                <a:srgbClr val="004098"/>
              </a:solidFill>
              <a:ln>
                <a:noFill/>
              </a:ln>
              <a:effectLst>
                <a:innerShdw blurRad="101600" dist="50800" dir="18900000">
                  <a:prstClr val="black">
                    <a:alpha val="43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76">
                  <a:latin typeface="字体视界-NWE粗楷体" panose="02000500000000000000" pitchFamily="2" charset="-122"/>
                  <a:ea typeface="字体视界-NWE粗楷体" panose="02000500000000000000" pitchFamily="2" charset="-122"/>
                </a:endParaRPr>
              </a:p>
            </p:txBody>
          </p:sp>
        </p:grpSp>
        <p:sp>
          <p:nvSpPr>
            <p:cNvPr id="70" name="TextBox 80">
              <a:extLst>
                <a:ext uri="{FF2B5EF4-FFF2-40B4-BE49-F238E27FC236}">
                  <a16:creationId xmlns="" xmlns:a16="http://schemas.microsoft.com/office/drawing/2014/main" id="{7A547AF7-EE79-5DEF-44B1-CF755100FDCC}"/>
                </a:ext>
              </a:extLst>
            </p:cNvPr>
            <p:cNvSpPr txBox="1"/>
            <p:nvPr/>
          </p:nvSpPr>
          <p:spPr>
            <a:xfrm>
              <a:off x="4268207" y="2408917"/>
              <a:ext cx="2653566" cy="1923337"/>
            </a:xfrm>
            <a:prstGeom prst="rect">
              <a:avLst/>
            </a:prstGeom>
            <a:noFill/>
          </p:spPr>
          <p:txBody>
            <a:bodyPr wrap="square" rtlCol="0">
              <a:spAutoFit/>
            </a:bodyPr>
            <a:lstStyle/>
            <a:p>
              <a:r>
                <a:rPr lang="en-US" altLang="zh-CN" sz="776" dirty="0">
                  <a:solidFill>
                    <a:schemeClr val="bg1"/>
                  </a:solidFill>
                  <a:latin typeface="字体视界-NWE粗楷体" panose="02000500000000000000" pitchFamily="2" charset="-122"/>
                  <a:ea typeface="字体视界-NWE粗楷体" panose="02000500000000000000" pitchFamily="2" charset="-122"/>
                </a:rPr>
                <a:t>08</a:t>
              </a:r>
            </a:p>
          </p:txBody>
        </p:sp>
      </p:grpSp>
      <p:sp>
        <p:nvSpPr>
          <p:cNvPr id="73" name="原创设计师QQ598969553      _12">
            <a:extLst>
              <a:ext uri="{FF2B5EF4-FFF2-40B4-BE49-F238E27FC236}">
                <a16:creationId xmlns="" xmlns:a16="http://schemas.microsoft.com/office/drawing/2014/main" id="{760473EF-0D78-F124-1B4B-A4A3255E7476}"/>
              </a:ext>
            </a:extLst>
          </p:cNvPr>
          <p:cNvSpPr>
            <a:spLocks noChangeShapeType="1"/>
          </p:cNvSpPr>
          <p:nvPr/>
        </p:nvSpPr>
        <p:spPr bwMode="auto">
          <a:xfrm flipH="1" flipV="1">
            <a:off x="543649" y="130604"/>
            <a:ext cx="0" cy="307269"/>
          </a:xfrm>
          <a:prstGeom prst="line">
            <a:avLst/>
          </a:prstGeom>
          <a:noFill/>
          <a:ln w="19050">
            <a:solidFill>
              <a:srgbClr val="004098"/>
            </a:solidFill>
            <a:prstDash val="dash"/>
            <a:round/>
          </a:ln>
          <a:extLst>
            <a:ext uri="{909E8E84-426E-40DD-AFC4-6F175D3DCCD1}">
              <a14:hiddenFill xmlns:a14="http://schemas.microsoft.com/office/drawing/2010/main">
                <a:noFill/>
              </a14:hiddenFill>
            </a:ext>
          </a:extLst>
        </p:spPr>
        <p:txBody>
          <a:bodyPr/>
          <a:lstStyle/>
          <a:p>
            <a:endParaRPr lang="zh-CN" altLang="en-US" sz="776" dirty="0"/>
          </a:p>
        </p:txBody>
      </p:sp>
      <p:sp>
        <p:nvSpPr>
          <p:cNvPr id="74" name="矩形: 圆角 18">
            <a:extLst>
              <a:ext uri="{FF2B5EF4-FFF2-40B4-BE49-F238E27FC236}">
                <a16:creationId xmlns="" xmlns:a16="http://schemas.microsoft.com/office/drawing/2014/main" id="{7C923056-96D1-FDBC-A663-A1F8635BC91E}"/>
              </a:ext>
            </a:extLst>
          </p:cNvPr>
          <p:cNvSpPr/>
          <p:nvPr/>
        </p:nvSpPr>
        <p:spPr>
          <a:xfrm flipV="1">
            <a:off x="140988" y="434975"/>
            <a:ext cx="2164062" cy="31919"/>
          </a:xfrm>
          <a:prstGeom prst="roundRect">
            <a:avLst>
              <a:gd name="adj" fmla="val 50000"/>
            </a:avLst>
          </a:prstGeom>
          <a:solidFill>
            <a:srgbClr val="0040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90">
              <a:solidFill>
                <a:srgbClr val="004098"/>
              </a:solidFill>
              <a:latin typeface="字体视界-NWE粗楷体" panose="02000500000000000000" pitchFamily="2" charset="-122"/>
              <a:ea typeface="字体视界-NWE粗楷体" panose="02000500000000000000" pitchFamily="2" charset="-122"/>
            </a:endParaRPr>
          </a:p>
        </p:txBody>
      </p:sp>
      <p:sp>
        <p:nvSpPr>
          <p:cNvPr id="2" name="矩形 1">
            <a:extLst>
              <a:ext uri="{FF2B5EF4-FFF2-40B4-BE49-F238E27FC236}">
                <a16:creationId xmlns="" xmlns:a16="http://schemas.microsoft.com/office/drawing/2014/main" id="{9A4310C6-567C-BE71-86AE-C81731F907D3}"/>
              </a:ext>
            </a:extLst>
          </p:cNvPr>
          <p:cNvSpPr/>
          <p:nvPr/>
        </p:nvSpPr>
        <p:spPr>
          <a:xfrm>
            <a:off x="1543050" y="801485"/>
            <a:ext cx="2895600" cy="1384995"/>
          </a:xfrm>
          <a:prstGeom prst="rect">
            <a:avLst/>
          </a:prstGeom>
        </p:spPr>
        <p:txBody>
          <a:bodyPr wrap="square">
            <a:spAutoFit/>
          </a:bodyPr>
          <a:lstStyle/>
          <a:p>
            <a:r>
              <a:rPr lang="zh-CN" altLang="en-US" sz="1200" dirty="0"/>
              <a:t>约翰</a:t>
            </a:r>
            <a:r>
              <a:rPr lang="en-US" altLang="zh-CN" sz="1200" dirty="0"/>
              <a:t>·</a:t>
            </a:r>
            <a:r>
              <a:rPr lang="zh-CN" altLang="en-US" sz="1200" dirty="0"/>
              <a:t>卡尔</a:t>
            </a:r>
            <a:r>
              <a:rPr lang="en-US" altLang="zh-CN" sz="1200" dirty="0"/>
              <a:t>·</a:t>
            </a:r>
            <a:r>
              <a:rPr lang="zh-CN" altLang="en-US" sz="1200" dirty="0"/>
              <a:t>弗里德里希</a:t>
            </a:r>
            <a:r>
              <a:rPr lang="en-US" altLang="zh-CN" sz="1200" dirty="0"/>
              <a:t>·</a:t>
            </a:r>
            <a:r>
              <a:rPr lang="zh-CN" altLang="en-US" sz="1200" dirty="0"/>
              <a:t>高斯（</a:t>
            </a:r>
            <a:r>
              <a:rPr lang="en-US" altLang="zh-CN" sz="1200" dirty="0"/>
              <a:t>Johann Karl Friedrich </a:t>
            </a:r>
            <a:r>
              <a:rPr lang="en-US" altLang="zh-CN" sz="1200" dirty="0" err="1"/>
              <a:t>Gauß</a:t>
            </a:r>
            <a:r>
              <a:rPr lang="zh-CN" altLang="en-US" sz="1200" dirty="0"/>
              <a:t>， </a:t>
            </a:r>
            <a:r>
              <a:rPr lang="en-US" altLang="zh-CN" sz="1200" dirty="0"/>
              <a:t>1777</a:t>
            </a:r>
            <a:r>
              <a:rPr lang="zh-CN" altLang="en-US" sz="1200" dirty="0"/>
              <a:t>年</a:t>
            </a:r>
            <a:r>
              <a:rPr lang="en-US" altLang="zh-CN" sz="1200" dirty="0"/>
              <a:t>4</a:t>
            </a:r>
            <a:r>
              <a:rPr lang="zh-CN" altLang="en-US" sz="1200" dirty="0"/>
              <a:t>月</a:t>
            </a:r>
            <a:r>
              <a:rPr lang="en-US" altLang="zh-CN" sz="1200" dirty="0"/>
              <a:t>30</a:t>
            </a:r>
            <a:r>
              <a:rPr lang="zh-CN" altLang="en-US" sz="1200" dirty="0"/>
              <a:t>日－</a:t>
            </a:r>
            <a:r>
              <a:rPr lang="en-US" altLang="zh-CN" sz="1200" dirty="0"/>
              <a:t>1855</a:t>
            </a:r>
            <a:r>
              <a:rPr lang="zh-CN" altLang="en-US" sz="1200" dirty="0"/>
              <a:t>年</a:t>
            </a:r>
            <a:r>
              <a:rPr lang="en-US" altLang="zh-CN" sz="1200" dirty="0"/>
              <a:t>2</a:t>
            </a:r>
            <a:r>
              <a:rPr lang="zh-CN" altLang="en-US" sz="1200" dirty="0"/>
              <a:t>月</a:t>
            </a:r>
            <a:r>
              <a:rPr lang="en-US" altLang="zh-CN" sz="1200" dirty="0"/>
              <a:t>23</a:t>
            </a:r>
            <a:r>
              <a:rPr lang="zh-CN" altLang="en-US" sz="1200" dirty="0"/>
              <a:t>日）， 德国数学家、物理学家、天文学家、大地测量学家</a:t>
            </a:r>
            <a:endParaRPr lang="en-US" altLang="zh-CN" sz="1200" dirty="0"/>
          </a:p>
          <a:p>
            <a:endParaRPr lang="en-US" altLang="zh-CN" sz="1200" dirty="0"/>
          </a:p>
          <a:p>
            <a:r>
              <a:rPr lang="zh-CN" altLang="en-US" sz="1200" b="1" dirty="0">
                <a:solidFill>
                  <a:srgbClr val="004098"/>
                </a:solidFill>
              </a:rPr>
              <a:t>（</a:t>
            </a:r>
            <a:r>
              <a:rPr lang="en-US" altLang="zh-CN" sz="1200" b="1" dirty="0">
                <a:solidFill>
                  <a:srgbClr val="004098"/>
                </a:solidFill>
              </a:rPr>
              <a:t>1</a:t>
            </a:r>
            <a:r>
              <a:rPr lang="zh-CN" altLang="en-US" sz="1200" b="1" dirty="0">
                <a:solidFill>
                  <a:srgbClr val="004098"/>
                </a:solidFill>
              </a:rPr>
              <a:t>）最小二乘法</a:t>
            </a:r>
            <a:endParaRPr lang="zh-CN" altLang="en-US" sz="1200" dirty="0">
              <a:solidFill>
                <a:srgbClr val="004098"/>
              </a:solidFill>
            </a:endParaRPr>
          </a:p>
          <a:p>
            <a:r>
              <a:rPr lang="zh-CN" altLang="en-US" sz="1200" b="1" dirty="0">
                <a:solidFill>
                  <a:srgbClr val="004098"/>
                </a:solidFill>
              </a:rPr>
              <a:t>（</a:t>
            </a:r>
            <a:r>
              <a:rPr lang="en-US" altLang="zh-CN" sz="1200" b="1" dirty="0">
                <a:solidFill>
                  <a:srgbClr val="004098"/>
                </a:solidFill>
              </a:rPr>
              <a:t>2</a:t>
            </a:r>
            <a:r>
              <a:rPr lang="zh-CN" altLang="en-US" sz="1200" b="1" dirty="0">
                <a:solidFill>
                  <a:srgbClr val="004098"/>
                </a:solidFill>
              </a:rPr>
              <a:t>）正态分布</a:t>
            </a:r>
            <a:endParaRPr lang="zh-CN" altLang="en-US" sz="1200" dirty="0">
              <a:solidFill>
                <a:srgbClr val="004098"/>
              </a:solidFill>
            </a:endParaRPr>
          </a:p>
        </p:txBody>
      </p:sp>
      <p:pic>
        <p:nvPicPr>
          <p:cNvPr id="3" name="Picture 2" descr="Image result for 约翰·卡尔·弗里德里希·高斯">
            <a:extLst>
              <a:ext uri="{FF2B5EF4-FFF2-40B4-BE49-F238E27FC236}">
                <a16:creationId xmlns="" xmlns:a16="http://schemas.microsoft.com/office/drawing/2014/main" id="{A3C4CCD1-4E0E-D92A-C217-1CCCE974DA2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038" y="804920"/>
            <a:ext cx="1260000" cy="1877483"/>
          </a:xfrm>
          <a:prstGeom prst="rect">
            <a:avLst/>
          </a:prstGeom>
          <a:noFill/>
          <a:extLst>
            <a:ext uri="{909E8E84-426E-40DD-AFC4-6F175D3DCCD1}">
              <a14:hiddenFill xmlns:a14="http://schemas.microsoft.com/office/drawing/2010/main">
                <a:solidFill>
                  <a:srgbClr val="FFFFFF"/>
                </a:solidFill>
              </a14:hiddenFill>
            </a:ext>
          </a:extLst>
        </p:spPr>
      </p:pic>
      <p:sp>
        <p:nvSpPr>
          <p:cNvPr id="4" name="矩形: 剪去对角 3">
            <a:extLst>
              <a:ext uri="{FF2B5EF4-FFF2-40B4-BE49-F238E27FC236}">
                <a16:creationId xmlns="" xmlns:a16="http://schemas.microsoft.com/office/drawing/2014/main" id="{F909FEAA-2F74-E2B3-BDD7-1A6A2A8678B1}"/>
              </a:ext>
            </a:extLst>
          </p:cNvPr>
          <p:cNvSpPr/>
          <p:nvPr/>
        </p:nvSpPr>
        <p:spPr>
          <a:xfrm flipH="1">
            <a:off x="4028926" y="3213260"/>
            <a:ext cx="581174" cy="247490"/>
          </a:xfrm>
          <a:prstGeom prst="snip2DiagRect">
            <a:avLst>
              <a:gd name="adj1" fmla="val 0"/>
              <a:gd name="adj2" fmla="val 50000"/>
            </a:avLst>
          </a:prstGeom>
          <a:solidFill>
            <a:srgbClr val="0040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5751"/>
            <a:endParaRPr lang="zh-CN" altLang="en-US" sz="681">
              <a:solidFill>
                <a:prstClr val="white"/>
              </a:solidFill>
              <a:latin typeface="等线"/>
              <a:ea typeface="等线" panose="02010600030101010101" pitchFamily="2" charset="-122"/>
            </a:endParaRPr>
          </a:p>
        </p:txBody>
      </p:sp>
      <p:sp>
        <p:nvSpPr>
          <p:cNvPr id="5" name="矩形: 剪去对角 4">
            <a:extLst>
              <a:ext uri="{FF2B5EF4-FFF2-40B4-BE49-F238E27FC236}">
                <a16:creationId xmlns="" xmlns:a16="http://schemas.microsoft.com/office/drawing/2014/main" id="{B2C13217-6A3C-556F-63A6-A845BC1FC8BA}"/>
              </a:ext>
            </a:extLst>
          </p:cNvPr>
          <p:cNvSpPr/>
          <p:nvPr/>
        </p:nvSpPr>
        <p:spPr>
          <a:xfrm>
            <a:off x="0" y="3216860"/>
            <a:ext cx="607805" cy="247490"/>
          </a:xfrm>
          <a:prstGeom prst="snip2DiagRect">
            <a:avLst>
              <a:gd name="adj1" fmla="val 0"/>
              <a:gd name="adj2" fmla="val 50000"/>
            </a:avLst>
          </a:prstGeom>
          <a:solidFill>
            <a:srgbClr val="0040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5751"/>
            <a:endParaRPr lang="zh-CN" altLang="en-US" sz="681">
              <a:solidFill>
                <a:prstClr val="white"/>
              </a:solidFill>
              <a:latin typeface="等线"/>
              <a:ea typeface="等线" panose="02010600030101010101" pitchFamily="2" charset="-122"/>
            </a:endParaRPr>
          </a:p>
        </p:txBody>
      </p:sp>
      <p:sp>
        <p:nvSpPr>
          <p:cNvPr id="6" name="矩形 5">
            <a:extLst>
              <a:ext uri="{FF2B5EF4-FFF2-40B4-BE49-F238E27FC236}">
                <a16:creationId xmlns="" xmlns:a16="http://schemas.microsoft.com/office/drawing/2014/main" id="{09E80CB2-7D2D-60AC-5E3C-5D6F715A069D}"/>
              </a:ext>
            </a:extLst>
          </p:cNvPr>
          <p:cNvSpPr/>
          <p:nvPr/>
        </p:nvSpPr>
        <p:spPr>
          <a:xfrm>
            <a:off x="230" y="3376471"/>
            <a:ext cx="4609871" cy="120744"/>
          </a:xfrm>
          <a:prstGeom prst="rect">
            <a:avLst/>
          </a:prstGeom>
          <a:solidFill>
            <a:srgbClr val="004098"/>
          </a:solidFill>
          <a:ln>
            <a:noFill/>
          </a:ln>
        </p:spPr>
        <p:style>
          <a:lnRef idx="2">
            <a:schemeClr val="dk1">
              <a:shade val="50000"/>
            </a:schemeClr>
          </a:lnRef>
          <a:fillRef idx="1">
            <a:schemeClr val="dk1"/>
          </a:fillRef>
          <a:effectRef idx="0">
            <a:schemeClr val="dk1"/>
          </a:effectRef>
          <a:fontRef idx="minor">
            <a:schemeClr val="lt1"/>
          </a:fontRef>
        </p:style>
        <p:txBody>
          <a:bodyPr anchor="ctr"/>
          <a:lstStyle/>
          <a:p>
            <a:pPr algn="ctr" defTabSz="345612">
              <a:defRPr/>
            </a:pPr>
            <a:endParaRPr lang="zh-CN" altLang="en-US" sz="680">
              <a:solidFill>
                <a:prstClr val="white"/>
              </a:solidFill>
              <a:latin typeface="Constantia"/>
              <a:ea typeface="宋体" panose="02010600030101010101" pitchFamily="2" charset="-122"/>
            </a:endParaRPr>
          </a:p>
        </p:txBody>
      </p:sp>
      <p:pic>
        <p:nvPicPr>
          <p:cNvPr id="7" name="图片 6" descr="图片1">
            <a:extLst>
              <a:ext uri="{FF2B5EF4-FFF2-40B4-BE49-F238E27FC236}">
                <a16:creationId xmlns="" xmlns:a16="http://schemas.microsoft.com/office/drawing/2014/main" id="{E58257E8-2A8D-0857-9C83-C3A7C04347B8}"/>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32463" y="3390024"/>
            <a:ext cx="2523764" cy="84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图片 7" descr="图片1">
            <a:extLst>
              <a:ext uri="{FF2B5EF4-FFF2-40B4-BE49-F238E27FC236}">
                <a16:creationId xmlns="" xmlns:a16="http://schemas.microsoft.com/office/drawing/2014/main" id="{6464A0D9-ADD9-06F1-4D1C-BC223A05BB6E}"/>
              </a:ext>
            </a:extLst>
          </p:cNvPr>
          <p:cNvPicPr>
            <a:picLocks noChangeAspect="1"/>
          </p:cNvPicPr>
          <p:nvPr/>
        </p:nvPicPr>
        <p:blipFill>
          <a:blip r:embed="rId5" cstate="print">
            <a:extLst>
              <a:ext uri="{28A0092B-C50C-407E-A947-70E740481C1C}">
                <a14:useLocalDpi xmlns:a14="http://schemas.microsoft.com/office/drawing/2010/main" val="0"/>
              </a:ext>
            </a:extLst>
          </a:blip>
          <a:srcRect r="16708" b="7407"/>
          <a:stretch>
            <a:fillRect/>
          </a:stretch>
        </p:blipFill>
        <p:spPr bwMode="auto">
          <a:xfrm>
            <a:off x="2382909" y="3390856"/>
            <a:ext cx="2218800" cy="82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4994198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原创设计师QQ598969553      _2">
            <a:extLst>
              <a:ext uri="{FF2B5EF4-FFF2-40B4-BE49-F238E27FC236}">
                <a16:creationId xmlns="" xmlns:a16="http://schemas.microsoft.com/office/drawing/2014/main" id="{7C4725B1-D255-CC63-745B-0C08A542F8E6}"/>
              </a:ext>
            </a:extLst>
          </p:cNvPr>
          <p:cNvSpPr txBox="1"/>
          <p:nvPr/>
        </p:nvSpPr>
        <p:spPr>
          <a:xfrm>
            <a:off x="618435" y="185570"/>
            <a:ext cx="2267573" cy="204379"/>
          </a:xfrm>
          <a:prstGeom prst="rect">
            <a:avLst/>
          </a:prstGeom>
          <a:noFill/>
        </p:spPr>
        <p:txBody>
          <a:bodyPr wrap="square" lIns="34762" tIns="17381" rIns="34762" bIns="17381" rtlCol="0">
            <a:spAutoFit/>
          </a:bodyPr>
          <a:lstStyle/>
          <a:p>
            <a:r>
              <a:rPr lang="zh-CN" altLang="en-US" sz="1100" b="1" dirty="0">
                <a:latin typeface="微软雅黑" panose="020B0503020204020204" pitchFamily="34" charset="-122"/>
                <a:ea typeface="微软雅黑" panose="020B0503020204020204" pitchFamily="34" charset="-122"/>
              </a:rPr>
              <a:t>统计学习历史人物</a:t>
            </a:r>
          </a:p>
        </p:txBody>
      </p:sp>
      <p:grpSp>
        <p:nvGrpSpPr>
          <p:cNvPr id="68" name="原创设计师QQ598969553      _9">
            <a:extLst>
              <a:ext uri="{FF2B5EF4-FFF2-40B4-BE49-F238E27FC236}">
                <a16:creationId xmlns="" xmlns:a16="http://schemas.microsoft.com/office/drawing/2014/main" id="{EC33079E-1247-70DE-8763-3ACDD65E706D}"/>
              </a:ext>
            </a:extLst>
          </p:cNvPr>
          <p:cNvGrpSpPr/>
          <p:nvPr/>
        </p:nvGrpSpPr>
        <p:grpSpPr>
          <a:xfrm>
            <a:off x="188162" y="153558"/>
            <a:ext cx="304678" cy="243737"/>
            <a:chOff x="4268207" y="2118116"/>
            <a:chExt cx="2653566" cy="2214138"/>
          </a:xfrm>
        </p:grpSpPr>
        <p:grpSp>
          <p:nvGrpSpPr>
            <p:cNvPr id="69" name="组合 68">
              <a:extLst>
                <a:ext uri="{FF2B5EF4-FFF2-40B4-BE49-F238E27FC236}">
                  <a16:creationId xmlns="" xmlns:a16="http://schemas.microsoft.com/office/drawing/2014/main" id="{3866FBD5-A960-6794-8BA4-9DBBA9FC3AA3}"/>
                </a:ext>
              </a:extLst>
            </p:cNvPr>
            <p:cNvGrpSpPr/>
            <p:nvPr/>
          </p:nvGrpSpPr>
          <p:grpSpPr>
            <a:xfrm>
              <a:off x="4508674" y="2118116"/>
              <a:ext cx="2204282" cy="2204282"/>
              <a:chOff x="1517331" y="1125257"/>
              <a:chExt cx="2204282" cy="2204282"/>
            </a:xfrm>
          </p:grpSpPr>
          <p:sp>
            <p:nvSpPr>
              <p:cNvPr id="71" name="椭圆 70">
                <a:extLst>
                  <a:ext uri="{FF2B5EF4-FFF2-40B4-BE49-F238E27FC236}">
                    <a16:creationId xmlns="" xmlns:a16="http://schemas.microsoft.com/office/drawing/2014/main" id="{68A1054A-58A0-C11B-68D9-FA23D2B35325}"/>
                  </a:ext>
                </a:extLst>
              </p:cNvPr>
              <p:cNvSpPr/>
              <p:nvPr/>
            </p:nvSpPr>
            <p:spPr>
              <a:xfrm>
                <a:off x="1517331" y="1125257"/>
                <a:ext cx="2204282" cy="2204282"/>
              </a:xfrm>
              <a:prstGeom prst="ellipse">
                <a:avLst/>
              </a:prstGeom>
              <a:gradFill>
                <a:gsLst>
                  <a:gs pos="0">
                    <a:srgbClr val="EBEBEB"/>
                  </a:gs>
                  <a:gs pos="100000">
                    <a:srgbClr val="FEFEFE"/>
                  </a:gs>
                </a:gsLst>
                <a:lin ang="7530000" scaled="0"/>
              </a:gradFill>
              <a:ln w="12700">
                <a:solidFill>
                  <a:schemeClr val="bg1"/>
                </a:solidFill>
              </a:ln>
              <a:effectLst>
                <a:outerShdw blurRad="457200" dist="444500" dir="7800000" sx="89000" sy="89000" algn="tr" rotWithShape="0">
                  <a:prstClr val="black">
                    <a:alpha val="3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76">
                  <a:latin typeface="字体视界-NWE粗楷体" panose="02000500000000000000" pitchFamily="2" charset="-122"/>
                  <a:ea typeface="字体视界-NWE粗楷体" panose="02000500000000000000" pitchFamily="2" charset="-122"/>
                </a:endParaRPr>
              </a:p>
            </p:txBody>
          </p:sp>
          <p:sp>
            <p:nvSpPr>
              <p:cNvPr id="72" name="椭圆 71">
                <a:extLst>
                  <a:ext uri="{FF2B5EF4-FFF2-40B4-BE49-F238E27FC236}">
                    <a16:creationId xmlns="" xmlns:a16="http://schemas.microsoft.com/office/drawing/2014/main" id="{BFBCAB49-6A8C-B2B3-35ED-D6BBBED5CF8B}"/>
                  </a:ext>
                </a:extLst>
              </p:cNvPr>
              <p:cNvSpPr/>
              <p:nvPr/>
            </p:nvSpPr>
            <p:spPr>
              <a:xfrm>
                <a:off x="1719371" y="1344751"/>
                <a:ext cx="1800198" cy="1800200"/>
              </a:xfrm>
              <a:prstGeom prst="ellipse">
                <a:avLst/>
              </a:prstGeom>
              <a:solidFill>
                <a:srgbClr val="004098"/>
              </a:solidFill>
              <a:ln>
                <a:noFill/>
              </a:ln>
              <a:effectLst>
                <a:innerShdw blurRad="101600" dist="50800" dir="18900000">
                  <a:prstClr val="black">
                    <a:alpha val="43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76">
                  <a:latin typeface="字体视界-NWE粗楷体" panose="02000500000000000000" pitchFamily="2" charset="-122"/>
                  <a:ea typeface="字体视界-NWE粗楷体" panose="02000500000000000000" pitchFamily="2" charset="-122"/>
                </a:endParaRPr>
              </a:p>
            </p:txBody>
          </p:sp>
        </p:grpSp>
        <p:sp>
          <p:nvSpPr>
            <p:cNvPr id="70" name="TextBox 80">
              <a:extLst>
                <a:ext uri="{FF2B5EF4-FFF2-40B4-BE49-F238E27FC236}">
                  <a16:creationId xmlns="" xmlns:a16="http://schemas.microsoft.com/office/drawing/2014/main" id="{7A547AF7-EE79-5DEF-44B1-CF755100FDCC}"/>
                </a:ext>
              </a:extLst>
            </p:cNvPr>
            <p:cNvSpPr txBox="1"/>
            <p:nvPr/>
          </p:nvSpPr>
          <p:spPr>
            <a:xfrm>
              <a:off x="4268207" y="2408917"/>
              <a:ext cx="2653566" cy="1923337"/>
            </a:xfrm>
            <a:prstGeom prst="rect">
              <a:avLst/>
            </a:prstGeom>
            <a:noFill/>
          </p:spPr>
          <p:txBody>
            <a:bodyPr wrap="square" rtlCol="0">
              <a:spAutoFit/>
            </a:bodyPr>
            <a:lstStyle/>
            <a:p>
              <a:r>
                <a:rPr lang="en-US" altLang="zh-CN" sz="776" dirty="0">
                  <a:solidFill>
                    <a:schemeClr val="bg1"/>
                  </a:solidFill>
                  <a:latin typeface="字体视界-NWE粗楷体" panose="02000500000000000000" pitchFamily="2" charset="-122"/>
                  <a:ea typeface="字体视界-NWE粗楷体" panose="02000500000000000000" pitchFamily="2" charset="-122"/>
                </a:rPr>
                <a:t>08</a:t>
              </a:r>
            </a:p>
          </p:txBody>
        </p:sp>
      </p:grpSp>
      <p:sp>
        <p:nvSpPr>
          <p:cNvPr id="73" name="原创设计师QQ598969553      _12">
            <a:extLst>
              <a:ext uri="{FF2B5EF4-FFF2-40B4-BE49-F238E27FC236}">
                <a16:creationId xmlns="" xmlns:a16="http://schemas.microsoft.com/office/drawing/2014/main" id="{760473EF-0D78-F124-1B4B-A4A3255E7476}"/>
              </a:ext>
            </a:extLst>
          </p:cNvPr>
          <p:cNvSpPr>
            <a:spLocks noChangeShapeType="1"/>
          </p:cNvSpPr>
          <p:nvPr/>
        </p:nvSpPr>
        <p:spPr bwMode="auto">
          <a:xfrm flipH="1" flipV="1">
            <a:off x="543649" y="130604"/>
            <a:ext cx="0" cy="307269"/>
          </a:xfrm>
          <a:prstGeom prst="line">
            <a:avLst/>
          </a:prstGeom>
          <a:noFill/>
          <a:ln w="19050">
            <a:solidFill>
              <a:srgbClr val="004098"/>
            </a:solidFill>
            <a:prstDash val="dash"/>
            <a:round/>
          </a:ln>
          <a:extLst>
            <a:ext uri="{909E8E84-426E-40DD-AFC4-6F175D3DCCD1}">
              <a14:hiddenFill xmlns:a14="http://schemas.microsoft.com/office/drawing/2010/main">
                <a:noFill/>
              </a14:hiddenFill>
            </a:ext>
          </a:extLst>
        </p:spPr>
        <p:txBody>
          <a:bodyPr/>
          <a:lstStyle/>
          <a:p>
            <a:endParaRPr lang="zh-CN" altLang="en-US" sz="776" dirty="0"/>
          </a:p>
        </p:txBody>
      </p:sp>
      <p:sp>
        <p:nvSpPr>
          <p:cNvPr id="74" name="矩形: 圆角 18">
            <a:extLst>
              <a:ext uri="{FF2B5EF4-FFF2-40B4-BE49-F238E27FC236}">
                <a16:creationId xmlns="" xmlns:a16="http://schemas.microsoft.com/office/drawing/2014/main" id="{7C923056-96D1-FDBC-A663-A1F8635BC91E}"/>
              </a:ext>
            </a:extLst>
          </p:cNvPr>
          <p:cNvSpPr/>
          <p:nvPr/>
        </p:nvSpPr>
        <p:spPr>
          <a:xfrm flipV="1">
            <a:off x="140988" y="434975"/>
            <a:ext cx="2164062" cy="31919"/>
          </a:xfrm>
          <a:prstGeom prst="roundRect">
            <a:avLst>
              <a:gd name="adj" fmla="val 50000"/>
            </a:avLst>
          </a:prstGeom>
          <a:solidFill>
            <a:srgbClr val="0040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90">
              <a:solidFill>
                <a:srgbClr val="004098"/>
              </a:solidFill>
              <a:latin typeface="字体视界-NWE粗楷体" panose="02000500000000000000" pitchFamily="2" charset="-122"/>
              <a:ea typeface="字体视界-NWE粗楷体" panose="02000500000000000000" pitchFamily="2" charset="-122"/>
            </a:endParaRPr>
          </a:p>
        </p:txBody>
      </p:sp>
      <p:sp>
        <p:nvSpPr>
          <p:cNvPr id="2" name="矩形 1">
            <a:extLst>
              <a:ext uri="{FF2B5EF4-FFF2-40B4-BE49-F238E27FC236}">
                <a16:creationId xmlns="" xmlns:a16="http://schemas.microsoft.com/office/drawing/2014/main" id="{8D55031D-55B3-4804-753F-9CC6CCFEFC3C}"/>
              </a:ext>
            </a:extLst>
          </p:cNvPr>
          <p:cNvSpPr/>
          <p:nvPr/>
        </p:nvSpPr>
        <p:spPr>
          <a:xfrm>
            <a:off x="1535372" y="853212"/>
            <a:ext cx="2895600" cy="1754326"/>
          </a:xfrm>
          <a:prstGeom prst="rect">
            <a:avLst/>
          </a:prstGeom>
        </p:spPr>
        <p:txBody>
          <a:bodyPr wrap="square">
            <a:spAutoFit/>
          </a:bodyPr>
          <a:lstStyle/>
          <a:p>
            <a:r>
              <a:rPr lang="zh-CN" altLang="en-US" sz="1200" dirty="0"/>
              <a:t>卡尔</a:t>
            </a:r>
            <a:r>
              <a:rPr lang="en-US" altLang="zh-CN" sz="1200" dirty="0"/>
              <a:t>·</a:t>
            </a:r>
            <a:r>
              <a:rPr lang="zh-CN" altLang="en-US" sz="1200" dirty="0"/>
              <a:t>皮尔逊（</a:t>
            </a:r>
            <a:r>
              <a:rPr lang="en-US" altLang="zh-CN" sz="1200" dirty="0"/>
              <a:t>Karl Pearson</a:t>
            </a:r>
            <a:r>
              <a:rPr lang="zh-CN" altLang="en-US" sz="1200" dirty="0"/>
              <a:t>，</a:t>
            </a:r>
            <a:r>
              <a:rPr lang="en-US" altLang="zh-CN" sz="1200" dirty="0"/>
              <a:t>1857</a:t>
            </a:r>
            <a:r>
              <a:rPr lang="zh-CN" altLang="en-US" sz="1200" dirty="0"/>
              <a:t>年</a:t>
            </a:r>
            <a:r>
              <a:rPr lang="en-US" altLang="zh-CN" sz="1200" dirty="0"/>
              <a:t>3</a:t>
            </a:r>
            <a:r>
              <a:rPr lang="zh-CN" altLang="en-US" sz="1200" dirty="0"/>
              <a:t>月</a:t>
            </a:r>
            <a:r>
              <a:rPr lang="en-US" altLang="zh-CN" sz="1200" dirty="0"/>
              <a:t>27</a:t>
            </a:r>
            <a:r>
              <a:rPr lang="zh-CN" altLang="en-US" sz="1200" dirty="0"/>
              <a:t>日</a:t>
            </a:r>
            <a:r>
              <a:rPr lang="en-US" altLang="zh-CN" sz="1200" dirty="0"/>
              <a:t>-1936</a:t>
            </a:r>
            <a:r>
              <a:rPr lang="zh-CN" altLang="en-US" sz="1200" dirty="0"/>
              <a:t>年</a:t>
            </a:r>
            <a:r>
              <a:rPr lang="en-US" altLang="zh-CN" sz="1200" dirty="0"/>
              <a:t>4</a:t>
            </a:r>
            <a:r>
              <a:rPr lang="zh-CN" altLang="en-US" sz="1200" dirty="0"/>
              <a:t>月</a:t>
            </a:r>
            <a:r>
              <a:rPr lang="en-US" altLang="zh-CN" sz="1200" dirty="0"/>
              <a:t>27</a:t>
            </a:r>
            <a:r>
              <a:rPr lang="zh-CN" altLang="en-US" sz="1200" dirty="0"/>
              <a:t>日）是英国数学家、生物统计学家、数理统计学的创立者。</a:t>
            </a:r>
            <a:endParaRPr lang="en-US" altLang="zh-CN" sz="1200" dirty="0"/>
          </a:p>
          <a:p>
            <a:endParaRPr lang="en-US" altLang="zh-CN" sz="1200" dirty="0"/>
          </a:p>
          <a:p>
            <a:r>
              <a:rPr lang="zh-CN" altLang="en-US" sz="1200" dirty="0"/>
              <a:t>他被公认是旧派理学派和描述统计学派的代表人物，并被誉为现代统计科学的创立者。他对统计发展的影响是巨大的，他提出了包括</a:t>
            </a:r>
            <a:r>
              <a:rPr lang="zh-CN" altLang="en-US" sz="1200" b="1" u="sng" dirty="0">
                <a:solidFill>
                  <a:srgbClr val="004098"/>
                </a:solidFill>
              </a:rPr>
              <a:t>统计假设检验</a:t>
            </a:r>
            <a:r>
              <a:rPr lang="zh-CN" altLang="en-US" sz="1200" dirty="0"/>
              <a:t>，</a:t>
            </a:r>
            <a:r>
              <a:rPr lang="zh-CN" altLang="en-US" sz="1200" b="1" u="sng" dirty="0">
                <a:solidFill>
                  <a:srgbClr val="004098"/>
                </a:solidFill>
              </a:rPr>
              <a:t>相关系数</a:t>
            </a:r>
            <a:r>
              <a:rPr lang="zh-CN" altLang="en-US" sz="1200" dirty="0"/>
              <a:t>，</a:t>
            </a:r>
            <a:r>
              <a:rPr lang="zh-CN" altLang="en-US" sz="1200" b="1" u="sng" dirty="0">
                <a:solidFill>
                  <a:srgbClr val="004098"/>
                </a:solidFill>
              </a:rPr>
              <a:t>卡方检验</a:t>
            </a:r>
            <a:r>
              <a:rPr lang="zh-CN" altLang="en-US" sz="1200" dirty="0"/>
              <a:t>，</a:t>
            </a:r>
            <a:r>
              <a:rPr lang="en-US" altLang="zh-CN" sz="1200" b="1" u="sng" dirty="0">
                <a:solidFill>
                  <a:srgbClr val="004098"/>
                </a:solidFill>
              </a:rPr>
              <a:t>P</a:t>
            </a:r>
            <a:r>
              <a:rPr lang="zh-CN" altLang="en-US" sz="1200" b="1" u="sng" dirty="0">
                <a:solidFill>
                  <a:srgbClr val="004098"/>
                </a:solidFill>
              </a:rPr>
              <a:t>值</a:t>
            </a:r>
            <a:r>
              <a:rPr lang="zh-CN" altLang="en-US" sz="1200" dirty="0"/>
              <a:t>等有名的概念。</a:t>
            </a:r>
            <a:endParaRPr lang="en-US" altLang="zh-CN" sz="1200" dirty="0">
              <a:solidFill>
                <a:srgbClr val="121212"/>
              </a:solidFill>
              <a:latin typeface="-apple-system"/>
            </a:endParaRPr>
          </a:p>
        </p:txBody>
      </p:sp>
      <p:pic>
        <p:nvPicPr>
          <p:cNvPr id="3" name="Picture 2" descr="Image result for 卡尔·皮尔逊">
            <a:extLst>
              <a:ext uri="{FF2B5EF4-FFF2-40B4-BE49-F238E27FC236}">
                <a16:creationId xmlns="" xmlns:a16="http://schemas.microsoft.com/office/drawing/2014/main" id="{ACAA65B1-3F68-588E-8F52-DB0DC561063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2300" y="856387"/>
            <a:ext cx="1260000" cy="1566298"/>
          </a:xfrm>
          <a:prstGeom prst="rect">
            <a:avLst/>
          </a:prstGeom>
          <a:noFill/>
          <a:extLst>
            <a:ext uri="{909E8E84-426E-40DD-AFC4-6F175D3DCCD1}">
              <a14:hiddenFill xmlns:a14="http://schemas.microsoft.com/office/drawing/2010/main">
                <a:solidFill>
                  <a:srgbClr val="FFFFFF"/>
                </a:solidFill>
              </a14:hiddenFill>
            </a:ext>
          </a:extLst>
        </p:spPr>
      </p:pic>
      <p:sp>
        <p:nvSpPr>
          <p:cNvPr id="4" name="矩形: 剪去对角 3">
            <a:extLst>
              <a:ext uri="{FF2B5EF4-FFF2-40B4-BE49-F238E27FC236}">
                <a16:creationId xmlns="" xmlns:a16="http://schemas.microsoft.com/office/drawing/2014/main" id="{A27BB923-CE16-C7C5-096C-AB8D27B9FA4F}"/>
              </a:ext>
            </a:extLst>
          </p:cNvPr>
          <p:cNvSpPr/>
          <p:nvPr/>
        </p:nvSpPr>
        <p:spPr>
          <a:xfrm flipH="1">
            <a:off x="4028926" y="3213260"/>
            <a:ext cx="581174" cy="247490"/>
          </a:xfrm>
          <a:prstGeom prst="snip2DiagRect">
            <a:avLst>
              <a:gd name="adj1" fmla="val 0"/>
              <a:gd name="adj2" fmla="val 50000"/>
            </a:avLst>
          </a:prstGeom>
          <a:solidFill>
            <a:srgbClr val="0040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5751"/>
            <a:endParaRPr lang="zh-CN" altLang="en-US" sz="681">
              <a:solidFill>
                <a:prstClr val="white"/>
              </a:solidFill>
              <a:latin typeface="等线"/>
              <a:ea typeface="等线" panose="02010600030101010101" pitchFamily="2" charset="-122"/>
            </a:endParaRPr>
          </a:p>
        </p:txBody>
      </p:sp>
      <p:sp>
        <p:nvSpPr>
          <p:cNvPr id="5" name="矩形: 剪去对角 4">
            <a:extLst>
              <a:ext uri="{FF2B5EF4-FFF2-40B4-BE49-F238E27FC236}">
                <a16:creationId xmlns="" xmlns:a16="http://schemas.microsoft.com/office/drawing/2014/main" id="{F53C715D-DE8A-A401-2F24-579AE2DA1596}"/>
              </a:ext>
            </a:extLst>
          </p:cNvPr>
          <p:cNvSpPr/>
          <p:nvPr/>
        </p:nvSpPr>
        <p:spPr>
          <a:xfrm>
            <a:off x="0" y="3216860"/>
            <a:ext cx="607805" cy="247490"/>
          </a:xfrm>
          <a:prstGeom prst="snip2DiagRect">
            <a:avLst>
              <a:gd name="adj1" fmla="val 0"/>
              <a:gd name="adj2" fmla="val 50000"/>
            </a:avLst>
          </a:prstGeom>
          <a:solidFill>
            <a:srgbClr val="0040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5751"/>
            <a:endParaRPr lang="zh-CN" altLang="en-US" sz="681">
              <a:solidFill>
                <a:prstClr val="white"/>
              </a:solidFill>
              <a:latin typeface="等线"/>
              <a:ea typeface="等线" panose="02010600030101010101" pitchFamily="2" charset="-122"/>
            </a:endParaRPr>
          </a:p>
        </p:txBody>
      </p:sp>
      <p:sp>
        <p:nvSpPr>
          <p:cNvPr id="6" name="矩形 5">
            <a:extLst>
              <a:ext uri="{FF2B5EF4-FFF2-40B4-BE49-F238E27FC236}">
                <a16:creationId xmlns="" xmlns:a16="http://schemas.microsoft.com/office/drawing/2014/main" id="{13B15E93-0C09-BECD-6742-53EE51E6EE70}"/>
              </a:ext>
            </a:extLst>
          </p:cNvPr>
          <p:cNvSpPr/>
          <p:nvPr/>
        </p:nvSpPr>
        <p:spPr>
          <a:xfrm>
            <a:off x="230" y="3376471"/>
            <a:ext cx="4609871" cy="120744"/>
          </a:xfrm>
          <a:prstGeom prst="rect">
            <a:avLst/>
          </a:prstGeom>
          <a:solidFill>
            <a:srgbClr val="004098"/>
          </a:solidFill>
          <a:ln>
            <a:noFill/>
          </a:ln>
        </p:spPr>
        <p:style>
          <a:lnRef idx="2">
            <a:schemeClr val="dk1">
              <a:shade val="50000"/>
            </a:schemeClr>
          </a:lnRef>
          <a:fillRef idx="1">
            <a:schemeClr val="dk1"/>
          </a:fillRef>
          <a:effectRef idx="0">
            <a:schemeClr val="dk1"/>
          </a:effectRef>
          <a:fontRef idx="minor">
            <a:schemeClr val="lt1"/>
          </a:fontRef>
        </p:style>
        <p:txBody>
          <a:bodyPr anchor="ctr"/>
          <a:lstStyle/>
          <a:p>
            <a:pPr algn="ctr" defTabSz="345612">
              <a:defRPr/>
            </a:pPr>
            <a:endParaRPr lang="zh-CN" altLang="en-US" sz="680">
              <a:solidFill>
                <a:prstClr val="white"/>
              </a:solidFill>
              <a:latin typeface="Constantia"/>
              <a:ea typeface="宋体" panose="02010600030101010101" pitchFamily="2" charset="-122"/>
            </a:endParaRPr>
          </a:p>
        </p:txBody>
      </p:sp>
      <p:pic>
        <p:nvPicPr>
          <p:cNvPr id="7" name="图片 6" descr="图片1">
            <a:extLst>
              <a:ext uri="{FF2B5EF4-FFF2-40B4-BE49-F238E27FC236}">
                <a16:creationId xmlns="" xmlns:a16="http://schemas.microsoft.com/office/drawing/2014/main" id="{015E5D06-E8B2-9B43-37F8-4AD4040EF915}"/>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32463" y="3390024"/>
            <a:ext cx="2523764" cy="84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图片 7" descr="图片1">
            <a:extLst>
              <a:ext uri="{FF2B5EF4-FFF2-40B4-BE49-F238E27FC236}">
                <a16:creationId xmlns="" xmlns:a16="http://schemas.microsoft.com/office/drawing/2014/main" id="{DE45F9E4-D32E-B265-0468-8C4418035959}"/>
              </a:ext>
            </a:extLst>
          </p:cNvPr>
          <p:cNvPicPr>
            <a:picLocks noChangeAspect="1"/>
          </p:cNvPicPr>
          <p:nvPr/>
        </p:nvPicPr>
        <p:blipFill>
          <a:blip r:embed="rId5" cstate="print">
            <a:extLst>
              <a:ext uri="{28A0092B-C50C-407E-A947-70E740481C1C}">
                <a14:useLocalDpi xmlns:a14="http://schemas.microsoft.com/office/drawing/2010/main" val="0"/>
              </a:ext>
            </a:extLst>
          </a:blip>
          <a:srcRect r="16708" b="7407"/>
          <a:stretch>
            <a:fillRect/>
          </a:stretch>
        </p:blipFill>
        <p:spPr bwMode="auto">
          <a:xfrm>
            <a:off x="2382909" y="3390856"/>
            <a:ext cx="2218800" cy="82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9517219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原创设计师QQ598969553      _2">
            <a:extLst>
              <a:ext uri="{FF2B5EF4-FFF2-40B4-BE49-F238E27FC236}">
                <a16:creationId xmlns="" xmlns:a16="http://schemas.microsoft.com/office/drawing/2014/main" id="{7C4725B1-D255-CC63-745B-0C08A542F8E6}"/>
              </a:ext>
            </a:extLst>
          </p:cNvPr>
          <p:cNvSpPr txBox="1"/>
          <p:nvPr/>
        </p:nvSpPr>
        <p:spPr>
          <a:xfrm>
            <a:off x="618435" y="185570"/>
            <a:ext cx="2267573" cy="204379"/>
          </a:xfrm>
          <a:prstGeom prst="rect">
            <a:avLst/>
          </a:prstGeom>
          <a:noFill/>
        </p:spPr>
        <p:txBody>
          <a:bodyPr wrap="square" lIns="34762" tIns="17381" rIns="34762" bIns="17381" rtlCol="0">
            <a:spAutoFit/>
          </a:bodyPr>
          <a:lstStyle/>
          <a:p>
            <a:r>
              <a:rPr lang="zh-CN" altLang="en-US" sz="1100" b="1" dirty="0">
                <a:latin typeface="微软雅黑" panose="020B0503020204020204" pitchFamily="34" charset="-122"/>
                <a:ea typeface="微软雅黑" panose="020B0503020204020204" pitchFamily="34" charset="-122"/>
              </a:rPr>
              <a:t>统计学习历史人物</a:t>
            </a:r>
          </a:p>
        </p:txBody>
      </p:sp>
      <p:grpSp>
        <p:nvGrpSpPr>
          <p:cNvPr id="68" name="原创设计师QQ598969553      _9">
            <a:extLst>
              <a:ext uri="{FF2B5EF4-FFF2-40B4-BE49-F238E27FC236}">
                <a16:creationId xmlns="" xmlns:a16="http://schemas.microsoft.com/office/drawing/2014/main" id="{EC33079E-1247-70DE-8763-3ACDD65E706D}"/>
              </a:ext>
            </a:extLst>
          </p:cNvPr>
          <p:cNvGrpSpPr/>
          <p:nvPr/>
        </p:nvGrpSpPr>
        <p:grpSpPr>
          <a:xfrm>
            <a:off x="188162" y="153558"/>
            <a:ext cx="304678" cy="243737"/>
            <a:chOff x="4268207" y="2118116"/>
            <a:chExt cx="2653566" cy="2214138"/>
          </a:xfrm>
        </p:grpSpPr>
        <p:grpSp>
          <p:nvGrpSpPr>
            <p:cNvPr id="69" name="组合 68">
              <a:extLst>
                <a:ext uri="{FF2B5EF4-FFF2-40B4-BE49-F238E27FC236}">
                  <a16:creationId xmlns="" xmlns:a16="http://schemas.microsoft.com/office/drawing/2014/main" id="{3866FBD5-A960-6794-8BA4-9DBBA9FC3AA3}"/>
                </a:ext>
              </a:extLst>
            </p:cNvPr>
            <p:cNvGrpSpPr/>
            <p:nvPr/>
          </p:nvGrpSpPr>
          <p:grpSpPr>
            <a:xfrm>
              <a:off x="4508674" y="2118116"/>
              <a:ext cx="2204282" cy="2204282"/>
              <a:chOff x="1517331" y="1125257"/>
              <a:chExt cx="2204282" cy="2204282"/>
            </a:xfrm>
          </p:grpSpPr>
          <p:sp>
            <p:nvSpPr>
              <p:cNvPr id="71" name="椭圆 70">
                <a:extLst>
                  <a:ext uri="{FF2B5EF4-FFF2-40B4-BE49-F238E27FC236}">
                    <a16:creationId xmlns="" xmlns:a16="http://schemas.microsoft.com/office/drawing/2014/main" id="{68A1054A-58A0-C11B-68D9-FA23D2B35325}"/>
                  </a:ext>
                </a:extLst>
              </p:cNvPr>
              <p:cNvSpPr/>
              <p:nvPr/>
            </p:nvSpPr>
            <p:spPr>
              <a:xfrm>
                <a:off x="1517331" y="1125257"/>
                <a:ext cx="2204282" cy="2204282"/>
              </a:xfrm>
              <a:prstGeom prst="ellipse">
                <a:avLst/>
              </a:prstGeom>
              <a:gradFill>
                <a:gsLst>
                  <a:gs pos="0">
                    <a:srgbClr val="EBEBEB"/>
                  </a:gs>
                  <a:gs pos="100000">
                    <a:srgbClr val="FEFEFE"/>
                  </a:gs>
                </a:gsLst>
                <a:lin ang="7530000" scaled="0"/>
              </a:gradFill>
              <a:ln w="12700">
                <a:solidFill>
                  <a:schemeClr val="bg1"/>
                </a:solidFill>
              </a:ln>
              <a:effectLst>
                <a:outerShdw blurRad="457200" dist="444500" dir="7800000" sx="89000" sy="89000" algn="tr" rotWithShape="0">
                  <a:prstClr val="black">
                    <a:alpha val="3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76">
                  <a:latin typeface="字体视界-NWE粗楷体" panose="02000500000000000000" pitchFamily="2" charset="-122"/>
                  <a:ea typeface="字体视界-NWE粗楷体" panose="02000500000000000000" pitchFamily="2" charset="-122"/>
                </a:endParaRPr>
              </a:p>
            </p:txBody>
          </p:sp>
          <p:sp>
            <p:nvSpPr>
              <p:cNvPr id="72" name="椭圆 71">
                <a:extLst>
                  <a:ext uri="{FF2B5EF4-FFF2-40B4-BE49-F238E27FC236}">
                    <a16:creationId xmlns="" xmlns:a16="http://schemas.microsoft.com/office/drawing/2014/main" id="{BFBCAB49-6A8C-B2B3-35ED-D6BBBED5CF8B}"/>
                  </a:ext>
                </a:extLst>
              </p:cNvPr>
              <p:cNvSpPr/>
              <p:nvPr/>
            </p:nvSpPr>
            <p:spPr>
              <a:xfrm>
                <a:off x="1719371" y="1344751"/>
                <a:ext cx="1800198" cy="1800200"/>
              </a:xfrm>
              <a:prstGeom prst="ellipse">
                <a:avLst/>
              </a:prstGeom>
              <a:solidFill>
                <a:srgbClr val="004098"/>
              </a:solidFill>
              <a:ln>
                <a:noFill/>
              </a:ln>
              <a:effectLst>
                <a:innerShdw blurRad="101600" dist="50800" dir="18900000">
                  <a:prstClr val="black">
                    <a:alpha val="43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76">
                  <a:latin typeface="字体视界-NWE粗楷体" panose="02000500000000000000" pitchFamily="2" charset="-122"/>
                  <a:ea typeface="字体视界-NWE粗楷体" panose="02000500000000000000" pitchFamily="2" charset="-122"/>
                </a:endParaRPr>
              </a:p>
            </p:txBody>
          </p:sp>
        </p:grpSp>
        <p:sp>
          <p:nvSpPr>
            <p:cNvPr id="70" name="TextBox 80">
              <a:extLst>
                <a:ext uri="{FF2B5EF4-FFF2-40B4-BE49-F238E27FC236}">
                  <a16:creationId xmlns="" xmlns:a16="http://schemas.microsoft.com/office/drawing/2014/main" id="{7A547AF7-EE79-5DEF-44B1-CF755100FDCC}"/>
                </a:ext>
              </a:extLst>
            </p:cNvPr>
            <p:cNvSpPr txBox="1"/>
            <p:nvPr/>
          </p:nvSpPr>
          <p:spPr>
            <a:xfrm>
              <a:off x="4268207" y="2408917"/>
              <a:ext cx="2653566" cy="1923337"/>
            </a:xfrm>
            <a:prstGeom prst="rect">
              <a:avLst/>
            </a:prstGeom>
            <a:noFill/>
          </p:spPr>
          <p:txBody>
            <a:bodyPr wrap="square" rtlCol="0">
              <a:spAutoFit/>
            </a:bodyPr>
            <a:lstStyle/>
            <a:p>
              <a:r>
                <a:rPr lang="en-US" altLang="zh-CN" sz="776" dirty="0">
                  <a:solidFill>
                    <a:schemeClr val="bg1"/>
                  </a:solidFill>
                  <a:latin typeface="字体视界-NWE粗楷体" panose="02000500000000000000" pitchFamily="2" charset="-122"/>
                  <a:ea typeface="字体视界-NWE粗楷体" panose="02000500000000000000" pitchFamily="2" charset="-122"/>
                </a:rPr>
                <a:t>08</a:t>
              </a:r>
            </a:p>
          </p:txBody>
        </p:sp>
      </p:grpSp>
      <p:sp>
        <p:nvSpPr>
          <p:cNvPr id="73" name="原创设计师QQ598969553      _12">
            <a:extLst>
              <a:ext uri="{FF2B5EF4-FFF2-40B4-BE49-F238E27FC236}">
                <a16:creationId xmlns="" xmlns:a16="http://schemas.microsoft.com/office/drawing/2014/main" id="{760473EF-0D78-F124-1B4B-A4A3255E7476}"/>
              </a:ext>
            </a:extLst>
          </p:cNvPr>
          <p:cNvSpPr>
            <a:spLocks noChangeShapeType="1"/>
          </p:cNvSpPr>
          <p:nvPr/>
        </p:nvSpPr>
        <p:spPr bwMode="auto">
          <a:xfrm flipH="1" flipV="1">
            <a:off x="543649" y="130604"/>
            <a:ext cx="0" cy="307269"/>
          </a:xfrm>
          <a:prstGeom prst="line">
            <a:avLst/>
          </a:prstGeom>
          <a:noFill/>
          <a:ln w="19050">
            <a:solidFill>
              <a:srgbClr val="004098"/>
            </a:solidFill>
            <a:prstDash val="dash"/>
            <a:round/>
          </a:ln>
          <a:extLst>
            <a:ext uri="{909E8E84-426E-40DD-AFC4-6F175D3DCCD1}">
              <a14:hiddenFill xmlns:a14="http://schemas.microsoft.com/office/drawing/2010/main">
                <a:noFill/>
              </a14:hiddenFill>
            </a:ext>
          </a:extLst>
        </p:spPr>
        <p:txBody>
          <a:bodyPr/>
          <a:lstStyle/>
          <a:p>
            <a:endParaRPr lang="zh-CN" altLang="en-US" sz="776" dirty="0"/>
          </a:p>
        </p:txBody>
      </p:sp>
      <p:sp>
        <p:nvSpPr>
          <p:cNvPr id="74" name="矩形: 圆角 18">
            <a:extLst>
              <a:ext uri="{FF2B5EF4-FFF2-40B4-BE49-F238E27FC236}">
                <a16:creationId xmlns="" xmlns:a16="http://schemas.microsoft.com/office/drawing/2014/main" id="{7C923056-96D1-FDBC-A663-A1F8635BC91E}"/>
              </a:ext>
            </a:extLst>
          </p:cNvPr>
          <p:cNvSpPr/>
          <p:nvPr/>
        </p:nvSpPr>
        <p:spPr>
          <a:xfrm flipV="1">
            <a:off x="140988" y="434975"/>
            <a:ext cx="2164062" cy="31919"/>
          </a:xfrm>
          <a:prstGeom prst="roundRect">
            <a:avLst>
              <a:gd name="adj" fmla="val 50000"/>
            </a:avLst>
          </a:prstGeom>
          <a:solidFill>
            <a:srgbClr val="0040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90">
              <a:solidFill>
                <a:srgbClr val="004098"/>
              </a:solidFill>
              <a:latin typeface="字体视界-NWE粗楷体" panose="02000500000000000000" pitchFamily="2" charset="-122"/>
              <a:ea typeface="字体视界-NWE粗楷体" panose="02000500000000000000" pitchFamily="2" charset="-122"/>
            </a:endParaRPr>
          </a:p>
        </p:txBody>
      </p:sp>
      <p:sp>
        <p:nvSpPr>
          <p:cNvPr id="2" name="矩形 1">
            <a:extLst>
              <a:ext uri="{FF2B5EF4-FFF2-40B4-BE49-F238E27FC236}">
                <a16:creationId xmlns="" xmlns:a16="http://schemas.microsoft.com/office/drawing/2014/main" id="{1EDE14D7-EE2B-651E-40C5-43971B9FEF4E}"/>
              </a:ext>
            </a:extLst>
          </p:cNvPr>
          <p:cNvSpPr/>
          <p:nvPr/>
        </p:nvSpPr>
        <p:spPr>
          <a:xfrm>
            <a:off x="1498534" y="881778"/>
            <a:ext cx="2895600" cy="1384995"/>
          </a:xfrm>
          <a:prstGeom prst="rect">
            <a:avLst/>
          </a:prstGeom>
        </p:spPr>
        <p:txBody>
          <a:bodyPr wrap="square">
            <a:spAutoFit/>
          </a:bodyPr>
          <a:lstStyle/>
          <a:p>
            <a:r>
              <a:rPr lang="zh-CN" altLang="en-US" sz="1200" dirty="0"/>
              <a:t>威廉</a:t>
            </a:r>
            <a:r>
              <a:rPr lang="en-US" altLang="zh-CN" sz="1200" dirty="0"/>
              <a:t>·</a:t>
            </a:r>
            <a:r>
              <a:rPr lang="zh-CN" altLang="en-US" sz="1200" dirty="0"/>
              <a:t>戈塞（</a:t>
            </a:r>
            <a:r>
              <a:rPr lang="en-US" altLang="zh-CN" sz="1200" dirty="0"/>
              <a:t>William Sealy </a:t>
            </a:r>
            <a:r>
              <a:rPr lang="en-US" altLang="zh-CN" sz="1200" dirty="0" err="1"/>
              <a:t>Gosset</a:t>
            </a:r>
            <a:r>
              <a:rPr lang="zh-CN" altLang="en-US" sz="1200" dirty="0"/>
              <a:t>，</a:t>
            </a:r>
            <a:r>
              <a:rPr lang="en-US" altLang="zh-CN" sz="1200" dirty="0"/>
              <a:t>1876</a:t>
            </a:r>
            <a:r>
              <a:rPr lang="zh-CN" altLang="en-US" sz="1200" dirty="0"/>
              <a:t>年</a:t>
            </a:r>
            <a:r>
              <a:rPr lang="en-US" altLang="zh-CN" sz="1200" dirty="0"/>
              <a:t>6</a:t>
            </a:r>
            <a:r>
              <a:rPr lang="zh-CN" altLang="en-US" sz="1200" dirty="0"/>
              <a:t>月</a:t>
            </a:r>
            <a:r>
              <a:rPr lang="en-US" altLang="zh-CN" sz="1200" dirty="0"/>
              <a:t>13</a:t>
            </a:r>
            <a:r>
              <a:rPr lang="zh-CN" altLang="en-US" sz="1200" dirty="0"/>
              <a:t>日－</a:t>
            </a:r>
            <a:r>
              <a:rPr lang="en-US" altLang="zh-CN" sz="1200" dirty="0"/>
              <a:t>1937</a:t>
            </a:r>
            <a:r>
              <a:rPr lang="zh-CN" altLang="en-US" sz="1200" dirty="0"/>
              <a:t>年</a:t>
            </a:r>
            <a:r>
              <a:rPr lang="en-US" altLang="zh-CN" sz="1200" dirty="0"/>
              <a:t>10</a:t>
            </a:r>
            <a:r>
              <a:rPr lang="zh-CN" altLang="en-US" sz="1200" dirty="0"/>
              <a:t>月</a:t>
            </a:r>
            <a:r>
              <a:rPr lang="en-US" altLang="zh-CN" sz="1200" dirty="0"/>
              <a:t>16</a:t>
            </a:r>
            <a:r>
              <a:rPr lang="zh-CN" altLang="en-US" sz="1200" dirty="0"/>
              <a:t>日），全名威廉</a:t>
            </a:r>
            <a:r>
              <a:rPr lang="en-US" altLang="zh-CN" sz="1200" dirty="0"/>
              <a:t>·</a:t>
            </a:r>
            <a:r>
              <a:rPr lang="zh-CN" altLang="en-US" sz="1200" dirty="0"/>
              <a:t>希利</a:t>
            </a:r>
            <a:r>
              <a:rPr lang="en-US" altLang="zh-CN" sz="1200" dirty="0"/>
              <a:t>·</a:t>
            </a:r>
            <a:r>
              <a:rPr lang="zh-CN" altLang="en-US" sz="1200" dirty="0"/>
              <a:t>戈塞，英国化学家、数学家与统计学家。</a:t>
            </a:r>
            <a:endParaRPr lang="en-US" altLang="zh-CN" sz="1200" dirty="0"/>
          </a:p>
          <a:p>
            <a:endParaRPr lang="en-US" altLang="zh-CN" sz="1200" dirty="0"/>
          </a:p>
          <a:p>
            <a:r>
              <a:rPr lang="zh-CN" altLang="en-US" sz="1200" b="1" dirty="0">
                <a:solidFill>
                  <a:srgbClr val="004098"/>
                </a:solidFill>
              </a:rPr>
              <a:t>统计学</a:t>
            </a:r>
            <a:r>
              <a:rPr lang="en-US" altLang="zh-CN" sz="1200" b="1" dirty="0">
                <a:solidFill>
                  <a:srgbClr val="004098"/>
                </a:solidFill>
              </a:rPr>
              <a:t>t</a:t>
            </a:r>
            <a:r>
              <a:rPr lang="zh-CN" altLang="en-US" sz="1200" b="1" dirty="0">
                <a:solidFill>
                  <a:srgbClr val="004098"/>
                </a:solidFill>
              </a:rPr>
              <a:t>检验</a:t>
            </a:r>
            <a:r>
              <a:rPr lang="zh-CN" altLang="en-US" sz="1200" b="1" dirty="0"/>
              <a:t>，</a:t>
            </a:r>
            <a:r>
              <a:rPr lang="zh-CN" altLang="en-US" sz="1200" dirty="0"/>
              <a:t>之后它广泛运用于小样本平均数之间的差别测试 。</a:t>
            </a:r>
            <a:endParaRPr lang="en-US" altLang="zh-CN" sz="1200" dirty="0">
              <a:solidFill>
                <a:srgbClr val="121212"/>
              </a:solidFill>
              <a:latin typeface="-apple-system"/>
            </a:endParaRPr>
          </a:p>
        </p:txBody>
      </p:sp>
      <p:pic>
        <p:nvPicPr>
          <p:cNvPr id="3" name="Picture 2" descr="Image result for 威廉·戈塞">
            <a:extLst>
              <a:ext uri="{FF2B5EF4-FFF2-40B4-BE49-F238E27FC236}">
                <a16:creationId xmlns="" xmlns:a16="http://schemas.microsoft.com/office/drawing/2014/main" id="{A4D36CB1-8475-CF9D-B83C-C1D06FBFC1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462" y="881778"/>
            <a:ext cx="1260000" cy="1620793"/>
          </a:xfrm>
          <a:prstGeom prst="rect">
            <a:avLst/>
          </a:prstGeom>
          <a:noFill/>
          <a:extLst>
            <a:ext uri="{909E8E84-426E-40DD-AFC4-6F175D3DCCD1}">
              <a14:hiddenFill xmlns:a14="http://schemas.microsoft.com/office/drawing/2010/main">
                <a:solidFill>
                  <a:srgbClr val="FFFFFF"/>
                </a:solidFill>
              </a14:hiddenFill>
            </a:ext>
          </a:extLst>
        </p:spPr>
      </p:pic>
      <p:sp>
        <p:nvSpPr>
          <p:cNvPr id="4" name="矩形: 剪去对角 3">
            <a:extLst>
              <a:ext uri="{FF2B5EF4-FFF2-40B4-BE49-F238E27FC236}">
                <a16:creationId xmlns="" xmlns:a16="http://schemas.microsoft.com/office/drawing/2014/main" id="{BA6E6336-FB41-EFED-E4A5-5F34B8655771}"/>
              </a:ext>
            </a:extLst>
          </p:cNvPr>
          <p:cNvSpPr/>
          <p:nvPr/>
        </p:nvSpPr>
        <p:spPr>
          <a:xfrm flipH="1">
            <a:off x="4028926" y="3213260"/>
            <a:ext cx="581174" cy="247490"/>
          </a:xfrm>
          <a:prstGeom prst="snip2DiagRect">
            <a:avLst>
              <a:gd name="adj1" fmla="val 0"/>
              <a:gd name="adj2" fmla="val 50000"/>
            </a:avLst>
          </a:prstGeom>
          <a:solidFill>
            <a:srgbClr val="0040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5751"/>
            <a:endParaRPr lang="zh-CN" altLang="en-US" sz="681">
              <a:solidFill>
                <a:prstClr val="white"/>
              </a:solidFill>
              <a:latin typeface="等线"/>
              <a:ea typeface="等线" panose="02010600030101010101" pitchFamily="2" charset="-122"/>
            </a:endParaRPr>
          </a:p>
        </p:txBody>
      </p:sp>
      <p:sp>
        <p:nvSpPr>
          <p:cNvPr id="5" name="矩形: 剪去对角 4">
            <a:extLst>
              <a:ext uri="{FF2B5EF4-FFF2-40B4-BE49-F238E27FC236}">
                <a16:creationId xmlns="" xmlns:a16="http://schemas.microsoft.com/office/drawing/2014/main" id="{4152452B-AA13-741D-29A3-E4852B29D728}"/>
              </a:ext>
            </a:extLst>
          </p:cNvPr>
          <p:cNvSpPr/>
          <p:nvPr/>
        </p:nvSpPr>
        <p:spPr>
          <a:xfrm>
            <a:off x="0" y="3216860"/>
            <a:ext cx="607805" cy="247490"/>
          </a:xfrm>
          <a:prstGeom prst="snip2DiagRect">
            <a:avLst>
              <a:gd name="adj1" fmla="val 0"/>
              <a:gd name="adj2" fmla="val 50000"/>
            </a:avLst>
          </a:prstGeom>
          <a:solidFill>
            <a:srgbClr val="0040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5751"/>
            <a:endParaRPr lang="zh-CN" altLang="en-US" sz="681">
              <a:solidFill>
                <a:prstClr val="white"/>
              </a:solidFill>
              <a:latin typeface="等线"/>
              <a:ea typeface="等线" panose="02010600030101010101" pitchFamily="2" charset="-122"/>
            </a:endParaRPr>
          </a:p>
        </p:txBody>
      </p:sp>
      <p:sp>
        <p:nvSpPr>
          <p:cNvPr id="6" name="矩形 5">
            <a:extLst>
              <a:ext uri="{FF2B5EF4-FFF2-40B4-BE49-F238E27FC236}">
                <a16:creationId xmlns="" xmlns:a16="http://schemas.microsoft.com/office/drawing/2014/main" id="{D5F587EF-0E2D-4827-C220-C5B8FF524AB0}"/>
              </a:ext>
            </a:extLst>
          </p:cNvPr>
          <p:cNvSpPr/>
          <p:nvPr/>
        </p:nvSpPr>
        <p:spPr>
          <a:xfrm>
            <a:off x="230" y="3376471"/>
            <a:ext cx="4609871" cy="120744"/>
          </a:xfrm>
          <a:prstGeom prst="rect">
            <a:avLst/>
          </a:prstGeom>
          <a:solidFill>
            <a:srgbClr val="004098"/>
          </a:solidFill>
          <a:ln>
            <a:noFill/>
          </a:ln>
        </p:spPr>
        <p:style>
          <a:lnRef idx="2">
            <a:schemeClr val="dk1">
              <a:shade val="50000"/>
            </a:schemeClr>
          </a:lnRef>
          <a:fillRef idx="1">
            <a:schemeClr val="dk1"/>
          </a:fillRef>
          <a:effectRef idx="0">
            <a:schemeClr val="dk1"/>
          </a:effectRef>
          <a:fontRef idx="minor">
            <a:schemeClr val="lt1"/>
          </a:fontRef>
        </p:style>
        <p:txBody>
          <a:bodyPr anchor="ctr"/>
          <a:lstStyle/>
          <a:p>
            <a:pPr algn="ctr" defTabSz="345612">
              <a:defRPr/>
            </a:pPr>
            <a:endParaRPr lang="zh-CN" altLang="en-US" sz="680">
              <a:solidFill>
                <a:prstClr val="white"/>
              </a:solidFill>
              <a:latin typeface="Constantia"/>
              <a:ea typeface="宋体" panose="02010600030101010101" pitchFamily="2" charset="-122"/>
            </a:endParaRPr>
          </a:p>
        </p:txBody>
      </p:sp>
      <p:pic>
        <p:nvPicPr>
          <p:cNvPr id="7" name="图片 6" descr="图片1">
            <a:extLst>
              <a:ext uri="{FF2B5EF4-FFF2-40B4-BE49-F238E27FC236}">
                <a16:creationId xmlns="" xmlns:a16="http://schemas.microsoft.com/office/drawing/2014/main" id="{5C96D040-233C-E8E9-AD34-C4872D84AE61}"/>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32463" y="3390024"/>
            <a:ext cx="2523764" cy="84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图片 7" descr="图片1">
            <a:extLst>
              <a:ext uri="{FF2B5EF4-FFF2-40B4-BE49-F238E27FC236}">
                <a16:creationId xmlns="" xmlns:a16="http://schemas.microsoft.com/office/drawing/2014/main" id="{2233A615-6EB0-AF8A-1C5C-FC2E8FC0A3A8}"/>
              </a:ext>
            </a:extLst>
          </p:cNvPr>
          <p:cNvPicPr>
            <a:picLocks noChangeAspect="1"/>
          </p:cNvPicPr>
          <p:nvPr/>
        </p:nvPicPr>
        <p:blipFill>
          <a:blip r:embed="rId5" cstate="print">
            <a:extLst>
              <a:ext uri="{28A0092B-C50C-407E-A947-70E740481C1C}">
                <a14:useLocalDpi xmlns:a14="http://schemas.microsoft.com/office/drawing/2010/main" val="0"/>
              </a:ext>
            </a:extLst>
          </a:blip>
          <a:srcRect r="16708" b="7407"/>
          <a:stretch>
            <a:fillRect/>
          </a:stretch>
        </p:blipFill>
        <p:spPr bwMode="auto">
          <a:xfrm>
            <a:off x="2382909" y="3390856"/>
            <a:ext cx="2218800" cy="82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3508743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原创设计师QQ598969553      _2">
            <a:extLst>
              <a:ext uri="{FF2B5EF4-FFF2-40B4-BE49-F238E27FC236}">
                <a16:creationId xmlns="" xmlns:a16="http://schemas.microsoft.com/office/drawing/2014/main" id="{7C4725B1-D255-CC63-745B-0C08A542F8E6}"/>
              </a:ext>
            </a:extLst>
          </p:cNvPr>
          <p:cNvSpPr txBox="1"/>
          <p:nvPr/>
        </p:nvSpPr>
        <p:spPr>
          <a:xfrm>
            <a:off x="618435" y="185570"/>
            <a:ext cx="2267573" cy="204379"/>
          </a:xfrm>
          <a:prstGeom prst="rect">
            <a:avLst/>
          </a:prstGeom>
          <a:noFill/>
        </p:spPr>
        <p:txBody>
          <a:bodyPr wrap="square" lIns="34762" tIns="17381" rIns="34762" bIns="17381" rtlCol="0">
            <a:spAutoFit/>
          </a:bodyPr>
          <a:lstStyle/>
          <a:p>
            <a:r>
              <a:rPr lang="zh-CN" altLang="en-US" sz="1100" b="1" dirty="0">
                <a:latin typeface="微软雅黑" panose="020B0503020204020204" pitchFamily="34" charset="-122"/>
                <a:ea typeface="微软雅黑" panose="020B0503020204020204" pitchFamily="34" charset="-122"/>
              </a:rPr>
              <a:t>统计学习历史人物</a:t>
            </a:r>
          </a:p>
        </p:txBody>
      </p:sp>
      <p:grpSp>
        <p:nvGrpSpPr>
          <p:cNvPr id="68" name="原创设计师QQ598969553      _9">
            <a:extLst>
              <a:ext uri="{FF2B5EF4-FFF2-40B4-BE49-F238E27FC236}">
                <a16:creationId xmlns="" xmlns:a16="http://schemas.microsoft.com/office/drawing/2014/main" id="{EC33079E-1247-70DE-8763-3ACDD65E706D}"/>
              </a:ext>
            </a:extLst>
          </p:cNvPr>
          <p:cNvGrpSpPr/>
          <p:nvPr/>
        </p:nvGrpSpPr>
        <p:grpSpPr>
          <a:xfrm>
            <a:off x="188162" y="153558"/>
            <a:ext cx="304678" cy="243737"/>
            <a:chOff x="4268207" y="2118116"/>
            <a:chExt cx="2653566" cy="2214138"/>
          </a:xfrm>
        </p:grpSpPr>
        <p:grpSp>
          <p:nvGrpSpPr>
            <p:cNvPr id="69" name="组合 68">
              <a:extLst>
                <a:ext uri="{FF2B5EF4-FFF2-40B4-BE49-F238E27FC236}">
                  <a16:creationId xmlns="" xmlns:a16="http://schemas.microsoft.com/office/drawing/2014/main" id="{3866FBD5-A960-6794-8BA4-9DBBA9FC3AA3}"/>
                </a:ext>
              </a:extLst>
            </p:cNvPr>
            <p:cNvGrpSpPr/>
            <p:nvPr/>
          </p:nvGrpSpPr>
          <p:grpSpPr>
            <a:xfrm>
              <a:off x="4508674" y="2118116"/>
              <a:ext cx="2204282" cy="2204282"/>
              <a:chOff x="1517331" y="1125257"/>
              <a:chExt cx="2204282" cy="2204282"/>
            </a:xfrm>
          </p:grpSpPr>
          <p:sp>
            <p:nvSpPr>
              <p:cNvPr id="71" name="椭圆 70">
                <a:extLst>
                  <a:ext uri="{FF2B5EF4-FFF2-40B4-BE49-F238E27FC236}">
                    <a16:creationId xmlns="" xmlns:a16="http://schemas.microsoft.com/office/drawing/2014/main" id="{68A1054A-58A0-C11B-68D9-FA23D2B35325}"/>
                  </a:ext>
                </a:extLst>
              </p:cNvPr>
              <p:cNvSpPr/>
              <p:nvPr/>
            </p:nvSpPr>
            <p:spPr>
              <a:xfrm>
                <a:off x="1517331" y="1125257"/>
                <a:ext cx="2204282" cy="2204282"/>
              </a:xfrm>
              <a:prstGeom prst="ellipse">
                <a:avLst/>
              </a:prstGeom>
              <a:gradFill>
                <a:gsLst>
                  <a:gs pos="0">
                    <a:srgbClr val="EBEBEB"/>
                  </a:gs>
                  <a:gs pos="100000">
                    <a:srgbClr val="FEFEFE"/>
                  </a:gs>
                </a:gsLst>
                <a:lin ang="7530000" scaled="0"/>
              </a:gradFill>
              <a:ln w="12700">
                <a:solidFill>
                  <a:schemeClr val="bg1"/>
                </a:solidFill>
              </a:ln>
              <a:effectLst>
                <a:outerShdw blurRad="457200" dist="444500" dir="7800000" sx="89000" sy="89000" algn="tr" rotWithShape="0">
                  <a:prstClr val="black">
                    <a:alpha val="3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76">
                  <a:latin typeface="字体视界-NWE粗楷体" panose="02000500000000000000" pitchFamily="2" charset="-122"/>
                  <a:ea typeface="字体视界-NWE粗楷体" panose="02000500000000000000" pitchFamily="2" charset="-122"/>
                </a:endParaRPr>
              </a:p>
            </p:txBody>
          </p:sp>
          <p:sp>
            <p:nvSpPr>
              <p:cNvPr id="72" name="椭圆 71">
                <a:extLst>
                  <a:ext uri="{FF2B5EF4-FFF2-40B4-BE49-F238E27FC236}">
                    <a16:creationId xmlns="" xmlns:a16="http://schemas.microsoft.com/office/drawing/2014/main" id="{BFBCAB49-6A8C-B2B3-35ED-D6BBBED5CF8B}"/>
                  </a:ext>
                </a:extLst>
              </p:cNvPr>
              <p:cNvSpPr/>
              <p:nvPr/>
            </p:nvSpPr>
            <p:spPr>
              <a:xfrm>
                <a:off x="1719371" y="1344751"/>
                <a:ext cx="1800198" cy="1800200"/>
              </a:xfrm>
              <a:prstGeom prst="ellipse">
                <a:avLst/>
              </a:prstGeom>
              <a:solidFill>
                <a:srgbClr val="004098"/>
              </a:solidFill>
              <a:ln>
                <a:noFill/>
              </a:ln>
              <a:effectLst>
                <a:innerShdw blurRad="101600" dist="50800" dir="18900000">
                  <a:prstClr val="black">
                    <a:alpha val="43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76">
                  <a:latin typeface="字体视界-NWE粗楷体" panose="02000500000000000000" pitchFamily="2" charset="-122"/>
                  <a:ea typeface="字体视界-NWE粗楷体" panose="02000500000000000000" pitchFamily="2" charset="-122"/>
                </a:endParaRPr>
              </a:p>
            </p:txBody>
          </p:sp>
        </p:grpSp>
        <p:sp>
          <p:nvSpPr>
            <p:cNvPr id="70" name="TextBox 80">
              <a:extLst>
                <a:ext uri="{FF2B5EF4-FFF2-40B4-BE49-F238E27FC236}">
                  <a16:creationId xmlns="" xmlns:a16="http://schemas.microsoft.com/office/drawing/2014/main" id="{7A547AF7-EE79-5DEF-44B1-CF755100FDCC}"/>
                </a:ext>
              </a:extLst>
            </p:cNvPr>
            <p:cNvSpPr txBox="1"/>
            <p:nvPr/>
          </p:nvSpPr>
          <p:spPr>
            <a:xfrm>
              <a:off x="4268207" y="2408917"/>
              <a:ext cx="2653566" cy="1923337"/>
            </a:xfrm>
            <a:prstGeom prst="rect">
              <a:avLst/>
            </a:prstGeom>
            <a:noFill/>
          </p:spPr>
          <p:txBody>
            <a:bodyPr wrap="square" rtlCol="0">
              <a:spAutoFit/>
            </a:bodyPr>
            <a:lstStyle/>
            <a:p>
              <a:r>
                <a:rPr lang="en-US" altLang="zh-CN" sz="776" dirty="0">
                  <a:solidFill>
                    <a:schemeClr val="bg1"/>
                  </a:solidFill>
                  <a:latin typeface="字体视界-NWE粗楷体" panose="02000500000000000000" pitchFamily="2" charset="-122"/>
                  <a:ea typeface="字体视界-NWE粗楷体" panose="02000500000000000000" pitchFamily="2" charset="-122"/>
                </a:rPr>
                <a:t>08</a:t>
              </a:r>
            </a:p>
          </p:txBody>
        </p:sp>
      </p:grpSp>
      <p:sp>
        <p:nvSpPr>
          <p:cNvPr id="73" name="原创设计师QQ598969553      _12">
            <a:extLst>
              <a:ext uri="{FF2B5EF4-FFF2-40B4-BE49-F238E27FC236}">
                <a16:creationId xmlns="" xmlns:a16="http://schemas.microsoft.com/office/drawing/2014/main" id="{760473EF-0D78-F124-1B4B-A4A3255E7476}"/>
              </a:ext>
            </a:extLst>
          </p:cNvPr>
          <p:cNvSpPr>
            <a:spLocks noChangeShapeType="1"/>
          </p:cNvSpPr>
          <p:nvPr/>
        </p:nvSpPr>
        <p:spPr bwMode="auto">
          <a:xfrm flipH="1" flipV="1">
            <a:off x="543649" y="130604"/>
            <a:ext cx="0" cy="307269"/>
          </a:xfrm>
          <a:prstGeom prst="line">
            <a:avLst/>
          </a:prstGeom>
          <a:noFill/>
          <a:ln w="19050">
            <a:solidFill>
              <a:srgbClr val="004098"/>
            </a:solidFill>
            <a:prstDash val="dash"/>
            <a:round/>
          </a:ln>
          <a:extLst>
            <a:ext uri="{909E8E84-426E-40DD-AFC4-6F175D3DCCD1}">
              <a14:hiddenFill xmlns:a14="http://schemas.microsoft.com/office/drawing/2010/main">
                <a:noFill/>
              </a14:hiddenFill>
            </a:ext>
          </a:extLst>
        </p:spPr>
        <p:txBody>
          <a:bodyPr/>
          <a:lstStyle/>
          <a:p>
            <a:endParaRPr lang="zh-CN" altLang="en-US" sz="776" dirty="0"/>
          </a:p>
        </p:txBody>
      </p:sp>
      <p:sp>
        <p:nvSpPr>
          <p:cNvPr id="74" name="矩形: 圆角 18">
            <a:extLst>
              <a:ext uri="{FF2B5EF4-FFF2-40B4-BE49-F238E27FC236}">
                <a16:creationId xmlns="" xmlns:a16="http://schemas.microsoft.com/office/drawing/2014/main" id="{7C923056-96D1-FDBC-A663-A1F8635BC91E}"/>
              </a:ext>
            </a:extLst>
          </p:cNvPr>
          <p:cNvSpPr/>
          <p:nvPr/>
        </p:nvSpPr>
        <p:spPr>
          <a:xfrm flipV="1">
            <a:off x="140988" y="434975"/>
            <a:ext cx="2164062" cy="31919"/>
          </a:xfrm>
          <a:prstGeom prst="roundRect">
            <a:avLst>
              <a:gd name="adj" fmla="val 50000"/>
            </a:avLst>
          </a:prstGeom>
          <a:solidFill>
            <a:srgbClr val="0040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90">
              <a:solidFill>
                <a:srgbClr val="004098"/>
              </a:solidFill>
              <a:latin typeface="字体视界-NWE粗楷体" panose="02000500000000000000" pitchFamily="2" charset="-122"/>
              <a:ea typeface="字体视界-NWE粗楷体" panose="02000500000000000000" pitchFamily="2" charset="-122"/>
            </a:endParaRPr>
          </a:p>
        </p:txBody>
      </p:sp>
      <p:sp>
        <p:nvSpPr>
          <p:cNvPr id="2" name="矩形 1">
            <a:extLst>
              <a:ext uri="{FF2B5EF4-FFF2-40B4-BE49-F238E27FC236}">
                <a16:creationId xmlns="" xmlns:a16="http://schemas.microsoft.com/office/drawing/2014/main" id="{F84A5E60-6BB3-622C-CDBB-27B0CDBD9FA6}"/>
              </a:ext>
            </a:extLst>
          </p:cNvPr>
          <p:cNvSpPr/>
          <p:nvPr/>
        </p:nvSpPr>
        <p:spPr>
          <a:xfrm>
            <a:off x="1573512" y="771265"/>
            <a:ext cx="2895600" cy="1938992"/>
          </a:xfrm>
          <a:prstGeom prst="rect">
            <a:avLst/>
          </a:prstGeom>
        </p:spPr>
        <p:txBody>
          <a:bodyPr wrap="square">
            <a:spAutoFit/>
          </a:bodyPr>
          <a:lstStyle/>
          <a:p>
            <a:r>
              <a:rPr lang="zh-CN" altLang="en-US" sz="1200" b="1" dirty="0"/>
              <a:t>罗纳德</a:t>
            </a:r>
            <a:r>
              <a:rPr lang="en-US" altLang="zh-CN" sz="1200" b="1" dirty="0"/>
              <a:t>·</a:t>
            </a:r>
            <a:r>
              <a:rPr lang="zh-CN" altLang="en-US" sz="1200" b="1" dirty="0"/>
              <a:t>费雪</a:t>
            </a:r>
            <a:r>
              <a:rPr lang="zh-CN" altLang="en-US" sz="1200" dirty="0"/>
              <a:t>（</a:t>
            </a:r>
            <a:r>
              <a:rPr lang="en-US" altLang="zh-CN" sz="1200" dirty="0"/>
              <a:t>Sir Ronald Aylmer Fisher, FRS</a:t>
            </a:r>
            <a:r>
              <a:rPr lang="zh-CN" altLang="en-US" sz="1200" dirty="0"/>
              <a:t>，</a:t>
            </a:r>
            <a:r>
              <a:rPr lang="en-US" altLang="zh-CN" sz="1200" dirty="0"/>
              <a:t>1890.2.17</a:t>
            </a:r>
            <a:r>
              <a:rPr lang="zh-CN" altLang="en-US" sz="1200" dirty="0"/>
              <a:t>－</a:t>
            </a:r>
            <a:r>
              <a:rPr lang="en-US" altLang="zh-CN" sz="1200" dirty="0"/>
              <a:t>1962.7.29</a:t>
            </a:r>
            <a:r>
              <a:rPr lang="zh-CN" altLang="en-US" sz="1200" dirty="0"/>
              <a:t>）</a:t>
            </a:r>
            <a:endParaRPr lang="en-US" altLang="zh-CN" sz="1200" dirty="0"/>
          </a:p>
          <a:p>
            <a:r>
              <a:rPr lang="zh-CN" altLang="en-US" sz="1200" dirty="0"/>
              <a:t>现代统计学与现代演化论的奠基者之一</a:t>
            </a:r>
            <a:endParaRPr lang="en-US" altLang="zh-CN" sz="1200" dirty="0"/>
          </a:p>
          <a:p>
            <a:endParaRPr lang="en-US" altLang="zh-CN" sz="1200" dirty="0"/>
          </a:p>
          <a:p>
            <a:endParaRPr lang="en-US" altLang="zh-CN" sz="1200" dirty="0"/>
          </a:p>
          <a:p>
            <a:r>
              <a:rPr lang="en-US" altLang="zh-CN" sz="1200" b="1" dirty="0">
                <a:solidFill>
                  <a:srgbClr val="004098"/>
                </a:solidFill>
              </a:rPr>
              <a:t>(1) </a:t>
            </a:r>
            <a:r>
              <a:rPr lang="zh-CN" altLang="en-US" sz="1200" b="1" dirty="0">
                <a:solidFill>
                  <a:srgbClr val="004098"/>
                </a:solidFill>
              </a:rPr>
              <a:t>方差分析</a:t>
            </a:r>
            <a:r>
              <a:rPr lang="en-US" altLang="zh-CN" sz="1200" dirty="0"/>
              <a:t>(Analysis of Variance</a:t>
            </a:r>
            <a:r>
              <a:rPr lang="zh-CN" altLang="en-US" sz="1200" dirty="0"/>
              <a:t>，简称</a:t>
            </a:r>
            <a:r>
              <a:rPr lang="en-US" altLang="zh-CN" sz="1200" dirty="0"/>
              <a:t>ANOVA)</a:t>
            </a:r>
            <a:r>
              <a:rPr lang="zh-CN" altLang="en-US" sz="1200" b="1" dirty="0"/>
              <a:t>，</a:t>
            </a:r>
            <a:r>
              <a:rPr lang="zh-CN" altLang="en-US" sz="1200" dirty="0"/>
              <a:t>又称“变异数分析”用于两个及两个以上样本均数差别的显著性检验。 </a:t>
            </a:r>
            <a:endParaRPr lang="en-US" altLang="zh-CN" sz="1200" dirty="0"/>
          </a:p>
          <a:p>
            <a:r>
              <a:rPr lang="en-US" altLang="zh-CN" sz="1200" b="1" dirty="0">
                <a:solidFill>
                  <a:srgbClr val="004098"/>
                </a:solidFill>
              </a:rPr>
              <a:t>(2) Fisher</a:t>
            </a:r>
            <a:r>
              <a:rPr lang="zh-CN" altLang="en-US" sz="1200" b="1" dirty="0">
                <a:solidFill>
                  <a:srgbClr val="004098"/>
                </a:solidFill>
              </a:rPr>
              <a:t>精确检验</a:t>
            </a:r>
            <a:r>
              <a:rPr lang="zh-CN" altLang="en-US" sz="1200" dirty="0"/>
              <a:t>（</a:t>
            </a:r>
            <a:r>
              <a:rPr lang="en-US" altLang="zh-CN" sz="1200" dirty="0"/>
              <a:t>Fisher's exact test</a:t>
            </a:r>
            <a:r>
              <a:rPr lang="zh-CN" altLang="en-US" sz="1200" dirty="0"/>
              <a:t>），它用于检验两个分类的关联。</a:t>
            </a:r>
            <a:endParaRPr lang="en-US" altLang="zh-CN" sz="1200" dirty="0">
              <a:solidFill>
                <a:srgbClr val="121212"/>
              </a:solidFill>
              <a:latin typeface="-apple-system"/>
            </a:endParaRPr>
          </a:p>
        </p:txBody>
      </p:sp>
      <p:pic>
        <p:nvPicPr>
          <p:cNvPr id="3" name="Picture 6" descr="Image result for Ronald Aylmer Fishe">
            <a:extLst>
              <a:ext uri="{FF2B5EF4-FFF2-40B4-BE49-F238E27FC236}">
                <a16:creationId xmlns="" xmlns:a16="http://schemas.microsoft.com/office/drawing/2014/main" id="{C1501514-BBAB-3309-FE8F-8C9D047A03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7220" y="774440"/>
            <a:ext cx="1260000" cy="1537533"/>
          </a:xfrm>
          <a:prstGeom prst="rect">
            <a:avLst/>
          </a:prstGeom>
          <a:noFill/>
          <a:extLst>
            <a:ext uri="{909E8E84-426E-40DD-AFC4-6F175D3DCCD1}">
              <a14:hiddenFill xmlns:a14="http://schemas.microsoft.com/office/drawing/2010/main">
                <a:solidFill>
                  <a:srgbClr val="FFFFFF"/>
                </a:solidFill>
              </a14:hiddenFill>
            </a:ext>
          </a:extLst>
        </p:spPr>
      </p:pic>
      <p:sp>
        <p:nvSpPr>
          <p:cNvPr id="4" name="矩形: 剪去对角 3">
            <a:extLst>
              <a:ext uri="{FF2B5EF4-FFF2-40B4-BE49-F238E27FC236}">
                <a16:creationId xmlns="" xmlns:a16="http://schemas.microsoft.com/office/drawing/2014/main" id="{0EDCF6DE-053D-C04F-2204-60F0D12A86D5}"/>
              </a:ext>
            </a:extLst>
          </p:cNvPr>
          <p:cNvSpPr/>
          <p:nvPr/>
        </p:nvSpPr>
        <p:spPr>
          <a:xfrm flipH="1">
            <a:off x="4028926" y="3213260"/>
            <a:ext cx="581174" cy="247490"/>
          </a:xfrm>
          <a:prstGeom prst="snip2DiagRect">
            <a:avLst>
              <a:gd name="adj1" fmla="val 0"/>
              <a:gd name="adj2" fmla="val 50000"/>
            </a:avLst>
          </a:prstGeom>
          <a:solidFill>
            <a:srgbClr val="0040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5751"/>
            <a:endParaRPr lang="zh-CN" altLang="en-US" sz="681">
              <a:solidFill>
                <a:prstClr val="white"/>
              </a:solidFill>
              <a:latin typeface="等线"/>
              <a:ea typeface="等线" panose="02010600030101010101" pitchFamily="2" charset="-122"/>
            </a:endParaRPr>
          </a:p>
        </p:txBody>
      </p:sp>
      <p:sp>
        <p:nvSpPr>
          <p:cNvPr id="5" name="矩形: 剪去对角 4">
            <a:extLst>
              <a:ext uri="{FF2B5EF4-FFF2-40B4-BE49-F238E27FC236}">
                <a16:creationId xmlns="" xmlns:a16="http://schemas.microsoft.com/office/drawing/2014/main" id="{4E7EF54F-BDCD-CD18-85F9-C8422954E64D}"/>
              </a:ext>
            </a:extLst>
          </p:cNvPr>
          <p:cNvSpPr/>
          <p:nvPr/>
        </p:nvSpPr>
        <p:spPr>
          <a:xfrm>
            <a:off x="0" y="3216860"/>
            <a:ext cx="607805" cy="247490"/>
          </a:xfrm>
          <a:prstGeom prst="snip2DiagRect">
            <a:avLst>
              <a:gd name="adj1" fmla="val 0"/>
              <a:gd name="adj2" fmla="val 50000"/>
            </a:avLst>
          </a:prstGeom>
          <a:solidFill>
            <a:srgbClr val="0040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5751"/>
            <a:endParaRPr lang="zh-CN" altLang="en-US" sz="681">
              <a:solidFill>
                <a:prstClr val="white"/>
              </a:solidFill>
              <a:latin typeface="等线"/>
              <a:ea typeface="等线" panose="02010600030101010101" pitchFamily="2" charset="-122"/>
            </a:endParaRPr>
          </a:p>
        </p:txBody>
      </p:sp>
      <p:sp>
        <p:nvSpPr>
          <p:cNvPr id="6" name="矩形 5">
            <a:extLst>
              <a:ext uri="{FF2B5EF4-FFF2-40B4-BE49-F238E27FC236}">
                <a16:creationId xmlns="" xmlns:a16="http://schemas.microsoft.com/office/drawing/2014/main" id="{C60B2CAE-81F1-262A-A61C-CFB387C97EA1}"/>
              </a:ext>
            </a:extLst>
          </p:cNvPr>
          <p:cNvSpPr/>
          <p:nvPr/>
        </p:nvSpPr>
        <p:spPr>
          <a:xfrm>
            <a:off x="230" y="3376471"/>
            <a:ext cx="4609871" cy="120744"/>
          </a:xfrm>
          <a:prstGeom prst="rect">
            <a:avLst/>
          </a:prstGeom>
          <a:solidFill>
            <a:srgbClr val="004098"/>
          </a:solidFill>
          <a:ln>
            <a:noFill/>
          </a:ln>
        </p:spPr>
        <p:style>
          <a:lnRef idx="2">
            <a:schemeClr val="dk1">
              <a:shade val="50000"/>
            </a:schemeClr>
          </a:lnRef>
          <a:fillRef idx="1">
            <a:schemeClr val="dk1"/>
          </a:fillRef>
          <a:effectRef idx="0">
            <a:schemeClr val="dk1"/>
          </a:effectRef>
          <a:fontRef idx="minor">
            <a:schemeClr val="lt1"/>
          </a:fontRef>
        </p:style>
        <p:txBody>
          <a:bodyPr anchor="ctr"/>
          <a:lstStyle/>
          <a:p>
            <a:pPr algn="ctr" defTabSz="345612">
              <a:defRPr/>
            </a:pPr>
            <a:endParaRPr lang="zh-CN" altLang="en-US" sz="680">
              <a:solidFill>
                <a:prstClr val="white"/>
              </a:solidFill>
              <a:latin typeface="Constantia"/>
              <a:ea typeface="宋体" panose="02010600030101010101" pitchFamily="2" charset="-122"/>
            </a:endParaRPr>
          </a:p>
        </p:txBody>
      </p:sp>
      <p:pic>
        <p:nvPicPr>
          <p:cNvPr id="7" name="图片 6" descr="图片1">
            <a:extLst>
              <a:ext uri="{FF2B5EF4-FFF2-40B4-BE49-F238E27FC236}">
                <a16:creationId xmlns="" xmlns:a16="http://schemas.microsoft.com/office/drawing/2014/main" id="{00176C90-35BE-F277-D7C7-6410B98C7275}"/>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32463" y="3390024"/>
            <a:ext cx="2523764" cy="84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图片 7" descr="图片1">
            <a:extLst>
              <a:ext uri="{FF2B5EF4-FFF2-40B4-BE49-F238E27FC236}">
                <a16:creationId xmlns="" xmlns:a16="http://schemas.microsoft.com/office/drawing/2014/main" id="{0884ABFB-1979-3C1C-D0B6-E34928932D41}"/>
              </a:ext>
            </a:extLst>
          </p:cNvPr>
          <p:cNvPicPr>
            <a:picLocks noChangeAspect="1"/>
          </p:cNvPicPr>
          <p:nvPr/>
        </p:nvPicPr>
        <p:blipFill>
          <a:blip r:embed="rId5" cstate="print">
            <a:extLst>
              <a:ext uri="{28A0092B-C50C-407E-A947-70E740481C1C}">
                <a14:useLocalDpi xmlns:a14="http://schemas.microsoft.com/office/drawing/2010/main" val="0"/>
              </a:ext>
            </a:extLst>
          </a:blip>
          <a:srcRect r="16708" b="7407"/>
          <a:stretch>
            <a:fillRect/>
          </a:stretch>
        </p:blipFill>
        <p:spPr bwMode="auto">
          <a:xfrm>
            <a:off x="2382909" y="3390856"/>
            <a:ext cx="2218800" cy="82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7586321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原创设计师QQ598969553      _2">
            <a:extLst>
              <a:ext uri="{FF2B5EF4-FFF2-40B4-BE49-F238E27FC236}">
                <a16:creationId xmlns="" xmlns:a16="http://schemas.microsoft.com/office/drawing/2014/main" id="{7C4725B1-D255-CC63-745B-0C08A542F8E6}"/>
              </a:ext>
            </a:extLst>
          </p:cNvPr>
          <p:cNvSpPr txBox="1"/>
          <p:nvPr/>
        </p:nvSpPr>
        <p:spPr>
          <a:xfrm>
            <a:off x="618435" y="185570"/>
            <a:ext cx="2267573" cy="204379"/>
          </a:xfrm>
          <a:prstGeom prst="rect">
            <a:avLst/>
          </a:prstGeom>
          <a:noFill/>
        </p:spPr>
        <p:txBody>
          <a:bodyPr wrap="square" lIns="34762" tIns="17381" rIns="34762" bIns="17381" rtlCol="0">
            <a:spAutoFit/>
          </a:bodyPr>
          <a:lstStyle/>
          <a:p>
            <a:r>
              <a:rPr lang="zh-CN" altLang="en-US" sz="1100" b="1" dirty="0">
                <a:latin typeface="微软雅黑" panose="020B0503020204020204" pitchFamily="34" charset="-122"/>
                <a:ea typeface="微软雅黑" panose="020B0503020204020204" pitchFamily="34" charset="-122"/>
              </a:rPr>
              <a:t>统计学习历史人物</a:t>
            </a:r>
          </a:p>
        </p:txBody>
      </p:sp>
      <p:grpSp>
        <p:nvGrpSpPr>
          <p:cNvPr id="68" name="原创设计师QQ598969553      _9">
            <a:extLst>
              <a:ext uri="{FF2B5EF4-FFF2-40B4-BE49-F238E27FC236}">
                <a16:creationId xmlns="" xmlns:a16="http://schemas.microsoft.com/office/drawing/2014/main" id="{EC33079E-1247-70DE-8763-3ACDD65E706D}"/>
              </a:ext>
            </a:extLst>
          </p:cNvPr>
          <p:cNvGrpSpPr/>
          <p:nvPr/>
        </p:nvGrpSpPr>
        <p:grpSpPr>
          <a:xfrm>
            <a:off x="188162" y="153558"/>
            <a:ext cx="304678" cy="243737"/>
            <a:chOff x="4268207" y="2118116"/>
            <a:chExt cx="2653566" cy="2214138"/>
          </a:xfrm>
        </p:grpSpPr>
        <p:grpSp>
          <p:nvGrpSpPr>
            <p:cNvPr id="69" name="组合 68">
              <a:extLst>
                <a:ext uri="{FF2B5EF4-FFF2-40B4-BE49-F238E27FC236}">
                  <a16:creationId xmlns="" xmlns:a16="http://schemas.microsoft.com/office/drawing/2014/main" id="{3866FBD5-A960-6794-8BA4-9DBBA9FC3AA3}"/>
                </a:ext>
              </a:extLst>
            </p:cNvPr>
            <p:cNvGrpSpPr/>
            <p:nvPr/>
          </p:nvGrpSpPr>
          <p:grpSpPr>
            <a:xfrm>
              <a:off x="4508674" y="2118116"/>
              <a:ext cx="2204282" cy="2204282"/>
              <a:chOff x="1517331" y="1125257"/>
              <a:chExt cx="2204282" cy="2204282"/>
            </a:xfrm>
          </p:grpSpPr>
          <p:sp>
            <p:nvSpPr>
              <p:cNvPr id="71" name="椭圆 70">
                <a:extLst>
                  <a:ext uri="{FF2B5EF4-FFF2-40B4-BE49-F238E27FC236}">
                    <a16:creationId xmlns="" xmlns:a16="http://schemas.microsoft.com/office/drawing/2014/main" id="{68A1054A-58A0-C11B-68D9-FA23D2B35325}"/>
                  </a:ext>
                </a:extLst>
              </p:cNvPr>
              <p:cNvSpPr/>
              <p:nvPr/>
            </p:nvSpPr>
            <p:spPr>
              <a:xfrm>
                <a:off x="1517331" y="1125257"/>
                <a:ext cx="2204282" cy="2204282"/>
              </a:xfrm>
              <a:prstGeom prst="ellipse">
                <a:avLst/>
              </a:prstGeom>
              <a:gradFill>
                <a:gsLst>
                  <a:gs pos="0">
                    <a:srgbClr val="EBEBEB"/>
                  </a:gs>
                  <a:gs pos="100000">
                    <a:srgbClr val="FEFEFE"/>
                  </a:gs>
                </a:gsLst>
                <a:lin ang="7530000" scaled="0"/>
              </a:gradFill>
              <a:ln w="12700">
                <a:solidFill>
                  <a:schemeClr val="bg1"/>
                </a:solidFill>
              </a:ln>
              <a:effectLst>
                <a:outerShdw blurRad="457200" dist="444500" dir="7800000" sx="89000" sy="89000" algn="tr" rotWithShape="0">
                  <a:prstClr val="black">
                    <a:alpha val="3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76">
                  <a:latin typeface="字体视界-NWE粗楷体" panose="02000500000000000000" pitchFamily="2" charset="-122"/>
                  <a:ea typeface="字体视界-NWE粗楷体" panose="02000500000000000000" pitchFamily="2" charset="-122"/>
                </a:endParaRPr>
              </a:p>
            </p:txBody>
          </p:sp>
          <p:sp>
            <p:nvSpPr>
              <p:cNvPr id="72" name="椭圆 71">
                <a:extLst>
                  <a:ext uri="{FF2B5EF4-FFF2-40B4-BE49-F238E27FC236}">
                    <a16:creationId xmlns="" xmlns:a16="http://schemas.microsoft.com/office/drawing/2014/main" id="{BFBCAB49-6A8C-B2B3-35ED-D6BBBED5CF8B}"/>
                  </a:ext>
                </a:extLst>
              </p:cNvPr>
              <p:cNvSpPr/>
              <p:nvPr/>
            </p:nvSpPr>
            <p:spPr>
              <a:xfrm>
                <a:off x="1719371" y="1344751"/>
                <a:ext cx="1800198" cy="1800200"/>
              </a:xfrm>
              <a:prstGeom prst="ellipse">
                <a:avLst/>
              </a:prstGeom>
              <a:solidFill>
                <a:srgbClr val="004098"/>
              </a:solidFill>
              <a:ln>
                <a:noFill/>
              </a:ln>
              <a:effectLst>
                <a:innerShdw blurRad="101600" dist="50800" dir="18900000">
                  <a:prstClr val="black">
                    <a:alpha val="43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76">
                  <a:latin typeface="字体视界-NWE粗楷体" panose="02000500000000000000" pitchFamily="2" charset="-122"/>
                  <a:ea typeface="字体视界-NWE粗楷体" panose="02000500000000000000" pitchFamily="2" charset="-122"/>
                </a:endParaRPr>
              </a:p>
            </p:txBody>
          </p:sp>
        </p:grpSp>
        <p:sp>
          <p:nvSpPr>
            <p:cNvPr id="70" name="TextBox 80">
              <a:extLst>
                <a:ext uri="{FF2B5EF4-FFF2-40B4-BE49-F238E27FC236}">
                  <a16:creationId xmlns="" xmlns:a16="http://schemas.microsoft.com/office/drawing/2014/main" id="{7A547AF7-EE79-5DEF-44B1-CF755100FDCC}"/>
                </a:ext>
              </a:extLst>
            </p:cNvPr>
            <p:cNvSpPr txBox="1"/>
            <p:nvPr/>
          </p:nvSpPr>
          <p:spPr>
            <a:xfrm>
              <a:off x="4268207" y="2408917"/>
              <a:ext cx="2653566" cy="1923337"/>
            </a:xfrm>
            <a:prstGeom prst="rect">
              <a:avLst/>
            </a:prstGeom>
            <a:noFill/>
          </p:spPr>
          <p:txBody>
            <a:bodyPr wrap="square" rtlCol="0">
              <a:spAutoFit/>
            </a:bodyPr>
            <a:lstStyle/>
            <a:p>
              <a:r>
                <a:rPr lang="en-US" altLang="zh-CN" sz="776" dirty="0">
                  <a:solidFill>
                    <a:schemeClr val="bg1"/>
                  </a:solidFill>
                  <a:latin typeface="字体视界-NWE粗楷体" panose="02000500000000000000" pitchFamily="2" charset="-122"/>
                  <a:ea typeface="字体视界-NWE粗楷体" panose="02000500000000000000" pitchFamily="2" charset="-122"/>
                </a:rPr>
                <a:t>08</a:t>
              </a:r>
            </a:p>
          </p:txBody>
        </p:sp>
      </p:grpSp>
      <p:sp>
        <p:nvSpPr>
          <p:cNvPr id="73" name="原创设计师QQ598969553      _12">
            <a:extLst>
              <a:ext uri="{FF2B5EF4-FFF2-40B4-BE49-F238E27FC236}">
                <a16:creationId xmlns="" xmlns:a16="http://schemas.microsoft.com/office/drawing/2014/main" id="{760473EF-0D78-F124-1B4B-A4A3255E7476}"/>
              </a:ext>
            </a:extLst>
          </p:cNvPr>
          <p:cNvSpPr>
            <a:spLocks noChangeShapeType="1"/>
          </p:cNvSpPr>
          <p:nvPr/>
        </p:nvSpPr>
        <p:spPr bwMode="auto">
          <a:xfrm flipH="1" flipV="1">
            <a:off x="543649" y="130604"/>
            <a:ext cx="0" cy="307269"/>
          </a:xfrm>
          <a:prstGeom prst="line">
            <a:avLst/>
          </a:prstGeom>
          <a:noFill/>
          <a:ln w="19050">
            <a:solidFill>
              <a:srgbClr val="004098"/>
            </a:solidFill>
            <a:prstDash val="dash"/>
            <a:round/>
          </a:ln>
          <a:extLst>
            <a:ext uri="{909E8E84-426E-40DD-AFC4-6F175D3DCCD1}">
              <a14:hiddenFill xmlns:a14="http://schemas.microsoft.com/office/drawing/2010/main">
                <a:noFill/>
              </a14:hiddenFill>
            </a:ext>
          </a:extLst>
        </p:spPr>
        <p:txBody>
          <a:bodyPr/>
          <a:lstStyle/>
          <a:p>
            <a:endParaRPr lang="zh-CN" altLang="en-US" sz="776" dirty="0"/>
          </a:p>
        </p:txBody>
      </p:sp>
      <p:sp>
        <p:nvSpPr>
          <p:cNvPr id="74" name="矩形: 圆角 18">
            <a:extLst>
              <a:ext uri="{FF2B5EF4-FFF2-40B4-BE49-F238E27FC236}">
                <a16:creationId xmlns="" xmlns:a16="http://schemas.microsoft.com/office/drawing/2014/main" id="{7C923056-96D1-FDBC-A663-A1F8635BC91E}"/>
              </a:ext>
            </a:extLst>
          </p:cNvPr>
          <p:cNvSpPr/>
          <p:nvPr/>
        </p:nvSpPr>
        <p:spPr>
          <a:xfrm flipV="1">
            <a:off x="140988" y="434975"/>
            <a:ext cx="2164062" cy="31919"/>
          </a:xfrm>
          <a:prstGeom prst="roundRect">
            <a:avLst>
              <a:gd name="adj" fmla="val 50000"/>
            </a:avLst>
          </a:prstGeom>
          <a:solidFill>
            <a:srgbClr val="0040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90">
              <a:solidFill>
                <a:srgbClr val="004098"/>
              </a:solidFill>
              <a:latin typeface="字体视界-NWE粗楷体" panose="02000500000000000000" pitchFamily="2" charset="-122"/>
              <a:ea typeface="字体视界-NWE粗楷体" panose="02000500000000000000" pitchFamily="2" charset="-122"/>
            </a:endParaRPr>
          </a:p>
        </p:txBody>
      </p:sp>
      <p:pic>
        <p:nvPicPr>
          <p:cNvPr id="2" name="图片 1">
            <a:extLst>
              <a:ext uri="{FF2B5EF4-FFF2-40B4-BE49-F238E27FC236}">
                <a16:creationId xmlns="" xmlns:a16="http://schemas.microsoft.com/office/drawing/2014/main" id="{AFC96C52-CACA-3335-F3AD-2588F0F8C8FA}"/>
              </a:ext>
            </a:extLst>
          </p:cNvPr>
          <p:cNvPicPr>
            <a:picLocks noChangeAspect="1"/>
          </p:cNvPicPr>
          <p:nvPr/>
        </p:nvPicPr>
        <p:blipFill>
          <a:blip r:embed="rId3"/>
          <a:stretch>
            <a:fillRect/>
          </a:stretch>
        </p:blipFill>
        <p:spPr>
          <a:xfrm>
            <a:off x="802361" y="506043"/>
            <a:ext cx="3005377" cy="2900732"/>
          </a:xfrm>
          <a:prstGeom prst="rect">
            <a:avLst/>
          </a:prstGeom>
        </p:spPr>
      </p:pic>
      <p:sp>
        <p:nvSpPr>
          <p:cNvPr id="3" name="矩形: 剪去对角 2">
            <a:extLst>
              <a:ext uri="{FF2B5EF4-FFF2-40B4-BE49-F238E27FC236}">
                <a16:creationId xmlns="" xmlns:a16="http://schemas.microsoft.com/office/drawing/2014/main" id="{036EF9B9-4087-8BD3-B3E3-E49D9AECD666}"/>
              </a:ext>
            </a:extLst>
          </p:cNvPr>
          <p:cNvSpPr/>
          <p:nvPr/>
        </p:nvSpPr>
        <p:spPr>
          <a:xfrm flipH="1">
            <a:off x="4028926" y="3213260"/>
            <a:ext cx="581174" cy="247490"/>
          </a:xfrm>
          <a:prstGeom prst="snip2DiagRect">
            <a:avLst>
              <a:gd name="adj1" fmla="val 0"/>
              <a:gd name="adj2" fmla="val 50000"/>
            </a:avLst>
          </a:prstGeom>
          <a:solidFill>
            <a:srgbClr val="0040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5751"/>
            <a:endParaRPr lang="zh-CN" altLang="en-US" sz="681">
              <a:solidFill>
                <a:prstClr val="white"/>
              </a:solidFill>
              <a:latin typeface="等线"/>
              <a:ea typeface="等线" panose="02010600030101010101" pitchFamily="2" charset="-122"/>
            </a:endParaRPr>
          </a:p>
        </p:txBody>
      </p:sp>
      <p:sp>
        <p:nvSpPr>
          <p:cNvPr id="4" name="矩形: 剪去对角 3">
            <a:extLst>
              <a:ext uri="{FF2B5EF4-FFF2-40B4-BE49-F238E27FC236}">
                <a16:creationId xmlns="" xmlns:a16="http://schemas.microsoft.com/office/drawing/2014/main" id="{13DB3D41-8EDD-6674-5614-09E280025410}"/>
              </a:ext>
            </a:extLst>
          </p:cNvPr>
          <p:cNvSpPr/>
          <p:nvPr/>
        </p:nvSpPr>
        <p:spPr>
          <a:xfrm>
            <a:off x="0" y="3216860"/>
            <a:ext cx="607805" cy="247490"/>
          </a:xfrm>
          <a:prstGeom prst="snip2DiagRect">
            <a:avLst>
              <a:gd name="adj1" fmla="val 0"/>
              <a:gd name="adj2" fmla="val 50000"/>
            </a:avLst>
          </a:prstGeom>
          <a:solidFill>
            <a:srgbClr val="0040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5751"/>
            <a:endParaRPr lang="zh-CN" altLang="en-US" sz="681">
              <a:solidFill>
                <a:prstClr val="white"/>
              </a:solidFill>
              <a:latin typeface="等线"/>
              <a:ea typeface="等线" panose="02010600030101010101" pitchFamily="2" charset="-122"/>
            </a:endParaRPr>
          </a:p>
        </p:txBody>
      </p:sp>
      <p:sp>
        <p:nvSpPr>
          <p:cNvPr id="5" name="矩形 4">
            <a:extLst>
              <a:ext uri="{FF2B5EF4-FFF2-40B4-BE49-F238E27FC236}">
                <a16:creationId xmlns="" xmlns:a16="http://schemas.microsoft.com/office/drawing/2014/main" id="{D8AF09A4-81FA-2611-3159-48F9D019461B}"/>
              </a:ext>
            </a:extLst>
          </p:cNvPr>
          <p:cNvSpPr/>
          <p:nvPr/>
        </p:nvSpPr>
        <p:spPr>
          <a:xfrm>
            <a:off x="230" y="3376471"/>
            <a:ext cx="4609871" cy="120744"/>
          </a:xfrm>
          <a:prstGeom prst="rect">
            <a:avLst/>
          </a:prstGeom>
          <a:solidFill>
            <a:srgbClr val="004098"/>
          </a:solidFill>
          <a:ln>
            <a:noFill/>
          </a:ln>
        </p:spPr>
        <p:style>
          <a:lnRef idx="2">
            <a:schemeClr val="dk1">
              <a:shade val="50000"/>
            </a:schemeClr>
          </a:lnRef>
          <a:fillRef idx="1">
            <a:schemeClr val="dk1"/>
          </a:fillRef>
          <a:effectRef idx="0">
            <a:schemeClr val="dk1"/>
          </a:effectRef>
          <a:fontRef idx="minor">
            <a:schemeClr val="lt1"/>
          </a:fontRef>
        </p:style>
        <p:txBody>
          <a:bodyPr anchor="ctr"/>
          <a:lstStyle/>
          <a:p>
            <a:pPr algn="ctr" defTabSz="345612">
              <a:defRPr/>
            </a:pPr>
            <a:endParaRPr lang="zh-CN" altLang="en-US" sz="680">
              <a:solidFill>
                <a:prstClr val="white"/>
              </a:solidFill>
              <a:latin typeface="Constantia"/>
              <a:ea typeface="宋体" panose="02010600030101010101" pitchFamily="2" charset="-122"/>
            </a:endParaRPr>
          </a:p>
        </p:txBody>
      </p:sp>
      <p:pic>
        <p:nvPicPr>
          <p:cNvPr id="6" name="图片 5" descr="图片1">
            <a:extLst>
              <a:ext uri="{FF2B5EF4-FFF2-40B4-BE49-F238E27FC236}">
                <a16:creationId xmlns="" xmlns:a16="http://schemas.microsoft.com/office/drawing/2014/main" id="{2B51C577-5D02-3C54-AACC-03549844D67C}"/>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32463" y="3390024"/>
            <a:ext cx="2523764" cy="84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图片 6" descr="图片1">
            <a:extLst>
              <a:ext uri="{FF2B5EF4-FFF2-40B4-BE49-F238E27FC236}">
                <a16:creationId xmlns="" xmlns:a16="http://schemas.microsoft.com/office/drawing/2014/main" id="{362CCCCB-56B4-8402-4266-93C8F0C1DCB7}"/>
              </a:ext>
            </a:extLst>
          </p:cNvPr>
          <p:cNvPicPr>
            <a:picLocks noChangeAspect="1"/>
          </p:cNvPicPr>
          <p:nvPr/>
        </p:nvPicPr>
        <p:blipFill>
          <a:blip r:embed="rId5" cstate="print">
            <a:extLst>
              <a:ext uri="{28A0092B-C50C-407E-A947-70E740481C1C}">
                <a14:useLocalDpi xmlns:a14="http://schemas.microsoft.com/office/drawing/2010/main" val="0"/>
              </a:ext>
            </a:extLst>
          </a:blip>
          <a:srcRect r="16708" b="7407"/>
          <a:stretch>
            <a:fillRect/>
          </a:stretch>
        </p:blipFill>
        <p:spPr bwMode="auto">
          <a:xfrm>
            <a:off x="2382909" y="3390856"/>
            <a:ext cx="2218800" cy="82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5681600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原创设计师QQ598969553      _2">
            <a:extLst>
              <a:ext uri="{FF2B5EF4-FFF2-40B4-BE49-F238E27FC236}">
                <a16:creationId xmlns="" xmlns:a16="http://schemas.microsoft.com/office/drawing/2014/main" id="{7C4725B1-D255-CC63-745B-0C08A542F8E6}"/>
              </a:ext>
            </a:extLst>
          </p:cNvPr>
          <p:cNvSpPr txBox="1"/>
          <p:nvPr/>
        </p:nvSpPr>
        <p:spPr>
          <a:xfrm>
            <a:off x="618435" y="185570"/>
            <a:ext cx="2267573" cy="204379"/>
          </a:xfrm>
          <a:prstGeom prst="rect">
            <a:avLst/>
          </a:prstGeom>
          <a:noFill/>
        </p:spPr>
        <p:txBody>
          <a:bodyPr wrap="square" lIns="34762" tIns="17381" rIns="34762" bIns="17381" rtlCol="0">
            <a:spAutoFit/>
          </a:bodyPr>
          <a:lstStyle/>
          <a:p>
            <a:r>
              <a:rPr lang="zh-CN" altLang="en-US" sz="1100" b="1" dirty="0">
                <a:latin typeface="微软雅黑" panose="020B0503020204020204" pitchFamily="34" charset="-122"/>
                <a:ea typeface="微软雅黑" panose="020B0503020204020204" pitchFamily="34" charset="-122"/>
              </a:rPr>
              <a:t>统计学习历史人物</a:t>
            </a:r>
          </a:p>
        </p:txBody>
      </p:sp>
      <p:grpSp>
        <p:nvGrpSpPr>
          <p:cNvPr id="68" name="原创设计师QQ598969553      _9">
            <a:extLst>
              <a:ext uri="{FF2B5EF4-FFF2-40B4-BE49-F238E27FC236}">
                <a16:creationId xmlns="" xmlns:a16="http://schemas.microsoft.com/office/drawing/2014/main" id="{EC33079E-1247-70DE-8763-3ACDD65E706D}"/>
              </a:ext>
            </a:extLst>
          </p:cNvPr>
          <p:cNvGrpSpPr/>
          <p:nvPr/>
        </p:nvGrpSpPr>
        <p:grpSpPr>
          <a:xfrm>
            <a:off x="188162" y="153558"/>
            <a:ext cx="304678" cy="243737"/>
            <a:chOff x="4268207" y="2118116"/>
            <a:chExt cx="2653566" cy="2214138"/>
          </a:xfrm>
        </p:grpSpPr>
        <p:grpSp>
          <p:nvGrpSpPr>
            <p:cNvPr id="69" name="组合 68">
              <a:extLst>
                <a:ext uri="{FF2B5EF4-FFF2-40B4-BE49-F238E27FC236}">
                  <a16:creationId xmlns="" xmlns:a16="http://schemas.microsoft.com/office/drawing/2014/main" id="{3866FBD5-A960-6794-8BA4-9DBBA9FC3AA3}"/>
                </a:ext>
              </a:extLst>
            </p:cNvPr>
            <p:cNvGrpSpPr/>
            <p:nvPr/>
          </p:nvGrpSpPr>
          <p:grpSpPr>
            <a:xfrm>
              <a:off x="4508674" y="2118116"/>
              <a:ext cx="2204282" cy="2204282"/>
              <a:chOff x="1517331" y="1125257"/>
              <a:chExt cx="2204282" cy="2204282"/>
            </a:xfrm>
          </p:grpSpPr>
          <p:sp>
            <p:nvSpPr>
              <p:cNvPr id="71" name="椭圆 70">
                <a:extLst>
                  <a:ext uri="{FF2B5EF4-FFF2-40B4-BE49-F238E27FC236}">
                    <a16:creationId xmlns="" xmlns:a16="http://schemas.microsoft.com/office/drawing/2014/main" id="{68A1054A-58A0-C11B-68D9-FA23D2B35325}"/>
                  </a:ext>
                </a:extLst>
              </p:cNvPr>
              <p:cNvSpPr/>
              <p:nvPr/>
            </p:nvSpPr>
            <p:spPr>
              <a:xfrm>
                <a:off x="1517331" y="1125257"/>
                <a:ext cx="2204282" cy="2204282"/>
              </a:xfrm>
              <a:prstGeom prst="ellipse">
                <a:avLst/>
              </a:prstGeom>
              <a:gradFill>
                <a:gsLst>
                  <a:gs pos="0">
                    <a:srgbClr val="EBEBEB"/>
                  </a:gs>
                  <a:gs pos="100000">
                    <a:srgbClr val="FEFEFE"/>
                  </a:gs>
                </a:gsLst>
                <a:lin ang="7530000" scaled="0"/>
              </a:gradFill>
              <a:ln w="12700">
                <a:solidFill>
                  <a:schemeClr val="bg1"/>
                </a:solidFill>
              </a:ln>
              <a:effectLst>
                <a:outerShdw blurRad="457200" dist="444500" dir="7800000" sx="89000" sy="89000" algn="tr" rotWithShape="0">
                  <a:prstClr val="black">
                    <a:alpha val="3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76">
                  <a:latin typeface="字体视界-NWE粗楷体" panose="02000500000000000000" pitchFamily="2" charset="-122"/>
                  <a:ea typeface="字体视界-NWE粗楷体" panose="02000500000000000000" pitchFamily="2" charset="-122"/>
                </a:endParaRPr>
              </a:p>
            </p:txBody>
          </p:sp>
          <p:sp>
            <p:nvSpPr>
              <p:cNvPr id="72" name="椭圆 71">
                <a:extLst>
                  <a:ext uri="{FF2B5EF4-FFF2-40B4-BE49-F238E27FC236}">
                    <a16:creationId xmlns="" xmlns:a16="http://schemas.microsoft.com/office/drawing/2014/main" id="{BFBCAB49-6A8C-B2B3-35ED-D6BBBED5CF8B}"/>
                  </a:ext>
                </a:extLst>
              </p:cNvPr>
              <p:cNvSpPr/>
              <p:nvPr/>
            </p:nvSpPr>
            <p:spPr>
              <a:xfrm>
                <a:off x="1719371" y="1344751"/>
                <a:ext cx="1800198" cy="1800200"/>
              </a:xfrm>
              <a:prstGeom prst="ellipse">
                <a:avLst/>
              </a:prstGeom>
              <a:solidFill>
                <a:srgbClr val="004098"/>
              </a:solidFill>
              <a:ln>
                <a:noFill/>
              </a:ln>
              <a:effectLst>
                <a:innerShdw blurRad="101600" dist="50800" dir="18900000">
                  <a:prstClr val="black">
                    <a:alpha val="43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76">
                  <a:latin typeface="字体视界-NWE粗楷体" panose="02000500000000000000" pitchFamily="2" charset="-122"/>
                  <a:ea typeface="字体视界-NWE粗楷体" panose="02000500000000000000" pitchFamily="2" charset="-122"/>
                </a:endParaRPr>
              </a:p>
            </p:txBody>
          </p:sp>
        </p:grpSp>
        <p:sp>
          <p:nvSpPr>
            <p:cNvPr id="70" name="TextBox 80">
              <a:extLst>
                <a:ext uri="{FF2B5EF4-FFF2-40B4-BE49-F238E27FC236}">
                  <a16:creationId xmlns="" xmlns:a16="http://schemas.microsoft.com/office/drawing/2014/main" id="{7A547AF7-EE79-5DEF-44B1-CF755100FDCC}"/>
                </a:ext>
              </a:extLst>
            </p:cNvPr>
            <p:cNvSpPr txBox="1"/>
            <p:nvPr/>
          </p:nvSpPr>
          <p:spPr>
            <a:xfrm>
              <a:off x="4268207" y="2408917"/>
              <a:ext cx="2653566" cy="1923337"/>
            </a:xfrm>
            <a:prstGeom prst="rect">
              <a:avLst/>
            </a:prstGeom>
            <a:noFill/>
          </p:spPr>
          <p:txBody>
            <a:bodyPr wrap="square" rtlCol="0">
              <a:spAutoFit/>
            </a:bodyPr>
            <a:lstStyle/>
            <a:p>
              <a:r>
                <a:rPr lang="en-US" altLang="zh-CN" sz="776" dirty="0">
                  <a:solidFill>
                    <a:schemeClr val="bg1"/>
                  </a:solidFill>
                  <a:latin typeface="字体视界-NWE粗楷体" panose="02000500000000000000" pitchFamily="2" charset="-122"/>
                  <a:ea typeface="字体视界-NWE粗楷体" panose="02000500000000000000" pitchFamily="2" charset="-122"/>
                </a:rPr>
                <a:t>08</a:t>
              </a:r>
            </a:p>
          </p:txBody>
        </p:sp>
      </p:grpSp>
      <p:sp>
        <p:nvSpPr>
          <p:cNvPr id="73" name="原创设计师QQ598969553      _12">
            <a:extLst>
              <a:ext uri="{FF2B5EF4-FFF2-40B4-BE49-F238E27FC236}">
                <a16:creationId xmlns="" xmlns:a16="http://schemas.microsoft.com/office/drawing/2014/main" id="{760473EF-0D78-F124-1B4B-A4A3255E7476}"/>
              </a:ext>
            </a:extLst>
          </p:cNvPr>
          <p:cNvSpPr>
            <a:spLocks noChangeShapeType="1"/>
          </p:cNvSpPr>
          <p:nvPr/>
        </p:nvSpPr>
        <p:spPr bwMode="auto">
          <a:xfrm flipH="1" flipV="1">
            <a:off x="543649" y="130604"/>
            <a:ext cx="0" cy="307269"/>
          </a:xfrm>
          <a:prstGeom prst="line">
            <a:avLst/>
          </a:prstGeom>
          <a:noFill/>
          <a:ln w="19050">
            <a:solidFill>
              <a:srgbClr val="004098"/>
            </a:solidFill>
            <a:prstDash val="dash"/>
            <a:round/>
          </a:ln>
          <a:extLst>
            <a:ext uri="{909E8E84-426E-40DD-AFC4-6F175D3DCCD1}">
              <a14:hiddenFill xmlns:a14="http://schemas.microsoft.com/office/drawing/2010/main">
                <a:noFill/>
              </a14:hiddenFill>
            </a:ext>
          </a:extLst>
        </p:spPr>
        <p:txBody>
          <a:bodyPr/>
          <a:lstStyle/>
          <a:p>
            <a:endParaRPr lang="zh-CN" altLang="en-US" sz="776" dirty="0"/>
          </a:p>
        </p:txBody>
      </p:sp>
      <p:sp>
        <p:nvSpPr>
          <p:cNvPr id="74" name="矩形: 圆角 18">
            <a:extLst>
              <a:ext uri="{FF2B5EF4-FFF2-40B4-BE49-F238E27FC236}">
                <a16:creationId xmlns="" xmlns:a16="http://schemas.microsoft.com/office/drawing/2014/main" id="{7C923056-96D1-FDBC-A663-A1F8635BC91E}"/>
              </a:ext>
            </a:extLst>
          </p:cNvPr>
          <p:cNvSpPr/>
          <p:nvPr/>
        </p:nvSpPr>
        <p:spPr>
          <a:xfrm flipV="1">
            <a:off x="140988" y="434975"/>
            <a:ext cx="2164062" cy="31919"/>
          </a:xfrm>
          <a:prstGeom prst="roundRect">
            <a:avLst>
              <a:gd name="adj" fmla="val 50000"/>
            </a:avLst>
          </a:prstGeom>
          <a:solidFill>
            <a:srgbClr val="0040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90">
              <a:solidFill>
                <a:srgbClr val="004098"/>
              </a:solidFill>
              <a:latin typeface="字体视界-NWE粗楷体" panose="02000500000000000000" pitchFamily="2" charset="-122"/>
              <a:ea typeface="字体视界-NWE粗楷体" panose="02000500000000000000" pitchFamily="2" charset="-122"/>
            </a:endParaRPr>
          </a:p>
        </p:txBody>
      </p:sp>
      <p:sp>
        <p:nvSpPr>
          <p:cNvPr id="2" name="矩形 1">
            <a:extLst>
              <a:ext uri="{FF2B5EF4-FFF2-40B4-BE49-F238E27FC236}">
                <a16:creationId xmlns="" xmlns:a16="http://schemas.microsoft.com/office/drawing/2014/main" id="{EE9EC2E9-C96C-DBA0-38EA-99C9A167DB9B}"/>
              </a:ext>
            </a:extLst>
          </p:cNvPr>
          <p:cNvSpPr/>
          <p:nvPr/>
        </p:nvSpPr>
        <p:spPr>
          <a:xfrm>
            <a:off x="1494522" y="599973"/>
            <a:ext cx="2895600" cy="1754326"/>
          </a:xfrm>
          <a:prstGeom prst="rect">
            <a:avLst/>
          </a:prstGeom>
        </p:spPr>
        <p:txBody>
          <a:bodyPr wrap="square">
            <a:spAutoFit/>
          </a:bodyPr>
          <a:lstStyle/>
          <a:p>
            <a:r>
              <a:rPr lang="en-US" altLang="zh-CN" sz="1200" b="1" dirty="0"/>
              <a:t>C R </a:t>
            </a:r>
            <a:r>
              <a:rPr lang="zh-CN" altLang="en-US" sz="1200" b="1" dirty="0"/>
              <a:t>拉奥</a:t>
            </a:r>
            <a:r>
              <a:rPr lang="zh-CN" altLang="en-US" sz="1200" dirty="0"/>
              <a:t>（</a:t>
            </a:r>
            <a:r>
              <a:rPr lang="en-US" altLang="zh-CN" sz="1200" dirty="0" err="1"/>
              <a:t>Calyampudi</a:t>
            </a:r>
            <a:r>
              <a:rPr lang="en-US" altLang="zh-CN" sz="1200" dirty="0"/>
              <a:t> </a:t>
            </a:r>
            <a:r>
              <a:rPr lang="en-US" altLang="zh-CN" sz="1200" dirty="0" err="1"/>
              <a:t>Radhakrishna</a:t>
            </a:r>
            <a:r>
              <a:rPr lang="en-US" altLang="zh-CN" sz="1200" dirty="0"/>
              <a:t> Rao</a:t>
            </a:r>
            <a:r>
              <a:rPr lang="zh-CN" altLang="en-US" sz="1200" dirty="0"/>
              <a:t>，</a:t>
            </a:r>
            <a:r>
              <a:rPr lang="en-US" altLang="zh-CN" sz="1200" dirty="0"/>
              <a:t>1920.9.20</a:t>
            </a:r>
            <a:r>
              <a:rPr lang="zh-CN" altLang="en-US" sz="1200" dirty="0" smtClean="0"/>
              <a:t>－</a:t>
            </a:r>
            <a:r>
              <a:rPr lang="en-US" altLang="zh-CN" sz="1200" dirty="0" smtClean="0"/>
              <a:t>2023.8.23</a:t>
            </a:r>
            <a:r>
              <a:rPr lang="zh-CN" altLang="en-US" sz="1200" dirty="0" smtClean="0"/>
              <a:t>）</a:t>
            </a:r>
            <a:endParaRPr lang="en-US" altLang="zh-CN" sz="1200" dirty="0"/>
          </a:p>
          <a:p>
            <a:r>
              <a:rPr lang="zh-CN" altLang="en-US" sz="1200" dirty="0"/>
              <a:t>印度统计学家，数学家，美国科学院院士，英国皇家统计学会会员，宾州州立大学荣誉教授。</a:t>
            </a:r>
            <a:r>
              <a:rPr lang="en-US" altLang="zh-CN" sz="1200" dirty="0"/>
              <a:t>Fisher</a:t>
            </a:r>
            <a:r>
              <a:rPr lang="zh-CN" altLang="en-US" sz="1200" dirty="0"/>
              <a:t>的学生。</a:t>
            </a:r>
            <a:endParaRPr lang="en-US" altLang="zh-CN" sz="1200" dirty="0"/>
          </a:p>
          <a:p>
            <a:endParaRPr lang="en-US" altLang="zh-CN" sz="1200" dirty="0"/>
          </a:p>
          <a:p>
            <a:pPr marL="228600" indent="-228600">
              <a:buAutoNum type="arabicParenBoth"/>
            </a:pPr>
            <a:r>
              <a:rPr lang="en-US" altLang="zh-CN" sz="1200" b="1" dirty="0"/>
              <a:t>C-R</a:t>
            </a:r>
            <a:r>
              <a:rPr lang="zh-CN" altLang="en-US" sz="1200" b="1" dirty="0"/>
              <a:t>不等式</a:t>
            </a:r>
            <a:endParaRPr lang="en-US" altLang="zh-CN" sz="1200" b="1" dirty="0"/>
          </a:p>
          <a:p>
            <a:pPr marL="228600" indent="-228600">
              <a:buAutoNum type="arabicParenBoth"/>
            </a:pPr>
            <a:r>
              <a:rPr lang="en-US" altLang="zh-CN" sz="1200" b="1" dirty="0"/>
              <a:t>Rao-Blackwell</a:t>
            </a:r>
            <a:r>
              <a:rPr lang="zh-CN" altLang="en-US" sz="1200" b="1" dirty="0"/>
              <a:t>定理。</a:t>
            </a:r>
            <a:endParaRPr lang="en-US" altLang="zh-CN" sz="1200" b="1" dirty="0"/>
          </a:p>
          <a:p>
            <a:pPr marL="228600" indent="-228600">
              <a:buFontTx/>
              <a:buAutoNum type="arabicParenBoth"/>
            </a:pPr>
            <a:r>
              <a:rPr lang="zh-CN" altLang="en-US" sz="1200" b="1" dirty="0"/>
              <a:t>微分几何和统计</a:t>
            </a:r>
          </a:p>
        </p:txBody>
      </p:sp>
      <p:pic>
        <p:nvPicPr>
          <p:cNvPr id="3" name="图片 2">
            <a:extLst>
              <a:ext uri="{FF2B5EF4-FFF2-40B4-BE49-F238E27FC236}">
                <a16:creationId xmlns="" xmlns:a16="http://schemas.microsoft.com/office/drawing/2014/main" id="{EE173A95-9E7D-F5CD-5200-20239680FB55}"/>
              </a:ext>
            </a:extLst>
          </p:cNvPr>
          <p:cNvPicPr>
            <a:picLocks noChangeAspect="1"/>
          </p:cNvPicPr>
          <p:nvPr/>
        </p:nvPicPr>
        <p:blipFill>
          <a:blip r:embed="rId3"/>
          <a:stretch>
            <a:fillRect/>
          </a:stretch>
        </p:blipFill>
        <p:spPr>
          <a:xfrm>
            <a:off x="1565322" y="2488188"/>
            <a:ext cx="1377000" cy="720000"/>
          </a:xfrm>
          <a:prstGeom prst="rect">
            <a:avLst/>
          </a:prstGeom>
        </p:spPr>
      </p:pic>
      <p:pic>
        <p:nvPicPr>
          <p:cNvPr id="4" name="图片 3">
            <a:extLst>
              <a:ext uri="{FF2B5EF4-FFF2-40B4-BE49-F238E27FC236}">
                <a16:creationId xmlns="" xmlns:a16="http://schemas.microsoft.com/office/drawing/2014/main" id="{32114F8E-F30E-EC6F-2475-A86099943163}"/>
              </a:ext>
            </a:extLst>
          </p:cNvPr>
          <p:cNvPicPr>
            <a:picLocks noChangeAspect="1"/>
          </p:cNvPicPr>
          <p:nvPr/>
        </p:nvPicPr>
        <p:blipFill>
          <a:blip r:embed="rId4"/>
          <a:stretch>
            <a:fillRect/>
          </a:stretch>
        </p:blipFill>
        <p:spPr>
          <a:xfrm>
            <a:off x="2942322" y="2488188"/>
            <a:ext cx="1384165" cy="720000"/>
          </a:xfrm>
          <a:prstGeom prst="rect">
            <a:avLst/>
          </a:prstGeom>
        </p:spPr>
      </p:pic>
      <p:pic>
        <p:nvPicPr>
          <p:cNvPr id="5" name="Picture 2" descr="C R Rao 的图像结果">
            <a:extLst>
              <a:ext uri="{FF2B5EF4-FFF2-40B4-BE49-F238E27FC236}">
                <a16:creationId xmlns="" xmlns:a16="http://schemas.microsoft.com/office/drawing/2014/main" id="{D985FC43-91D7-07BC-75E2-32C9DCD617A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6769" y="663575"/>
            <a:ext cx="1260000" cy="1941781"/>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剪去对角 5">
            <a:extLst>
              <a:ext uri="{FF2B5EF4-FFF2-40B4-BE49-F238E27FC236}">
                <a16:creationId xmlns="" xmlns:a16="http://schemas.microsoft.com/office/drawing/2014/main" id="{C28FDEE1-8192-FFBD-925A-FD36A2994F19}"/>
              </a:ext>
            </a:extLst>
          </p:cNvPr>
          <p:cNvSpPr/>
          <p:nvPr/>
        </p:nvSpPr>
        <p:spPr>
          <a:xfrm flipH="1">
            <a:off x="4028926" y="3213260"/>
            <a:ext cx="581174" cy="247490"/>
          </a:xfrm>
          <a:prstGeom prst="snip2DiagRect">
            <a:avLst>
              <a:gd name="adj1" fmla="val 0"/>
              <a:gd name="adj2" fmla="val 50000"/>
            </a:avLst>
          </a:prstGeom>
          <a:solidFill>
            <a:srgbClr val="0040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5751"/>
            <a:endParaRPr lang="zh-CN" altLang="en-US" sz="681">
              <a:solidFill>
                <a:prstClr val="white"/>
              </a:solidFill>
              <a:latin typeface="等线"/>
              <a:ea typeface="等线" panose="02010600030101010101" pitchFamily="2" charset="-122"/>
            </a:endParaRPr>
          </a:p>
        </p:txBody>
      </p:sp>
      <p:sp>
        <p:nvSpPr>
          <p:cNvPr id="7" name="矩形: 剪去对角 6">
            <a:extLst>
              <a:ext uri="{FF2B5EF4-FFF2-40B4-BE49-F238E27FC236}">
                <a16:creationId xmlns="" xmlns:a16="http://schemas.microsoft.com/office/drawing/2014/main" id="{6A42EA01-9C2B-0788-00EC-E310BB57BF13}"/>
              </a:ext>
            </a:extLst>
          </p:cNvPr>
          <p:cNvSpPr/>
          <p:nvPr/>
        </p:nvSpPr>
        <p:spPr>
          <a:xfrm>
            <a:off x="0" y="3216860"/>
            <a:ext cx="607805" cy="247490"/>
          </a:xfrm>
          <a:prstGeom prst="snip2DiagRect">
            <a:avLst>
              <a:gd name="adj1" fmla="val 0"/>
              <a:gd name="adj2" fmla="val 50000"/>
            </a:avLst>
          </a:prstGeom>
          <a:solidFill>
            <a:srgbClr val="0040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5751"/>
            <a:endParaRPr lang="zh-CN" altLang="en-US" sz="681">
              <a:solidFill>
                <a:prstClr val="white"/>
              </a:solidFill>
              <a:latin typeface="等线"/>
              <a:ea typeface="等线" panose="02010600030101010101" pitchFamily="2" charset="-122"/>
            </a:endParaRPr>
          </a:p>
        </p:txBody>
      </p:sp>
      <p:sp>
        <p:nvSpPr>
          <p:cNvPr id="8" name="矩形 7">
            <a:extLst>
              <a:ext uri="{FF2B5EF4-FFF2-40B4-BE49-F238E27FC236}">
                <a16:creationId xmlns="" xmlns:a16="http://schemas.microsoft.com/office/drawing/2014/main" id="{32B41B6E-F0AF-CB62-F776-50C86576583B}"/>
              </a:ext>
            </a:extLst>
          </p:cNvPr>
          <p:cNvSpPr/>
          <p:nvPr/>
        </p:nvSpPr>
        <p:spPr>
          <a:xfrm>
            <a:off x="230" y="3376471"/>
            <a:ext cx="4609871" cy="120744"/>
          </a:xfrm>
          <a:prstGeom prst="rect">
            <a:avLst/>
          </a:prstGeom>
          <a:solidFill>
            <a:srgbClr val="004098"/>
          </a:solidFill>
          <a:ln>
            <a:noFill/>
          </a:ln>
        </p:spPr>
        <p:style>
          <a:lnRef idx="2">
            <a:schemeClr val="dk1">
              <a:shade val="50000"/>
            </a:schemeClr>
          </a:lnRef>
          <a:fillRef idx="1">
            <a:schemeClr val="dk1"/>
          </a:fillRef>
          <a:effectRef idx="0">
            <a:schemeClr val="dk1"/>
          </a:effectRef>
          <a:fontRef idx="minor">
            <a:schemeClr val="lt1"/>
          </a:fontRef>
        </p:style>
        <p:txBody>
          <a:bodyPr anchor="ctr"/>
          <a:lstStyle/>
          <a:p>
            <a:pPr algn="ctr" defTabSz="345612">
              <a:defRPr/>
            </a:pPr>
            <a:endParaRPr lang="zh-CN" altLang="en-US" sz="680">
              <a:solidFill>
                <a:prstClr val="white"/>
              </a:solidFill>
              <a:latin typeface="Constantia"/>
              <a:ea typeface="宋体" panose="02010600030101010101" pitchFamily="2" charset="-122"/>
            </a:endParaRPr>
          </a:p>
        </p:txBody>
      </p:sp>
      <p:pic>
        <p:nvPicPr>
          <p:cNvPr id="9" name="图片 8" descr="图片1">
            <a:extLst>
              <a:ext uri="{FF2B5EF4-FFF2-40B4-BE49-F238E27FC236}">
                <a16:creationId xmlns="" xmlns:a16="http://schemas.microsoft.com/office/drawing/2014/main" id="{844230DD-EEB9-6BC4-8505-BF16FBEAEDE9}"/>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32463" y="3390024"/>
            <a:ext cx="2523764" cy="84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图片 9" descr="图片1">
            <a:extLst>
              <a:ext uri="{FF2B5EF4-FFF2-40B4-BE49-F238E27FC236}">
                <a16:creationId xmlns="" xmlns:a16="http://schemas.microsoft.com/office/drawing/2014/main" id="{6F74192C-77B1-687F-5F4B-3B2FFB6CCDD4}"/>
              </a:ext>
            </a:extLst>
          </p:cNvPr>
          <p:cNvPicPr>
            <a:picLocks noChangeAspect="1"/>
          </p:cNvPicPr>
          <p:nvPr/>
        </p:nvPicPr>
        <p:blipFill>
          <a:blip r:embed="rId7" cstate="print">
            <a:extLst>
              <a:ext uri="{28A0092B-C50C-407E-A947-70E740481C1C}">
                <a14:useLocalDpi xmlns:a14="http://schemas.microsoft.com/office/drawing/2010/main" val="0"/>
              </a:ext>
            </a:extLst>
          </a:blip>
          <a:srcRect r="16708" b="7407"/>
          <a:stretch>
            <a:fillRect/>
          </a:stretch>
        </p:blipFill>
        <p:spPr bwMode="auto">
          <a:xfrm>
            <a:off x="2382909" y="3390856"/>
            <a:ext cx="2218800" cy="82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4282558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原创设计师QQ598969553      _2">
            <a:extLst>
              <a:ext uri="{FF2B5EF4-FFF2-40B4-BE49-F238E27FC236}">
                <a16:creationId xmlns="" xmlns:a16="http://schemas.microsoft.com/office/drawing/2014/main" id="{7C4725B1-D255-CC63-745B-0C08A542F8E6}"/>
              </a:ext>
            </a:extLst>
          </p:cNvPr>
          <p:cNvSpPr txBox="1"/>
          <p:nvPr/>
        </p:nvSpPr>
        <p:spPr>
          <a:xfrm>
            <a:off x="618435" y="185570"/>
            <a:ext cx="2267573" cy="204379"/>
          </a:xfrm>
          <a:prstGeom prst="rect">
            <a:avLst/>
          </a:prstGeom>
          <a:noFill/>
        </p:spPr>
        <p:txBody>
          <a:bodyPr wrap="square" lIns="34762" tIns="17381" rIns="34762" bIns="17381" rtlCol="0">
            <a:spAutoFit/>
          </a:bodyPr>
          <a:lstStyle/>
          <a:p>
            <a:r>
              <a:rPr lang="zh-CN" altLang="en-US" sz="1100" b="1" dirty="0">
                <a:latin typeface="微软雅黑" panose="020B0503020204020204" pitchFamily="34" charset="-122"/>
                <a:ea typeface="微软雅黑" panose="020B0503020204020204" pitchFamily="34" charset="-122"/>
              </a:rPr>
              <a:t>统计学习历史人物</a:t>
            </a:r>
          </a:p>
        </p:txBody>
      </p:sp>
      <p:grpSp>
        <p:nvGrpSpPr>
          <p:cNvPr id="68" name="原创设计师QQ598969553      _9">
            <a:extLst>
              <a:ext uri="{FF2B5EF4-FFF2-40B4-BE49-F238E27FC236}">
                <a16:creationId xmlns="" xmlns:a16="http://schemas.microsoft.com/office/drawing/2014/main" id="{EC33079E-1247-70DE-8763-3ACDD65E706D}"/>
              </a:ext>
            </a:extLst>
          </p:cNvPr>
          <p:cNvGrpSpPr/>
          <p:nvPr/>
        </p:nvGrpSpPr>
        <p:grpSpPr>
          <a:xfrm>
            <a:off x="188162" y="153558"/>
            <a:ext cx="304678" cy="243737"/>
            <a:chOff x="4268207" y="2118116"/>
            <a:chExt cx="2653566" cy="2214138"/>
          </a:xfrm>
        </p:grpSpPr>
        <p:grpSp>
          <p:nvGrpSpPr>
            <p:cNvPr id="69" name="组合 68">
              <a:extLst>
                <a:ext uri="{FF2B5EF4-FFF2-40B4-BE49-F238E27FC236}">
                  <a16:creationId xmlns="" xmlns:a16="http://schemas.microsoft.com/office/drawing/2014/main" id="{3866FBD5-A960-6794-8BA4-9DBBA9FC3AA3}"/>
                </a:ext>
              </a:extLst>
            </p:cNvPr>
            <p:cNvGrpSpPr/>
            <p:nvPr/>
          </p:nvGrpSpPr>
          <p:grpSpPr>
            <a:xfrm>
              <a:off x="4508674" y="2118116"/>
              <a:ext cx="2204282" cy="2204282"/>
              <a:chOff x="1517331" y="1125257"/>
              <a:chExt cx="2204282" cy="2204282"/>
            </a:xfrm>
          </p:grpSpPr>
          <p:sp>
            <p:nvSpPr>
              <p:cNvPr id="71" name="椭圆 70">
                <a:extLst>
                  <a:ext uri="{FF2B5EF4-FFF2-40B4-BE49-F238E27FC236}">
                    <a16:creationId xmlns="" xmlns:a16="http://schemas.microsoft.com/office/drawing/2014/main" id="{68A1054A-58A0-C11B-68D9-FA23D2B35325}"/>
                  </a:ext>
                </a:extLst>
              </p:cNvPr>
              <p:cNvSpPr/>
              <p:nvPr/>
            </p:nvSpPr>
            <p:spPr>
              <a:xfrm>
                <a:off x="1517331" y="1125257"/>
                <a:ext cx="2204282" cy="2204282"/>
              </a:xfrm>
              <a:prstGeom prst="ellipse">
                <a:avLst/>
              </a:prstGeom>
              <a:gradFill>
                <a:gsLst>
                  <a:gs pos="0">
                    <a:srgbClr val="EBEBEB"/>
                  </a:gs>
                  <a:gs pos="100000">
                    <a:srgbClr val="FEFEFE"/>
                  </a:gs>
                </a:gsLst>
                <a:lin ang="7530000" scaled="0"/>
              </a:gradFill>
              <a:ln w="12700">
                <a:solidFill>
                  <a:schemeClr val="bg1"/>
                </a:solidFill>
              </a:ln>
              <a:effectLst>
                <a:outerShdw blurRad="457200" dist="444500" dir="7800000" sx="89000" sy="89000" algn="tr" rotWithShape="0">
                  <a:prstClr val="black">
                    <a:alpha val="3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76">
                  <a:latin typeface="字体视界-NWE粗楷体" panose="02000500000000000000" pitchFamily="2" charset="-122"/>
                  <a:ea typeface="字体视界-NWE粗楷体" panose="02000500000000000000" pitchFamily="2" charset="-122"/>
                </a:endParaRPr>
              </a:p>
            </p:txBody>
          </p:sp>
          <p:sp>
            <p:nvSpPr>
              <p:cNvPr id="72" name="椭圆 71">
                <a:extLst>
                  <a:ext uri="{FF2B5EF4-FFF2-40B4-BE49-F238E27FC236}">
                    <a16:creationId xmlns="" xmlns:a16="http://schemas.microsoft.com/office/drawing/2014/main" id="{BFBCAB49-6A8C-B2B3-35ED-D6BBBED5CF8B}"/>
                  </a:ext>
                </a:extLst>
              </p:cNvPr>
              <p:cNvSpPr/>
              <p:nvPr/>
            </p:nvSpPr>
            <p:spPr>
              <a:xfrm>
                <a:off x="1719371" y="1344751"/>
                <a:ext cx="1800198" cy="1800200"/>
              </a:xfrm>
              <a:prstGeom prst="ellipse">
                <a:avLst/>
              </a:prstGeom>
              <a:solidFill>
                <a:srgbClr val="004098"/>
              </a:solidFill>
              <a:ln>
                <a:noFill/>
              </a:ln>
              <a:effectLst>
                <a:innerShdw blurRad="101600" dist="50800" dir="18900000">
                  <a:prstClr val="black">
                    <a:alpha val="43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76">
                  <a:latin typeface="字体视界-NWE粗楷体" panose="02000500000000000000" pitchFamily="2" charset="-122"/>
                  <a:ea typeface="字体视界-NWE粗楷体" panose="02000500000000000000" pitchFamily="2" charset="-122"/>
                </a:endParaRPr>
              </a:p>
            </p:txBody>
          </p:sp>
        </p:grpSp>
        <p:sp>
          <p:nvSpPr>
            <p:cNvPr id="70" name="TextBox 80">
              <a:extLst>
                <a:ext uri="{FF2B5EF4-FFF2-40B4-BE49-F238E27FC236}">
                  <a16:creationId xmlns="" xmlns:a16="http://schemas.microsoft.com/office/drawing/2014/main" id="{7A547AF7-EE79-5DEF-44B1-CF755100FDCC}"/>
                </a:ext>
              </a:extLst>
            </p:cNvPr>
            <p:cNvSpPr txBox="1"/>
            <p:nvPr/>
          </p:nvSpPr>
          <p:spPr>
            <a:xfrm>
              <a:off x="4268207" y="2408917"/>
              <a:ext cx="2653566" cy="1923337"/>
            </a:xfrm>
            <a:prstGeom prst="rect">
              <a:avLst/>
            </a:prstGeom>
            <a:noFill/>
          </p:spPr>
          <p:txBody>
            <a:bodyPr wrap="square" rtlCol="0">
              <a:spAutoFit/>
            </a:bodyPr>
            <a:lstStyle/>
            <a:p>
              <a:r>
                <a:rPr lang="en-US" altLang="zh-CN" sz="776" dirty="0">
                  <a:solidFill>
                    <a:schemeClr val="bg1"/>
                  </a:solidFill>
                  <a:latin typeface="字体视界-NWE粗楷体" panose="02000500000000000000" pitchFamily="2" charset="-122"/>
                  <a:ea typeface="字体视界-NWE粗楷体" panose="02000500000000000000" pitchFamily="2" charset="-122"/>
                </a:rPr>
                <a:t>08</a:t>
              </a:r>
            </a:p>
          </p:txBody>
        </p:sp>
      </p:grpSp>
      <p:sp>
        <p:nvSpPr>
          <p:cNvPr id="73" name="原创设计师QQ598969553      _12">
            <a:extLst>
              <a:ext uri="{FF2B5EF4-FFF2-40B4-BE49-F238E27FC236}">
                <a16:creationId xmlns="" xmlns:a16="http://schemas.microsoft.com/office/drawing/2014/main" id="{760473EF-0D78-F124-1B4B-A4A3255E7476}"/>
              </a:ext>
            </a:extLst>
          </p:cNvPr>
          <p:cNvSpPr>
            <a:spLocks noChangeShapeType="1"/>
          </p:cNvSpPr>
          <p:nvPr/>
        </p:nvSpPr>
        <p:spPr bwMode="auto">
          <a:xfrm flipH="1" flipV="1">
            <a:off x="543649" y="130604"/>
            <a:ext cx="0" cy="307269"/>
          </a:xfrm>
          <a:prstGeom prst="line">
            <a:avLst/>
          </a:prstGeom>
          <a:noFill/>
          <a:ln w="19050">
            <a:solidFill>
              <a:srgbClr val="004098"/>
            </a:solidFill>
            <a:prstDash val="dash"/>
            <a:round/>
          </a:ln>
          <a:extLst>
            <a:ext uri="{909E8E84-426E-40DD-AFC4-6F175D3DCCD1}">
              <a14:hiddenFill xmlns:a14="http://schemas.microsoft.com/office/drawing/2010/main">
                <a:noFill/>
              </a14:hiddenFill>
            </a:ext>
          </a:extLst>
        </p:spPr>
        <p:txBody>
          <a:bodyPr/>
          <a:lstStyle/>
          <a:p>
            <a:endParaRPr lang="zh-CN" altLang="en-US" sz="776" dirty="0"/>
          </a:p>
        </p:txBody>
      </p:sp>
      <p:sp>
        <p:nvSpPr>
          <p:cNvPr id="74" name="矩形: 圆角 18">
            <a:extLst>
              <a:ext uri="{FF2B5EF4-FFF2-40B4-BE49-F238E27FC236}">
                <a16:creationId xmlns="" xmlns:a16="http://schemas.microsoft.com/office/drawing/2014/main" id="{7C923056-96D1-FDBC-A663-A1F8635BC91E}"/>
              </a:ext>
            </a:extLst>
          </p:cNvPr>
          <p:cNvSpPr/>
          <p:nvPr/>
        </p:nvSpPr>
        <p:spPr>
          <a:xfrm flipV="1">
            <a:off x="140988" y="434975"/>
            <a:ext cx="2164062" cy="31919"/>
          </a:xfrm>
          <a:prstGeom prst="roundRect">
            <a:avLst>
              <a:gd name="adj" fmla="val 50000"/>
            </a:avLst>
          </a:prstGeom>
          <a:solidFill>
            <a:srgbClr val="0040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90">
              <a:solidFill>
                <a:srgbClr val="004098"/>
              </a:solidFill>
              <a:latin typeface="字体视界-NWE粗楷体" panose="02000500000000000000" pitchFamily="2" charset="-122"/>
              <a:ea typeface="字体视界-NWE粗楷体" panose="02000500000000000000" pitchFamily="2" charset="-122"/>
            </a:endParaRPr>
          </a:p>
        </p:txBody>
      </p:sp>
      <p:sp>
        <p:nvSpPr>
          <p:cNvPr id="2" name="矩形 1">
            <a:extLst>
              <a:ext uri="{FF2B5EF4-FFF2-40B4-BE49-F238E27FC236}">
                <a16:creationId xmlns="" xmlns:a16="http://schemas.microsoft.com/office/drawing/2014/main" id="{2DDA2483-2DC3-5CBB-C68F-148E6C9B4647}"/>
              </a:ext>
            </a:extLst>
          </p:cNvPr>
          <p:cNvSpPr/>
          <p:nvPr/>
        </p:nvSpPr>
        <p:spPr>
          <a:xfrm>
            <a:off x="1565401" y="587375"/>
            <a:ext cx="3038349" cy="2585323"/>
          </a:xfrm>
          <a:prstGeom prst="rect">
            <a:avLst/>
          </a:prstGeom>
        </p:spPr>
        <p:txBody>
          <a:bodyPr wrap="square">
            <a:spAutoFit/>
          </a:bodyPr>
          <a:lstStyle/>
          <a:p>
            <a:r>
              <a:rPr lang="zh-CN" altLang="en-US" sz="1200" b="1" dirty="0">
                <a:solidFill>
                  <a:srgbClr val="121212"/>
                </a:solidFill>
                <a:latin typeface="微软雅黑" panose="020B0503020204020204" pitchFamily="34" charset="-122"/>
                <a:ea typeface="微软雅黑" panose="020B0503020204020204" pitchFamily="34" charset="-122"/>
              </a:rPr>
              <a:t>弗罗伦斯</a:t>
            </a:r>
            <a:r>
              <a:rPr lang="en-US" altLang="zh-CN" sz="1200" b="1" dirty="0">
                <a:solidFill>
                  <a:srgbClr val="121212"/>
                </a:solidFill>
                <a:latin typeface="微软雅黑" panose="020B0503020204020204" pitchFamily="34" charset="-122"/>
                <a:ea typeface="微软雅黑" panose="020B0503020204020204" pitchFamily="34" charset="-122"/>
              </a:rPr>
              <a:t>·</a:t>
            </a:r>
            <a:r>
              <a:rPr lang="zh-CN" altLang="en-US" sz="1200" b="1" dirty="0">
                <a:solidFill>
                  <a:srgbClr val="121212"/>
                </a:solidFill>
                <a:latin typeface="微软雅黑" panose="020B0503020204020204" pitchFamily="34" charset="-122"/>
                <a:ea typeface="微软雅黑" panose="020B0503020204020204" pitchFamily="34" charset="-122"/>
              </a:rPr>
              <a:t>南丁格尔</a:t>
            </a:r>
            <a:r>
              <a:rPr lang="zh-CN" altLang="en-US" sz="1200" dirty="0">
                <a:solidFill>
                  <a:srgbClr val="121212"/>
                </a:solidFill>
                <a:latin typeface="微软雅黑" panose="020B0503020204020204" pitchFamily="34" charset="-122"/>
                <a:ea typeface="微软雅黑" panose="020B0503020204020204" pitchFamily="34" charset="-122"/>
              </a:rPr>
              <a:t>（</a:t>
            </a:r>
            <a:r>
              <a:rPr lang="en-US" altLang="zh-CN" sz="1200" dirty="0">
                <a:solidFill>
                  <a:srgbClr val="121212"/>
                </a:solidFill>
                <a:latin typeface="微软雅黑" panose="020B0503020204020204" pitchFamily="34" charset="-122"/>
                <a:ea typeface="微软雅黑" panose="020B0503020204020204" pitchFamily="34" charset="-122"/>
              </a:rPr>
              <a:t>Florence Nightingale</a:t>
            </a:r>
            <a:r>
              <a:rPr lang="zh-CN" altLang="en-US" sz="1200" dirty="0">
                <a:solidFill>
                  <a:srgbClr val="121212"/>
                </a:solidFill>
                <a:latin typeface="微软雅黑" panose="020B0503020204020204" pitchFamily="34" charset="-122"/>
                <a:ea typeface="微软雅黑" panose="020B0503020204020204" pitchFamily="34" charset="-122"/>
              </a:rPr>
              <a:t>，</a:t>
            </a:r>
            <a:r>
              <a:rPr lang="en-US" altLang="zh-CN" sz="1200" dirty="0">
                <a:solidFill>
                  <a:srgbClr val="121212"/>
                </a:solidFill>
                <a:latin typeface="微软雅黑" panose="020B0503020204020204" pitchFamily="34" charset="-122"/>
                <a:ea typeface="微软雅黑" panose="020B0503020204020204" pitchFamily="34" charset="-122"/>
              </a:rPr>
              <a:t>1820</a:t>
            </a:r>
            <a:r>
              <a:rPr lang="zh-CN" altLang="en-US" sz="1200" dirty="0">
                <a:solidFill>
                  <a:srgbClr val="121212"/>
                </a:solidFill>
                <a:latin typeface="微软雅黑" panose="020B0503020204020204" pitchFamily="34" charset="-122"/>
                <a:ea typeface="微软雅黑" panose="020B0503020204020204" pitchFamily="34" charset="-122"/>
              </a:rPr>
              <a:t>年</a:t>
            </a:r>
            <a:r>
              <a:rPr lang="en-US" altLang="zh-CN" sz="1200" dirty="0">
                <a:solidFill>
                  <a:srgbClr val="121212"/>
                </a:solidFill>
                <a:latin typeface="微软雅黑" panose="020B0503020204020204" pitchFamily="34" charset="-122"/>
                <a:ea typeface="微软雅黑" panose="020B0503020204020204" pitchFamily="34" charset="-122"/>
              </a:rPr>
              <a:t>5</a:t>
            </a:r>
            <a:r>
              <a:rPr lang="zh-CN" altLang="en-US" sz="1200" dirty="0">
                <a:solidFill>
                  <a:srgbClr val="121212"/>
                </a:solidFill>
                <a:latin typeface="微软雅黑" panose="020B0503020204020204" pitchFamily="34" charset="-122"/>
                <a:ea typeface="微软雅黑" panose="020B0503020204020204" pitchFamily="34" charset="-122"/>
              </a:rPr>
              <a:t>月</a:t>
            </a:r>
            <a:r>
              <a:rPr lang="en-US" altLang="zh-CN" sz="1200" dirty="0">
                <a:solidFill>
                  <a:srgbClr val="121212"/>
                </a:solidFill>
                <a:latin typeface="微软雅黑" panose="020B0503020204020204" pitchFamily="34" charset="-122"/>
                <a:ea typeface="微软雅黑" panose="020B0503020204020204" pitchFamily="34" charset="-122"/>
              </a:rPr>
              <a:t>12</a:t>
            </a:r>
            <a:r>
              <a:rPr lang="zh-CN" altLang="en-US" sz="1200" dirty="0">
                <a:solidFill>
                  <a:srgbClr val="121212"/>
                </a:solidFill>
                <a:latin typeface="微软雅黑" panose="020B0503020204020204" pitchFamily="34" charset="-122"/>
                <a:ea typeface="微软雅黑" panose="020B0503020204020204" pitchFamily="34" charset="-122"/>
              </a:rPr>
              <a:t>日－</a:t>
            </a:r>
            <a:r>
              <a:rPr lang="en-US" altLang="zh-CN" sz="1200" dirty="0">
                <a:solidFill>
                  <a:srgbClr val="121212"/>
                </a:solidFill>
                <a:latin typeface="微软雅黑" panose="020B0503020204020204" pitchFamily="34" charset="-122"/>
                <a:ea typeface="微软雅黑" panose="020B0503020204020204" pitchFamily="34" charset="-122"/>
              </a:rPr>
              <a:t>1910</a:t>
            </a:r>
            <a:r>
              <a:rPr lang="zh-CN" altLang="en-US" sz="1200" dirty="0">
                <a:solidFill>
                  <a:srgbClr val="121212"/>
                </a:solidFill>
                <a:latin typeface="微软雅黑" panose="020B0503020204020204" pitchFamily="34" charset="-122"/>
                <a:ea typeface="微软雅黑" panose="020B0503020204020204" pitchFamily="34" charset="-122"/>
              </a:rPr>
              <a:t>年</a:t>
            </a:r>
            <a:r>
              <a:rPr lang="en-US" altLang="zh-CN" sz="1200" dirty="0">
                <a:solidFill>
                  <a:srgbClr val="121212"/>
                </a:solidFill>
                <a:latin typeface="微软雅黑" panose="020B0503020204020204" pitchFamily="34" charset="-122"/>
                <a:ea typeface="微软雅黑" panose="020B0503020204020204" pitchFamily="34" charset="-122"/>
              </a:rPr>
              <a:t>8</a:t>
            </a:r>
            <a:r>
              <a:rPr lang="zh-CN" altLang="en-US" sz="1200" dirty="0">
                <a:solidFill>
                  <a:srgbClr val="121212"/>
                </a:solidFill>
                <a:latin typeface="微软雅黑" panose="020B0503020204020204" pitchFamily="34" charset="-122"/>
                <a:ea typeface="微软雅黑" panose="020B0503020204020204" pitchFamily="34" charset="-122"/>
              </a:rPr>
              <a:t>月</a:t>
            </a:r>
            <a:r>
              <a:rPr lang="en-US" altLang="zh-CN" sz="1200" dirty="0">
                <a:solidFill>
                  <a:srgbClr val="121212"/>
                </a:solidFill>
                <a:latin typeface="微软雅黑" panose="020B0503020204020204" pitchFamily="34" charset="-122"/>
                <a:ea typeface="微软雅黑" panose="020B0503020204020204" pitchFamily="34" charset="-122"/>
              </a:rPr>
              <a:t>13</a:t>
            </a:r>
            <a:r>
              <a:rPr lang="zh-CN" altLang="en-US" sz="1200" dirty="0">
                <a:solidFill>
                  <a:srgbClr val="121212"/>
                </a:solidFill>
                <a:latin typeface="微软雅黑" panose="020B0503020204020204" pitchFamily="34" charset="-122"/>
                <a:ea typeface="微软雅黑" panose="020B0503020204020204" pitchFamily="34" charset="-122"/>
              </a:rPr>
              <a:t>日），英国护士和统计学家。</a:t>
            </a:r>
            <a:endParaRPr lang="en-US" altLang="zh-CN" sz="1200" dirty="0">
              <a:solidFill>
                <a:srgbClr val="121212"/>
              </a:solidFill>
              <a:latin typeface="微软雅黑" panose="020B0503020204020204" pitchFamily="34" charset="-122"/>
              <a:ea typeface="微软雅黑" panose="020B0503020204020204" pitchFamily="34" charset="-122"/>
            </a:endParaRPr>
          </a:p>
          <a:p>
            <a:endParaRPr lang="en-US" altLang="zh-CN" dirty="0">
              <a:solidFill>
                <a:srgbClr val="121212"/>
              </a:solidFill>
              <a:latin typeface="微软雅黑" panose="020B0503020204020204" pitchFamily="34" charset="-122"/>
              <a:ea typeface="微软雅黑" panose="020B0503020204020204" pitchFamily="34" charset="-122"/>
            </a:endParaRPr>
          </a:p>
          <a:p>
            <a:r>
              <a:rPr lang="en-US" altLang="zh-CN" sz="1200" dirty="0">
                <a:solidFill>
                  <a:srgbClr val="121212"/>
                </a:solidFill>
                <a:latin typeface="微软雅黑" panose="020B0503020204020204" pitchFamily="34" charset="-122"/>
                <a:ea typeface="微软雅黑" panose="020B0503020204020204" pitchFamily="34" charset="-122"/>
              </a:rPr>
              <a:t>(1)</a:t>
            </a:r>
            <a:r>
              <a:rPr lang="zh-CN" altLang="en-US" sz="1200" dirty="0">
                <a:latin typeface="微软雅黑" panose="020B0503020204020204" pitchFamily="34" charset="-122"/>
                <a:ea typeface="微软雅黑" panose="020B0503020204020204" pitchFamily="34" charset="-122"/>
              </a:rPr>
              <a:t>南丁格尔奖，提灯女士奖（</a:t>
            </a:r>
            <a:r>
              <a:rPr lang="en-US" altLang="zh-CN" sz="1200" dirty="0">
                <a:latin typeface="微软雅黑" panose="020B0503020204020204" pitchFamily="34" charset="-122"/>
                <a:ea typeface="微软雅黑" panose="020B0503020204020204" pitchFamily="34" charset="-122"/>
              </a:rPr>
              <a:t>5</a:t>
            </a:r>
            <a:r>
              <a:rPr lang="zh-CN" altLang="en-US" sz="1200" dirty="0">
                <a:latin typeface="微软雅黑" panose="020B0503020204020204" pitchFamily="34" charset="-122"/>
                <a:ea typeface="微软雅黑" panose="020B0503020204020204" pitchFamily="34" charset="-122"/>
              </a:rPr>
              <a:t>月</a:t>
            </a:r>
            <a:r>
              <a:rPr lang="en-US" altLang="zh-CN" sz="1200" dirty="0">
                <a:latin typeface="微软雅黑" panose="020B0503020204020204" pitchFamily="34" charset="-122"/>
                <a:ea typeface="微软雅黑" panose="020B0503020204020204" pitchFamily="34" charset="-122"/>
              </a:rPr>
              <a:t>12</a:t>
            </a:r>
            <a:r>
              <a:rPr lang="zh-CN" altLang="en-US" sz="1200" dirty="0">
                <a:latin typeface="微软雅黑" panose="020B0503020204020204" pitchFamily="34" charset="-122"/>
                <a:ea typeface="微软雅黑" panose="020B0503020204020204" pitchFamily="34" charset="-122"/>
              </a:rPr>
              <a:t>日）</a:t>
            </a:r>
            <a:endParaRPr lang="en-US" altLang="zh-CN" sz="1200" dirty="0">
              <a:latin typeface="微软雅黑" panose="020B0503020204020204" pitchFamily="34" charset="-122"/>
              <a:ea typeface="微软雅黑" panose="020B0503020204020204" pitchFamily="34" charset="-122"/>
            </a:endParaRPr>
          </a:p>
          <a:p>
            <a:r>
              <a:rPr lang="en-US" altLang="zh-CN" sz="1200" dirty="0">
                <a:solidFill>
                  <a:srgbClr val="121212"/>
                </a:solidFill>
                <a:latin typeface="微软雅黑" panose="020B0503020204020204" pitchFamily="34" charset="-122"/>
                <a:ea typeface="微软雅黑" panose="020B0503020204020204" pitchFamily="34" charset="-122"/>
              </a:rPr>
              <a:t>(2)</a:t>
            </a:r>
            <a:r>
              <a:rPr lang="zh-CN" altLang="en-US" sz="1200" b="1" dirty="0">
                <a:latin typeface="微软雅黑" panose="020B0503020204020204" pitchFamily="34" charset="-122"/>
                <a:ea typeface="微软雅黑" panose="020B0503020204020204" pitchFamily="34" charset="-122"/>
              </a:rPr>
              <a:t>南丁格尔玫瑰图</a:t>
            </a:r>
            <a:endParaRPr lang="en-US" altLang="zh-CN" sz="1200" b="1" dirty="0">
              <a:latin typeface="微软雅黑" panose="020B0503020204020204" pitchFamily="34" charset="-122"/>
              <a:ea typeface="微软雅黑" panose="020B0503020204020204" pitchFamily="34" charset="-122"/>
            </a:endParaRPr>
          </a:p>
          <a:p>
            <a:endParaRPr lang="en-US" altLang="zh-CN" sz="1200" dirty="0">
              <a:solidFill>
                <a:srgbClr val="121212"/>
              </a:solidFill>
              <a:latin typeface="微软雅黑" panose="020B0503020204020204" pitchFamily="34" charset="-122"/>
              <a:ea typeface="微软雅黑" panose="020B0503020204020204" pitchFamily="34" charset="-122"/>
            </a:endParaRPr>
          </a:p>
          <a:p>
            <a:r>
              <a:rPr lang="zh-CN" altLang="en-US" sz="1200" b="1" dirty="0">
                <a:latin typeface="微软雅黑" panose="020B0503020204020204" pitchFamily="34" charset="-122"/>
                <a:ea typeface="微软雅黑" panose="020B0503020204020204" pitchFamily="34" charset="-122"/>
              </a:rPr>
              <a:t>南丁格尔是视觉表现和统计图形的先驱。</a:t>
            </a:r>
            <a:r>
              <a:rPr lang="zh-CN" altLang="en-US" sz="1200" dirty="0">
                <a:latin typeface="微软雅黑" panose="020B0503020204020204" pitchFamily="34" charset="-122"/>
                <a:ea typeface="微软雅黑" panose="020B0503020204020204" pitchFamily="34" charset="-122"/>
              </a:rPr>
              <a:t>南丁格尔被描述为“</a:t>
            </a:r>
            <a:r>
              <a:rPr lang="zh-CN" altLang="en-US" sz="1200" b="1" dirty="0">
                <a:latin typeface="微软雅黑" panose="020B0503020204020204" pitchFamily="34" charset="-122"/>
                <a:ea typeface="微软雅黑" panose="020B0503020204020204" pitchFamily="34" charset="-122"/>
              </a:rPr>
              <a:t>在统计的图形显示方法上，是一个真正的先驱</a:t>
            </a:r>
            <a:r>
              <a:rPr lang="zh-CN" altLang="en-US" sz="1200" dirty="0">
                <a:latin typeface="微软雅黑" panose="020B0503020204020204" pitchFamily="34" charset="-122"/>
                <a:ea typeface="微软雅黑" panose="020B0503020204020204" pitchFamily="34" charset="-122"/>
              </a:rPr>
              <a:t>”，</a:t>
            </a:r>
            <a:r>
              <a:rPr lang="zh-CN" altLang="en-US" sz="1200" b="1" dirty="0">
                <a:latin typeface="微软雅黑" panose="020B0503020204020204" pitchFamily="34" charset="-122"/>
                <a:ea typeface="微软雅黑" panose="020B0503020204020204" pitchFamily="34" charset="-122"/>
              </a:rPr>
              <a:t>她发展出极座标图饼图的形式，或称为南丁格尔玫瑰图</a:t>
            </a:r>
            <a:r>
              <a:rPr lang="zh-CN" altLang="en-US" sz="1200" dirty="0">
                <a:latin typeface="微软雅黑" panose="020B0503020204020204" pitchFamily="34" charset="-122"/>
                <a:ea typeface="微软雅黑" panose="020B0503020204020204" pitchFamily="34" charset="-122"/>
              </a:rPr>
              <a:t>。克里米亚战争时，整理资料，</a:t>
            </a:r>
            <a:r>
              <a:rPr lang="zh-CN" altLang="en-US" sz="1200">
                <a:latin typeface="微软雅黑" panose="020B0503020204020204" pitchFamily="34" charset="-122"/>
                <a:ea typeface="微软雅黑" panose="020B0503020204020204" pitchFamily="34" charset="-122"/>
              </a:rPr>
              <a:t>反应</a:t>
            </a:r>
            <a:r>
              <a:rPr lang="zh-CN" altLang="en-US" sz="1200" smtClean="0">
                <a:latin typeface="微软雅黑" panose="020B0503020204020204" pitchFamily="34" charset="-122"/>
                <a:ea typeface="微软雅黑" panose="020B0503020204020204" pitchFamily="34" charset="-122"/>
              </a:rPr>
              <a:t>病人死亡率</a:t>
            </a:r>
            <a:r>
              <a:rPr lang="zh-CN" altLang="en-US" sz="1200" dirty="0">
                <a:latin typeface="微软雅黑" panose="020B0503020204020204" pitchFamily="34" charset="-122"/>
                <a:ea typeface="微软雅黑" panose="020B0503020204020204" pitchFamily="34" charset="-122"/>
              </a:rPr>
              <a:t>在不同季节有变化。</a:t>
            </a:r>
          </a:p>
        </p:txBody>
      </p:sp>
      <p:pic>
        <p:nvPicPr>
          <p:cNvPr id="3" name="图片 2">
            <a:extLst>
              <a:ext uri="{FF2B5EF4-FFF2-40B4-BE49-F238E27FC236}">
                <a16:creationId xmlns="" xmlns:a16="http://schemas.microsoft.com/office/drawing/2014/main" id="{EDF115C3-17DE-F1F9-A2FD-F31607840326}"/>
              </a:ext>
            </a:extLst>
          </p:cNvPr>
          <p:cNvPicPr>
            <a:picLocks noChangeAspect="1"/>
          </p:cNvPicPr>
          <p:nvPr/>
        </p:nvPicPr>
        <p:blipFill>
          <a:blip r:embed="rId3"/>
          <a:stretch>
            <a:fillRect/>
          </a:stretch>
        </p:blipFill>
        <p:spPr>
          <a:xfrm>
            <a:off x="232620" y="626059"/>
            <a:ext cx="1260000" cy="1748458"/>
          </a:xfrm>
          <a:prstGeom prst="rect">
            <a:avLst/>
          </a:prstGeom>
        </p:spPr>
      </p:pic>
      <p:sp>
        <p:nvSpPr>
          <p:cNvPr id="4" name="矩形: 剪去对角 3">
            <a:extLst>
              <a:ext uri="{FF2B5EF4-FFF2-40B4-BE49-F238E27FC236}">
                <a16:creationId xmlns="" xmlns:a16="http://schemas.microsoft.com/office/drawing/2014/main" id="{09413045-71CF-5E63-E588-97D2CC7054DC}"/>
              </a:ext>
            </a:extLst>
          </p:cNvPr>
          <p:cNvSpPr/>
          <p:nvPr/>
        </p:nvSpPr>
        <p:spPr>
          <a:xfrm flipH="1">
            <a:off x="4028926" y="3213260"/>
            <a:ext cx="581174" cy="247490"/>
          </a:xfrm>
          <a:prstGeom prst="snip2DiagRect">
            <a:avLst>
              <a:gd name="adj1" fmla="val 0"/>
              <a:gd name="adj2" fmla="val 50000"/>
            </a:avLst>
          </a:prstGeom>
          <a:solidFill>
            <a:srgbClr val="0040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5751"/>
            <a:endParaRPr lang="zh-CN" altLang="en-US" sz="681">
              <a:solidFill>
                <a:prstClr val="white"/>
              </a:solidFill>
              <a:latin typeface="等线"/>
              <a:ea typeface="等线" panose="02010600030101010101" pitchFamily="2" charset="-122"/>
            </a:endParaRPr>
          </a:p>
        </p:txBody>
      </p:sp>
      <p:sp>
        <p:nvSpPr>
          <p:cNvPr id="5" name="矩形: 剪去对角 4">
            <a:extLst>
              <a:ext uri="{FF2B5EF4-FFF2-40B4-BE49-F238E27FC236}">
                <a16:creationId xmlns="" xmlns:a16="http://schemas.microsoft.com/office/drawing/2014/main" id="{A3E9B6FA-9F5F-576B-E4BA-1A63B6B58020}"/>
              </a:ext>
            </a:extLst>
          </p:cNvPr>
          <p:cNvSpPr/>
          <p:nvPr/>
        </p:nvSpPr>
        <p:spPr>
          <a:xfrm>
            <a:off x="0" y="3216860"/>
            <a:ext cx="607805" cy="247490"/>
          </a:xfrm>
          <a:prstGeom prst="snip2DiagRect">
            <a:avLst>
              <a:gd name="adj1" fmla="val 0"/>
              <a:gd name="adj2" fmla="val 50000"/>
            </a:avLst>
          </a:prstGeom>
          <a:solidFill>
            <a:srgbClr val="0040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5751"/>
            <a:endParaRPr lang="zh-CN" altLang="en-US" sz="681">
              <a:solidFill>
                <a:prstClr val="white"/>
              </a:solidFill>
              <a:latin typeface="等线"/>
              <a:ea typeface="等线" panose="02010600030101010101" pitchFamily="2" charset="-122"/>
            </a:endParaRPr>
          </a:p>
        </p:txBody>
      </p:sp>
      <p:sp>
        <p:nvSpPr>
          <p:cNvPr id="6" name="矩形 5">
            <a:extLst>
              <a:ext uri="{FF2B5EF4-FFF2-40B4-BE49-F238E27FC236}">
                <a16:creationId xmlns="" xmlns:a16="http://schemas.microsoft.com/office/drawing/2014/main" id="{4C0240E2-48FA-78E8-EF5B-9A3F462CEE20}"/>
              </a:ext>
            </a:extLst>
          </p:cNvPr>
          <p:cNvSpPr/>
          <p:nvPr/>
        </p:nvSpPr>
        <p:spPr>
          <a:xfrm>
            <a:off x="230" y="3376471"/>
            <a:ext cx="4609871" cy="120744"/>
          </a:xfrm>
          <a:prstGeom prst="rect">
            <a:avLst/>
          </a:prstGeom>
          <a:solidFill>
            <a:srgbClr val="004098"/>
          </a:solidFill>
          <a:ln>
            <a:noFill/>
          </a:ln>
        </p:spPr>
        <p:style>
          <a:lnRef idx="2">
            <a:schemeClr val="dk1">
              <a:shade val="50000"/>
            </a:schemeClr>
          </a:lnRef>
          <a:fillRef idx="1">
            <a:schemeClr val="dk1"/>
          </a:fillRef>
          <a:effectRef idx="0">
            <a:schemeClr val="dk1"/>
          </a:effectRef>
          <a:fontRef idx="minor">
            <a:schemeClr val="lt1"/>
          </a:fontRef>
        </p:style>
        <p:txBody>
          <a:bodyPr anchor="ctr"/>
          <a:lstStyle/>
          <a:p>
            <a:pPr algn="ctr" defTabSz="345612">
              <a:defRPr/>
            </a:pPr>
            <a:endParaRPr lang="zh-CN" altLang="en-US" sz="680">
              <a:solidFill>
                <a:prstClr val="white"/>
              </a:solidFill>
              <a:latin typeface="Constantia"/>
              <a:ea typeface="宋体" panose="02010600030101010101" pitchFamily="2" charset="-122"/>
            </a:endParaRPr>
          </a:p>
        </p:txBody>
      </p:sp>
      <p:pic>
        <p:nvPicPr>
          <p:cNvPr id="7" name="图片 6" descr="图片1">
            <a:extLst>
              <a:ext uri="{FF2B5EF4-FFF2-40B4-BE49-F238E27FC236}">
                <a16:creationId xmlns="" xmlns:a16="http://schemas.microsoft.com/office/drawing/2014/main" id="{47D1E593-6D22-0C96-1B0A-885AAF539D7E}"/>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32463" y="3390024"/>
            <a:ext cx="2523764" cy="84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图片 7" descr="图片1">
            <a:extLst>
              <a:ext uri="{FF2B5EF4-FFF2-40B4-BE49-F238E27FC236}">
                <a16:creationId xmlns="" xmlns:a16="http://schemas.microsoft.com/office/drawing/2014/main" id="{7EBEBFE1-660F-7E2B-3747-3FB513D8211F}"/>
              </a:ext>
            </a:extLst>
          </p:cNvPr>
          <p:cNvPicPr>
            <a:picLocks noChangeAspect="1"/>
          </p:cNvPicPr>
          <p:nvPr/>
        </p:nvPicPr>
        <p:blipFill>
          <a:blip r:embed="rId5" cstate="print">
            <a:extLst>
              <a:ext uri="{28A0092B-C50C-407E-A947-70E740481C1C}">
                <a14:useLocalDpi xmlns:a14="http://schemas.microsoft.com/office/drawing/2010/main" val="0"/>
              </a:ext>
            </a:extLst>
          </a:blip>
          <a:srcRect r="16708" b="7407"/>
          <a:stretch>
            <a:fillRect/>
          </a:stretch>
        </p:blipFill>
        <p:spPr bwMode="auto">
          <a:xfrm>
            <a:off x="2382909" y="3390856"/>
            <a:ext cx="2218800" cy="82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7964963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原创设计师QQ598969553      _2">
            <a:extLst>
              <a:ext uri="{FF2B5EF4-FFF2-40B4-BE49-F238E27FC236}">
                <a16:creationId xmlns="" xmlns:a16="http://schemas.microsoft.com/office/drawing/2014/main" id="{7C4725B1-D255-CC63-745B-0C08A542F8E6}"/>
              </a:ext>
            </a:extLst>
          </p:cNvPr>
          <p:cNvSpPr txBox="1"/>
          <p:nvPr/>
        </p:nvSpPr>
        <p:spPr>
          <a:xfrm>
            <a:off x="618435" y="185570"/>
            <a:ext cx="2267573" cy="204379"/>
          </a:xfrm>
          <a:prstGeom prst="rect">
            <a:avLst/>
          </a:prstGeom>
          <a:noFill/>
        </p:spPr>
        <p:txBody>
          <a:bodyPr wrap="square" lIns="34762" tIns="17381" rIns="34762" bIns="17381" rtlCol="0">
            <a:spAutoFit/>
          </a:bodyPr>
          <a:lstStyle/>
          <a:p>
            <a:r>
              <a:rPr lang="zh-CN" altLang="en-US" sz="1100" b="1" dirty="0">
                <a:latin typeface="微软雅黑" panose="020B0503020204020204" pitchFamily="34" charset="-122"/>
                <a:ea typeface="微软雅黑" panose="020B0503020204020204" pitchFamily="34" charset="-122"/>
              </a:rPr>
              <a:t>统计学习历史人物</a:t>
            </a:r>
          </a:p>
        </p:txBody>
      </p:sp>
      <p:grpSp>
        <p:nvGrpSpPr>
          <p:cNvPr id="68" name="原创设计师QQ598969553      _9">
            <a:extLst>
              <a:ext uri="{FF2B5EF4-FFF2-40B4-BE49-F238E27FC236}">
                <a16:creationId xmlns="" xmlns:a16="http://schemas.microsoft.com/office/drawing/2014/main" id="{EC33079E-1247-70DE-8763-3ACDD65E706D}"/>
              </a:ext>
            </a:extLst>
          </p:cNvPr>
          <p:cNvGrpSpPr/>
          <p:nvPr/>
        </p:nvGrpSpPr>
        <p:grpSpPr>
          <a:xfrm>
            <a:off x="188162" y="153558"/>
            <a:ext cx="304678" cy="243737"/>
            <a:chOff x="4268207" y="2118116"/>
            <a:chExt cx="2653566" cy="2214138"/>
          </a:xfrm>
        </p:grpSpPr>
        <p:grpSp>
          <p:nvGrpSpPr>
            <p:cNvPr id="69" name="组合 68">
              <a:extLst>
                <a:ext uri="{FF2B5EF4-FFF2-40B4-BE49-F238E27FC236}">
                  <a16:creationId xmlns="" xmlns:a16="http://schemas.microsoft.com/office/drawing/2014/main" id="{3866FBD5-A960-6794-8BA4-9DBBA9FC3AA3}"/>
                </a:ext>
              </a:extLst>
            </p:cNvPr>
            <p:cNvGrpSpPr/>
            <p:nvPr/>
          </p:nvGrpSpPr>
          <p:grpSpPr>
            <a:xfrm>
              <a:off x="4508674" y="2118116"/>
              <a:ext cx="2204282" cy="2204282"/>
              <a:chOff x="1517331" y="1125257"/>
              <a:chExt cx="2204282" cy="2204282"/>
            </a:xfrm>
          </p:grpSpPr>
          <p:sp>
            <p:nvSpPr>
              <p:cNvPr id="71" name="椭圆 70">
                <a:extLst>
                  <a:ext uri="{FF2B5EF4-FFF2-40B4-BE49-F238E27FC236}">
                    <a16:creationId xmlns="" xmlns:a16="http://schemas.microsoft.com/office/drawing/2014/main" id="{68A1054A-58A0-C11B-68D9-FA23D2B35325}"/>
                  </a:ext>
                </a:extLst>
              </p:cNvPr>
              <p:cNvSpPr/>
              <p:nvPr/>
            </p:nvSpPr>
            <p:spPr>
              <a:xfrm>
                <a:off x="1517331" y="1125257"/>
                <a:ext cx="2204282" cy="2204282"/>
              </a:xfrm>
              <a:prstGeom prst="ellipse">
                <a:avLst/>
              </a:prstGeom>
              <a:gradFill>
                <a:gsLst>
                  <a:gs pos="0">
                    <a:srgbClr val="EBEBEB"/>
                  </a:gs>
                  <a:gs pos="100000">
                    <a:srgbClr val="FEFEFE"/>
                  </a:gs>
                </a:gsLst>
                <a:lin ang="7530000" scaled="0"/>
              </a:gradFill>
              <a:ln w="12700">
                <a:solidFill>
                  <a:schemeClr val="bg1"/>
                </a:solidFill>
              </a:ln>
              <a:effectLst>
                <a:outerShdw blurRad="457200" dist="444500" dir="7800000" sx="89000" sy="89000" algn="tr" rotWithShape="0">
                  <a:prstClr val="black">
                    <a:alpha val="3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76">
                  <a:latin typeface="字体视界-NWE粗楷体" panose="02000500000000000000" pitchFamily="2" charset="-122"/>
                  <a:ea typeface="字体视界-NWE粗楷体" panose="02000500000000000000" pitchFamily="2" charset="-122"/>
                </a:endParaRPr>
              </a:p>
            </p:txBody>
          </p:sp>
          <p:sp>
            <p:nvSpPr>
              <p:cNvPr id="72" name="椭圆 71">
                <a:extLst>
                  <a:ext uri="{FF2B5EF4-FFF2-40B4-BE49-F238E27FC236}">
                    <a16:creationId xmlns="" xmlns:a16="http://schemas.microsoft.com/office/drawing/2014/main" id="{BFBCAB49-6A8C-B2B3-35ED-D6BBBED5CF8B}"/>
                  </a:ext>
                </a:extLst>
              </p:cNvPr>
              <p:cNvSpPr/>
              <p:nvPr/>
            </p:nvSpPr>
            <p:spPr>
              <a:xfrm>
                <a:off x="1719371" y="1344751"/>
                <a:ext cx="1800198" cy="1800200"/>
              </a:xfrm>
              <a:prstGeom prst="ellipse">
                <a:avLst/>
              </a:prstGeom>
              <a:solidFill>
                <a:srgbClr val="004098"/>
              </a:solidFill>
              <a:ln>
                <a:noFill/>
              </a:ln>
              <a:effectLst>
                <a:innerShdw blurRad="101600" dist="50800" dir="18900000">
                  <a:prstClr val="black">
                    <a:alpha val="43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76">
                  <a:latin typeface="字体视界-NWE粗楷体" panose="02000500000000000000" pitchFamily="2" charset="-122"/>
                  <a:ea typeface="字体视界-NWE粗楷体" panose="02000500000000000000" pitchFamily="2" charset="-122"/>
                </a:endParaRPr>
              </a:p>
            </p:txBody>
          </p:sp>
        </p:grpSp>
        <p:sp>
          <p:nvSpPr>
            <p:cNvPr id="70" name="TextBox 80">
              <a:extLst>
                <a:ext uri="{FF2B5EF4-FFF2-40B4-BE49-F238E27FC236}">
                  <a16:creationId xmlns="" xmlns:a16="http://schemas.microsoft.com/office/drawing/2014/main" id="{7A547AF7-EE79-5DEF-44B1-CF755100FDCC}"/>
                </a:ext>
              </a:extLst>
            </p:cNvPr>
            <p:cNvSpPr txBox="1"/>
            <p:nvPr/>
          </p:nvSpPr>
          <p:spPr>
            <a:xfrm>
              <a:off x="4268207" y="2408917"/>
              <a:ext cx="2653566" cy="1923337"/>
            </a:xfrm>
            <a:prstGeom prst="rect">
              <a:avLst/>
            </a:prstGeom>
            <a:noFill/>
          </p:spPr>
          <p:txBody>
            <a:bodyPr wrap="square" rtlCol="0">
              <a:spAutoFit/>
            </a:bodyPr>
            <a:lstStyle/>
            <a:p>
              <a:r>
                <a:rPr lang="en-US" altLang="zh-CN" sz="776" dirty="0">
                  <a:solidFill>
                    <a:schemeClr val="bg1"/>
                  </a:solidFill>
                  <a:latin typeface="字体视界-NWE粗楷体" panose="02000500000000000000" pitchFamily="2" charset="-122"/>
                  <a:ea typeface="字体视界-NWE粗楷体" panose="02000500000000000000" pitchFamily="2" charset="-122"/>
                </a:rPr>
                <a:t>08</a:t>
              </a:r>
            </a:p>
          </p:txBody>
        </p:sp>
      </p:grpSp>
      <p:sp>
        <p:nvSpPr>
          <p:cNvPr id="73" name="原创设计师QQ598969553      _12">
            <a:extLst>
              <a:ext uri="{FF2B5EF4-FFF2-40B4-BE49-F238E27FC236}">
                <a16:creationId xmlns="" xmlns:a16="http://schemas.microsoft.com/office/drawing/2014/main" id="{760473EF-0D78-F124-1B4B-A4A3255E7476}"/>
              </a:ext>
            </a:extLst>
          </p:cNvPr>
          <p:cNvSpPr>
            <a:spLocks noChangeShapeType="1"/>
          </p:cNvSpPr>
          <p:nvPr/>
        </p:nvSpPr>
        <p:spPr bwMode="auto">
          <a:xfrm flipH="1" flipV="1">
            <a:off x="543649" y="130604"/>
            <a:ext cx="0" cy="307269"/>
          </a:xfrm>
          <a:prstGeom prst="line">
            <a:avLst/>
          </a:prstGeom>
          <a:noFill/>
          <a:ln w="19050">
            <a:solidFill>
              <a:srgbClr val="004098"/>
            </a:solidFill>
            <a:prstDash val="dash"/>
            <a:round/>
          </a:ln>
          <a:extLst>
            <a:ext uri="{909E8E84-426E-40DD-AFC4-6F175D3DCCD1}">
              <a14:hiddenFill xmlns:a14="http://schemas.microsoft.com/office/drawing/2010/main">
                <a:noFill/>
              </a14:hiddenFill>
            </a:ext>
          </a:extLst>
        </p:spPr>
        <p:txBody>
          <a:bodyPr/>
          <a:lstStyle/>
          <a:p>
            <a:endParaRPr lang="zh-CN" altLang="en-US" sz="776" dirty="0"/>
          </a:p>
        </p:txBody>
      </p:sp>
      <p:sp>
        <p:nvSpPr>
          <p:cNvPr id="74" name="矩形: 圆角 18">
            <a:extLst>
              <a:ext uri="{FF2B5EF4-FFF2-40B4-BE49-F238E27FC236}">
                <a16:creationId xmlns="" xmlns:a16="http://schemas.microsoft.com/office/drawing/2014/main" id="{7C923056-96D1-FDBC-A663-A1F8635BC91E}"/>
              </a:ext>
            </a:extLst>
          </p:cNvPr>
          <p:cNvSpPr/>
          <p:nvPr/>
        </p:nvSpPr>
        <p:spPr>
          <a:xfrm flipV="1">
            <a:off x="140988" y="434975"/>
            <a:ext cx="2164062" cy="31919"/>
          </a:xfrm>
          <a:prstGeom prst="roundRect">
            <a:avLst>
              <a:gd name="adj" fmla="val 50000"/>
            </a:avLst>
          </a:prstGeom>
          <a:solidFill>
            <a:srgbClr val="0040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90">
              <a:solidFill>
                <a:srgbClr val="004098"/>
              </a:solidFill>
              <a:latin typeface="字体视界-NWE粗楷体" panose="02000500000000000000" pitchFamily="2" charset="-122"/>
              <a:ea typeface="字体视界-NWE粗楷体" panose="02000500000000000000" pitchFamily="2" charset="-122"/>
            </a:endParaRPr>
          </a:p>
        </p:txBody>
      </p:sp>
      <p:sp>
        <p:nvSpPr>
          <p:cNvPr id="4" name="object 2">
            <a:extLst>
              <a:ext uri="{FF2B5EF4-FFF2-40B4-BE49-F238E27FC236}">
                <a16:creationId xmlns="" xmlns:a16="http://schemas.microsoft.com/office/drawing/2014/main" id="{813F49DB-F1B5-88DB-EDD0-FD0DBBB1C588}"/>
              </a:ext>
            </a:extLst>
          </p:cNvPr>
          <p:cNvSpPr txBox="1">
            <a:spLocks/>
          </p:cNvSpPr>
          <p:nvPr/>
        </p:nvSpPr>
        <p:spPr>
          <a:xfrm>
            <a:off x="-819150" y="815975"/>
            <a:ext cx="3880727" cy="201978"/>
          </a:xfrm>
          <a:prstGeom prst="rect">
            <a:avLst/>
          </a:prstGeom>
        </p:spPr>
        <p:txBody>
          <a:bodyPr vert="horz" wrap="square" lIns="0" tIns="17145" rIns="0" bIns="0" rtlCol="0">
            <a:spAutoFit/>
          </a:bodyPr>
          <a:lstStyle>
            <a:lvl1pPr algn="l" defTabSz="394198" rtl="0" eaLnBrk="1" latinLnBrk="0" hangingPunct="1">
              <a:lnSpc>
                <a:spcPct val="90000"/>
              </a:lnSpc>
              <a:spcBef>
                <a:spcPct val="0"/>
              </a:spcBef>
              <a:buNone/>
              <a:defRPr sz="1897" kern="1200">
                <a:solidFill>
                  <a:schemeClr val="tx1"/>
                </a:solidFill>
                <a:latin typeface="+mj-lt"/>
                <a:ea typeface="+mj-ea"/>
                <a:cs typeface="+mj-cs"/>
              </a:defRPr>
            </a:lvl1pPr>
          </a:lstStyle>
          <a:p>
            <a:pPr marL="12700" algn="ctr">
              <a:lnSpc>
                <a:spcPct val="100000"/>
              </a:lnSpc>
              <a:spcBef>
                <a:spcPts val="135"/>
              </a:spcBef>
            </a:pPr>
            <a:r>
              <a:rPr lang="zh-CN" altLang="en-US" sz="1200" b="1" dirty="0"/>
              <a:t>南丁格尔玫瑰图</a:t>
            </a:r>
            <a:endParaRPr lang="zh-CN" altLang="en-US" sz="1200" spc="60" dirty="0">
              <a:solidFill>
                <a:srgbClr val="0000FF"/>
              </a:solidFill>
              <a:latin typeface="Times New Roman" panose="02020603050405020304" pitchFamily="18" charset="0"/>
              <a:cs typeface="Times New Roman" panose="02020603050405020304" pitchFamily="18" charset="0"/>
            </a:endParaRPr>
          </a:p>
        </p:txBody>
      </p:sp>
      <p:pic>
        <p:nvPicPr>
          <p:cNvPr id="5" name="Picture 4" descr="https://pic1.zhimg.com/80/v2-8ee72db8352cda9bd026c1a085750f28_720w.jpg">
            <a:extLst>
              <a:ext uri="{FF2B5EF4-FFF2-40B4-BE49-F238E27FC236}">
                <a16:creationId xmlns="" xmlns:a16="http://schemas.microsoft.com/office/drawing/2014/main" id="{95B978ED-5446-1072-DBF1-3BC01FD99CB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5400000">
            <a:off x="1624104" y="-100542"/>
            <a:ext cx="1519641" cy="43330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3941304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原创设计师QQ598969553      _2">
            <a:extLst>
              <a:ext uri="{FF2B5EF4-FFF2-40B4-BE49-F238E27FC236}">
                <a16:creationId xmlns="" xmlns:a16="http://schemas.microsoft.com/office/drawing/2014/main" id="{7C4725B1-D255-CC63-745B-0C08A542F8E6}"/>
              </a:ext>
            </a:extLst>
          </p:cNvPr>
          <p:cNvSpPr txBox="1"/>
          <p:nvPr/>
        </p:nvSpPr>
        <p:spPr>
          <a:xfrm>
            <a:off x="618435" y="185570"/>
            <a:ext cx="2267573" cy="204379"/>
          </a:xfrm>
          <a:prstGeom prst="rect">
            <a:avLst/>
          </a:prstGeom>
          <a:noFill/>
        </p:spPr>
        <p:txBody>
          <a:bodyPr wrap="square" lIns="34762" tIns="17381" rIns="34762" bIns="17381" rtlCol="0">
            <a:spAutoFit/>
          </a:bodyPr>
          <a:lstStyle/>
          <a:p>
            <a:r>
              <a:rPr lang="zh-CN" altLang="en-US" sz="1100" b="1" dirty="0">
                <a:latin typeface="微软雅黑" panose="020B0503020204020204" pitchFamily="34" charset="-122"/>
                <a:ea typeface="微软雅黑" panose="020B0503020204020204" pitchFamily="34" charset="-122"/>
              </a:rPr>
              <a:t>教材</a:t>
            </a:r>
          </a:p>
        </p:txBody>
      </p:sp>
      <p:grpSp>
        <p:nvGrpSpPr>
          <p:cNvPr id="68" name="原创设计师QQ598969553      _9">
            <a:extLst>
              <a:ext uri="{FF2B5EF4-FFF2-40B4-BE49-F238E27FC236}">
                <a16:creationId xmlns="" xmlns:a16="http://schemas.microsoft.com/office/drawing/2014/main" id="{EC33079E-1247-70DE-8763-3ACDD65E706D}"/>
              </a:ext>
            </a:extLst>
          </p:cNvPr>
          <p:cNvGrpSpPr/>
          <p:nvPr/>
        </p:nvGrpSpPr>
        <p:grpSpPr>
          <a:xfrm>
            <a:off x="188162" y="153558"/>
            <a:ext cx="304678" cy="243737"/>
            <a:chOff x="4268207" y="2118116"/>
            <a:chExt cx="2653566" cy="2214138"/>
          </a:xfrm>
        </p:grpSpPr>
        <p:grpSp>
          <p:nvGrpSpPr>
            <p:cNvPr id="69" name="组合 68">
              <a:extLst>
                <a:ext uri="{FF2B5EF4-FFF2-40B4-BE49-F238E27FC236}">
                  <a16:creationId xmlns="" xmlns:a16="http://schemas.microsoft.com/office/drawing/2014/main" id="{3866FBD5-A960-6794-8BA4-9DBBA9FC3AA3}"/>
                </a:ext>
              </a:extLst>
            </p:cNvPr>
            <p:cNvGrpSpPr/>
            <p:nvPr/>
          </p:nvGrpSpPr>
          <p:grpSpPr>
            <a:xfrm>
              <a:off x="4508674" y="2118116"/>
              <a:ext cx="2204282" cy="2204282"/>
              <a:chOff x="1517331" y="1125257"/>
              <a:chExt cx="2204282" cy="2204282"/>
            </a:xfrm>
          </p:grpSpPr>
          <p:sp>
            <p:nvSpPr>
              <p:cNvPr id="71" name="椭圆 70">
                <a:extLst>
                  <a:ext uri="{FF2B5EF4-FFF2-40B4-BE49-F238E27FC236}">
                    <a16:creationId xmlns="" xmlns:a16="http://schemas.microsoft.com/office/drawing/2014/main" id="{68A1054A-58A0-C11B-68D9-FA23D2B35325}"/>
                  </a:ext>
                </a:extLst>
              </p:cNvPr>
              <p:cNvSpPr/>
              <p:nvPr/>
            </p:nvSpPr>
            <p:spPr>
              <a:xfrm>
                <a:off x="1517331" y="1125257"/>
                <a:ext cx="2204282" cy="2204282"/>
              </a:xfrm>
              <a:prstGeom prst="ellipse">
                <a:avLst/>
              </a:prstGeom>
              <a:gradFill>
                <a:gsLst>
                  <a:gs pos="0">
                    <a:srgbClr val="EBEBEB"/>
                  </a:gs>
                  <a:gs pos="100000">
                    <a:srgbClr val="FEFEFE"/>
                  </a:gs>
                </a:gsLst>
                <a:lin ang="7530000" scaled="0"/>
              </a:gradFill>
              <a:ln w="12700">
                <a:solidFill>
                  <a:schemeClr val="bg1"/>
                </a:solidFill>
              </a:ln>
              <a:effectLst>
                <a:outerShdw blurRad="457200" dist="444500" dir="7800000" sx="89000" sy="89000" algn="tr" rotWithShape="0">
                  <a:prstClr val="black">
                    <a:alpha val="3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76">
                  <a:latin typeface="字体视界-NWE粗楷体" panose="02000500000000000000" pitchFamily="2" charset="-122"/>
                  <a:ea typeface="字体视界-NWE粗楷体" panose="02000500000000000000" pitchFamily="2" charset="-122"/>
                </a:endParaRPr>
              </a:p>
            </p:txBody>
          </p:sp>
          <p:sp>
            <p:nvSpPr>
              <p:cNvPr id="72" name="椭圆 71">
                <a:extLst>
                  <a:ext uri="{FF2B5EF4-FFF2-40B4-BE49-F238E27FC236}">
                    <a16:creationId xmlns="" xmlns:a16="http://schemas.microsoft.com/office/drawing/2014/main" id="{BFBCAB49-6A8C-B2B3-35ED-D6BBBED5CF8B}"/>
                  </a:ext>
                </a:extLst>
              </p:cNvPr>
              <p:cNvSpPr/>
              <p:nvPr/>
            </p:nvSpPr>
            <p:spPr>
              <a:xfrm>
                <a:off x="1719371" y="1344751"/>
                <a:ext cx="1800198" cy="1800200"/>
              </a:xfrm>
              <a:prstGeom prst="ellipse">
                <a:avLst/>
              </a:prstGeom>
              <a:solidFill>
                <a:srgbClr val="004098"/>
              </a:solidFill>
              <a:ln>
                <a:noFill/>
              </a:ln>
              <a:effectLst>
                <a:innerShdw blurRad="101600" dist="50800" dir="18900000">
                  <a:prstClr val="black">
                    <a:alpha val="43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76">
                  <a:latin typeface="字体视界-NWE粗楷体" panose="02000500000000000000" pitchFamily="2" charset="-122"/>
                  <a:ea typeface="字体视界-NWE粗楷体" panose="02000500000000000000" pitchFamily="2" charset="-122"/>
                </a:endParaRPr>
              </a:p>
            </p:txBody>
          </p:sp>
        </p:grpSp>
        <p:sp>
          <p:nvSpPr>
            <p:cNvPr id="70" name="TextBox 80">
              <a:extLst>
                <a:ext uri="{FF2B5EF4-FFF2-40B4-BE49-F238E27FC236}">
                  <a16:creationId xmlns="" xmlns:a16="http://schemas.microsoft.com/office/drawing/2014/main" id="{7A547AF7-EE79-5DEF-44B1-CF755100FDCC}"/>
                </a:ext>
              </a:extLst>
            </p:cNvPr>
            <p:cNvSpPr txBox="1"/>
            <p:nvPr/>
          </p:nvSpPr>
          <p:spPr>
            <a:xfrm>
              <a:off x="4268207" y="2408917"/>
              <a:ext cx="2653566" cy="1923337"/>
            </a:xfrm>
            <a:prstGeom prst="rect">
              <a:avLst/>
            </a:prstGeom>
            <a:noFill/>
          </p:spPr>
          <p:txBody>
            <a:bodyPr wrap="square" rtlCol="0">
              <a:spAutoFit/>
            </a:bodyPr>
            <a:lstStyle/>
            <a:p>
              <a:r>
                <a:rPr lang="en-US" altLang="zh-CN" sz="776" dirty="0">
                  <a:solidFill>
                    <a:schemeClr val="bg1"/>
                  </a:solidFill>
                  <a:latin typeface="字体视界-NWE粗楷体" panose="02000500000000000000" pitchFamily="2" charset="-122"/>
                  <a:ea typeface="字体视界-NWE粗楷体" panose="02000500000000000000" pitchFamily="2" charset="-122"/>
                </a:rPr>
                <a:t>09</a:t>
              </a:r>
            </a:p>
          </p:txBody>
        </p:sp>
      </p:grpSp>
      <p:sp>
        <p:nvSpPr>
          <p:cNvPr id="73" name="原创设计师QQ598969553      _12">
            <a:extLst>
              <a:ext uri="{FF2B5EF4-FFF2-40B4-BE49-F238E27FC236}">
                <a16:creationId xmlns="" xmlns:a16="http://schemas.microsoft.com/office/drawing/2014/main" id="{760473EF-0D78-F124-1B4B-A4A3255E7476}"/>
              </a:ext>
            </a:extLst>
          </p:cNvPr>
          <p:cNvSpPr>
            <a:spLocks noChangeShapeType="1"/>
          </p:cNvSpPr>
          <p:nvPr/>
        </p:nvSpPr>
        <p:spPr bwMode="auto">
          <a:xfrm flipH="1" flipV="1">
            <a:off x="543649" y="130604"/>
            <a:ext cx="0" cy="307269"/>
          </a:xfrm>
          <a:prstGeom prst="line">
            <a:avLst/>
          </a:prstGeom>
          <a:noFill/>
          <a:ln w="19050">
            <a:solidFill>
              <a:srgbClr val="004098"/>
            </a:solidFill>
            <a:prstDash val="dash"/>
            <a:round/>
          </a:ln>
          <a:extLst>
            <a:ext uri="{909E8E84-426E-40DD-AFC4-6F175D3DCCD1}">
              <a14:hiddenFill xmlns:a14="http://schemas.microsoft.com/office/drawing/2010/main">
                <a:noFill/>
              </a14:hiddenFill>
            </a:ext>
          </a:extLst>
        </p:spPr>
        <p:txBody>
          <a:bodyPr/>
          <a:lstStyle/>
          <a:p>
            <a:endParaRPr lang="zh-CN" altLang="en-US" sz="776" dirty="0"/>
          </a:p>
        </p:txBody>
      </p:sp>
      <p:sp>
        <p:nvSpPr>
          <p:cNvPr id="74" name="矩形: 圆角 18">
            <a:extLst>
              <a:ext uri="{FF2B5EF4-FFF2-40B4-BE49-F238E27FC236}">
                <a16:creationId xmlns="" xmlns:a16="http://schemas.microsoft.com/office/drawing/2014/main" id="{7C923056-96D1-FDBC-A663-A1F8635BC91E}"/>
              </a:ext>
            </a:extLst>
          </p:cNvPr>
          <p:cNvSpPr/>
          <p:nvPr/>
        </p:nvSpPr>
        <p:spPr>
          <a:xfrm flipV="1">
            <a:off x="140988" y="434975"/>
            <a:ext cx="2164062" cy="31919"/>
          </a:xfrm>
          <a:prstGeom prst="roundRect">
            <a:avLst>
              <a:gd name="adj" fmla="val 50000"/>
            </a:avLst>
          </a:prstGeom>
          <a:solidFill>
            <a:srgbClr val="0040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90">
              <a:solidFill>
                <a:srgbClr val="004098"/>
              </a:solidFill>
              <a:latin typeface="字体视界-NWE粗楷体" panose="02000500000000000000" pitchFamily="2" charset="-122"/>
              <a:ea typeface="字体视界-NWE粗楷体" panose="02000500000000000000" pitchFamily="2" charset="-122"/>
            </a:endParaRPr>
          </a:p>
        </p:txBody>
      </p:sp>
      <p:grpSp>
        <p:nvGrpSpPr>
          <p:cNvPr id="4" name="object 3">
            <a:extLst>
              <a:ext uri="{FF2B5EF4-FFF2-40B4-BE49-F238E27FC236}">
                <a16:creationId xmlns="" xmlns:a16="http://schemas.microsoft.com/office/drawing/2014/main" id="{D30D0C7B-981C-65FB-AF8E-722C1145393B}"/>
              </a:ext>
            </a:extLst>
          </p:cNvPr>
          <p:cNvGrpSpPr/>
          <p:nvPr/>
        </p:nvGrpSpPr>
        <p:grpSpPr>
          <a:xfrm>
            <a:off x="457200" y="582636"/>
            <a:ext cx="777240" cy="1306195"/>
            <a:chOff x="457200" y="529699"/>
            <a:chExt cx="777240" cy="1306195"/>
          </a:xfrm>
        </p:grpSpPr>
        <p:pic>
          <p:nvPicPr>
            <p:cNvPr id="5" name="object 4">
              <a:extLst>
                <a:ext uri="{FF2B5EF4-FFF2-40B4-BE49-F238E27FC236}">
                  <a16:creationId xmlns="" xmlns:a16="http://schemas.microsoft.com/office/drawing/2014/main" id="{EE57CBA7-252E-2BD7-858C-0A6013F31ECA}"/>
                </a:ext>
              </a:extLst>
            </p:cNvPr>
            <p:cNvPicPr/>
            <p:nvPr/>
          </p:nvPicPr>
          <p:blipFill>
            <a:blip r:embed="rId3" cstate="print"/>
            <a:stretch>
              <a:fillRect/>
            </a:stretch>
          </p:blipFill>
          <p:spPr>
            <a:xfrm>
              <a:off x="457200" y="529699"/>
              <a:ext cx="776688" cy="437582"/>
            </a:xfrm>
            <a:prstGeom prst="rect">
              <a:avLst/>
            </a:prstGeom>
          </p:spPr>
        </p:pic>
        <p:pic>
          <p:nvPicPr>
            <p:cNvPr id="6" name="object 5">
              <a:extLst>
                <a:ext uri="{FF2B5EF4-FFF2-40B4-BE49-F238E27FC236}">
                  <a16:creationId xmlns="" xmlns:a16="http://schemas.microsoft.com/office/drawing/2014/main" id="{F2630AD5-F4EF-EAB8-B34F-4964FBFDA047}"/>
                </a:ext>
              </a:extLst>
            </p:cNvPr>
            <p:cNvPicPr/>
            <p:nvPr/>
          </p:nvPicPr>
          <p:blipFill>
            <a:blip r:embed="rId4" cstate="print"/>
            <a:stretch>
              <a:fillRect/>
            </a:stretch>
          </p:blipFill>
          <p:spPr>
            <a:xfrm>
              <a:off x="457200" y="529699"/>
              <a:ext cx="776688" cy="37070"/>
            </a:xfrm>
            <a:prstGeom prst="rect">
              <a:avLst/>
            </a:prstGeom>
          </p:spPr>
        </p:pic>
        <p:pic>
          <p:nvPicPr>
            <p:cNvPr id="7" name="object 6">
              <a:extLst>
                <a:ext uri="{FF2B5EF4-FFF2-40B4-BE49-F238E27FC236}">
                  <a16:creationId xmlns="" xmlns:a16="http://schemas.microsoft.com/office/drawing/2014/main" id="{2943965D-6778-52C7-A452-B29119E0DAC5}"/>
                </a:ext>
              </a:extLst>
            </p:cNvPr>
            <p:cNvPicPr/>
            <p:nvPr/>
          </p:nvPicPr>
          <p:blipFill>
            <a:blip r:embed="rId5" cstate="print"/>
            <a:stretch>
              <a:fillRect/>
            </a:stretch>
          </p:blipFill>
          <p:spPr>
            <a:xfrm>
              <a:off x="457200" y="967282"/>
              <a:ext cx="418110" cy="406620"/>
            </a:xfrm>
            <a:prstGeom prst="rect">
              <a:avLst/>
            </a:prstGeom>
          </p:spPr>
        </p:pic>
        <p:pic>
          <p:nvPicPr>
            <p:cNvPr id="8" name="object 7">
              <a:extLst>
                <a:ext uri="{FF2B5EF4-FFF2-40B4-BE49-F238E27FC236}">
                  <a16:creationId xmlns="" xmlns:a16="http://schemas.microsoft.com/office/drawing/2014/main" id="{04C42127-DD7C-FB32-EA6B-0A07FF94E9A0}"/>
                </a:ext>
              </a:extLst>
            </p:cNvPr>
            <p:cNvPicPr/>
            <p:nvPr/>
          </p:nvPicPr>
          <p:blipFill>
            <a:blip r:embed="rId6" cstate="print"/>
            <a:stretch>
              <a:fillRect/>
            </a:stretch>
          </p:blipFill>
          <p:spPr>
            <a:xfrm>
              <a:off x="874080" y="967282"/>
              <a:ext cx="359806" cy="464751"/>
            </a:xfrm>
            <a:prstGeom prst="rect">
              <a:avLst/>
            </a:prstGeom>
          </p:spPr>
        </p:pic>
        <p:pic>
          <p:nvPicPr>
            <p:cNvPr id="9" name="object 8">
              <a:extLst>
                <a:ext uri="{FF2B5EF4-FFF2-40B4-BE49-F238E27FC236}">
                  <a16:creationId xmlns="" xmlns:a16="http://schemas.microsoft.com/office/drawing/2014/main" id="{534B1FDC-2A07-F4FC-B936-DFE0CB2BB2EC}"/>
                </a:ext>
              </a:extLst>
            </p:cNvPr>
            <p:cNvPicPr/>
            <p:nvPr/>
          </p:nvPicPr>
          <p:blipFill>
            <a:blip r:embed="rId7" cstate="print"/>
            <a:stretch>
              <a:fillRect/>
            </a:stretch>
          </p:blipFill>
          <p:spPr>
            <a:xfrm>
              <a:off x="457200" y="1372674"/>
              <a:ext cx="418110" cy="407330"/>
            </a:xfrm>
            <a:prstGeom prst="rect">
              <a:avLst/>
            </a:prstGeom>
          </p:spPr>
        </p:pic>
        <p:pic>
          <p:nvPicPr>
            <p:cNvPr id="10" name="object 9">
              <a:extLst>
                <a:ext uri="{FF2B5EF4-FFF2-40B4-BE49-F238E27FC236}">
                  <a16:creationId xmlns="" xmlns:a16="http://schemas.microsoft.com/office/drawing/2014/main" id="{4B63A55C-E925-F79A-1288-05D8F0B5D5C2}"/>
                </a:ext>
              </a:extLst>
            </p:cNvPr>
            <p:cNvPicPr/>
            <p:nvPr/>
          </p:nvPicPr>
          <p:blipFill>
            <a:blip r:embed="rId8" cstate="print"/>
            <a:stretch>
              <a:fillRect/>
            </a:stretch>
          </p:blipFill>
          <p:spPr>
            <a:xfrm>
              <a:off x="457200" y="1430806"/>
              <a:ext cx="776686" cy="404991"/>
            </a:xfrm>
            <a:prstGeom prst="rect">
              <a:avLst/>
            </a:prstGeom>
          </p:spPr>
        </p:pic>
      </p:grpSp>
      <p:sp>
        <p:nvSpPr>
          <p:cNvPr id="11" name="object 10">
            <a:extLst>
              <a:ext uri="{FF2B5EF4-FFF2-40B4-BE49-F238E27FC236}">
                <a16:creationId xmlns="" xmlns:a16="http://schemas.microsoft.com/office/drawing/2014/main" id="{B9DD9591-4AC6-9C20-812C-5FFCBE0D915B}"/>
              </a:ext>
            </a:extLst>
          </p:cNvPr>
          <p:cNvSpPr txBox="1"/>
          <p:nvPr/>
        </p:nvSpPr>
        <p:spPr>
          <a:xfrm>
            <a:off x="476573" y="671052"/>
            <a:ext cx="292735" cy="62865"/>
          </a:xfrm>
          <a:prstGeom prst="rect">
            <a:avLst/>
          </a:prstGeom>
        </p:spPr>
        <p:txBody>
          <a:bodyPr vert="horz" wrap="square" lIns="0" tIns="11430" rIns="0" bIns="0" rtlCol="0">
            <a:spAutoFit/>
          </a:bodyPr>
          <a:lstStyle/>
          <a:p>
            <a:pPr marL="12700">
              <a:lnSpc>
                <a:spcPct val="100000"/>
              </a:lnSpc>
              <a:spcBef>
                <a:spcPts val="90"/>
              </a:spcBef>
            </a:pPr>
            <a:r>
              <a:rPr sz="250" b="1" spc="-40" dirty="0">
                <a:solidFill>
                  <a:srgbClr val="FFC20E"/>
                </a:solidFill>
                <a:latin typeface="Trebuchet MS" panose="020B0603020202020204"/>
                <a:cs typeface="Trebuchet MS" panose="020B0603020202020204"/>
              </a:rPr>
              <a:t>Springer </a:t>
            </a:r>
            <a:r>
              <a:rPr sz="250" b="1" spc="-80" dirty="0">
                <a:solidFill>
                  <a:srgbClr val="FFC20E"/>
                </a:solidFill>
                <a:latin typeface="Trebuchet MS" panose="020B0603020202020204"/>
                <a:cs typeface="Trebuchet MS" panose="020B0603020202020204"/>
              </a:rPr>
              <a:t>T</a:t>
            </a:r>
            <a:r>
              <a:rPr sz="250" b="1" spc="-55" dirty="0">
                <a:solidFill>
                  <a:srgbClr val="FFC20E"/>
                </a:solidFill>
                <a:latin typeface="Trebuchet MS" panose="020B0603020202020204"/>
                <a:cs typeface="Trebuchet MS" panose="020B0603020202020204"/>
              </a:rPr>
              <a:t>e</a:t>
            </a:r>
            <a:r>
              <a:rPr sz="250" b="1" spc="-50" dirty="0">
                <a:solidFill>
                  <a:srgbClr val="FFC20E"/>
                </a:solidFill>
                <a:latin typeface="Trebuchet MS" panose="020B0603020202020204"/>
                <a:cs typeface="Trebuchet MS" panose="020B0603020202020204"/>
              </a:rPr>
              <a:t>x</a:t>
            </a:r>
            <a:r>
              <a:rPr sz="250" b="1" spc="-35" dirty="0">
                <a:solidFill>
                  <a:srgbClr val="FFC20E"/>
                </a:solidFill>
                <a:latin typeface="Trebuchet MS" panose="020B0603020202020204"/>
                <a:cs typeface="Trebuchet MS" panose="020B0603020202020204"/>
              </a:rPr>
              <a:t>ts in St</a:t>
            </a:r>
            <a:r>
              <a:rPr sz="250" b="1" spc="-45" dirty="0">
                <a:solidFill>
                  <a:srgbClr val="FFC20E"/>
                </a:solidFill>
                <a:latin typeface="Trebuchet MS" panose="020B0603020202020204"/>
                <a:cs typeface="Trebuchet MS" panose="020B0603020202020204"/>
              </a:rPr>
              <a:t>a</a:t>
            </a:r>
            <a:r>
              <a:rPr sz="250" b="1" spc="-35" dirty="0">
                <a:solidFill>
                  <a:srgbClr val="FFC20E"/>
                </a:solidFill>
                <a:latin typeface="Trebuchet MS" panose="020B0603020202020204"/>
                <a:cs typeface="Trebuchet MS" panose="020B0603020202020204"/>
              </a:rPr>
              <a:t>tistics</a:t>
            </a:r>
            <a:endParaRPr sz="250">
              <a:latin typeface="Trebuchet MS" panose="020B0603020202020204"/>
              <a:cs typeface="Trebuchet MS" panose="020B0603020202020204"/>
            </a:endParaRPr>
          </a:p>
        </p:txBody>
      </p:sp>
      <p:sp>
        <p:nvSpPr>
          <p:cNvPr id="12" name="object 11">
            <a:extLst>
              <a:ext uri="{FF2B5EF4-FFF2-40B4-BE49-F238E27FC236}">
                <a16:creationId xmlns="" xmlns:a16="http://schemas.microsoft.com/office/drawing/2014/main" id="{8A770256-E737-5CFC-4869-75CE97C5FE04}"/>
              </a:ext>
            </a:extLst>
          </p:cNvPr>
          <p:cNvSpPr txBox="1"/>
          <p:nvPr/>
        </p:nvSpPr>
        <p:spPr>
          <a:xfrm>
            <a:off x="476573" y="782630"/>
            <a:ext cx="516890" cy="639445"/>
          </a:xfrm>
          <a:prstGeom prst="rect">
            <a:avLst/>
          </a:prstGeom>
        </p:spPr>
        <p:txBody>
          <a:bodyPr vert="horz" wrap="square" lIns="0" tIns="21590" rIns="0" bIns="0" rtlCol="0">
            <a:spAutoFit/>
          </a:bodyPr>
          <a:lstStyle/>
          <a:p>
            <a:pPr marL="12700" marR="243840">
              <a:lnSpc>
                <a:spcPts val="380"/>
              </a:lnSpc>
              <a:spcBef>
                <a:spcPts val="170"/>
              </a:spcBef>
            </a:pPr>
            <a:r>
              <a:rPr sz="350" spc="-65" dirty="0">
                <a:solidFill>
                  <a:srgbClr val="FFFFFF"/>
                </a:solidFill>
                <a:latin typeface="Trebuchet MS" panose="020B0603020202020204"/>
                <a:cs typeface="Trebuchet MS" panose="020B0603020202020204"/>
              </a:rPr>
              <a:t>Ga</a:t>
            </a:r>
            <a:r>
              <a:rPr sz="350" spc="-45" dirty="0">
                <a:solidFill>
                  <a:srgbClr val="FFFFFF"/>
                </a:solidFill>
                <a:latin typeface="Trebuchet MS" panose="020B0603020202020204"/>
                <a:cs typeface="Trebuchet MS" panose="020B0603020202020204"/>
              </a:rPr>
              <a:t>r</a:t>
            </a:r>
            <a:r>
              <a:rPr sz="350" spc="-50" dirty="0">
                <a:solidFill>
                  <a:srgbClr val="FFFFFF"/>
                </a:solidFill>
                <a:latin typeface="Trebuchet MS" panose="020B0603020202020204"/>
                <a:cs typeface="Trebuchet MS" panose="020B0603020202020204"/>
              </a:rPr>
              <a:t>eth </a:t>
            </a:r>
            <a:r>
              <a:rPr sz="350" spc="-45" dirty="0">
                <a:solidFill>
                  <a:srgbClr val="FFFFFF"/>
                </a:solidFill>
                <a:latin typeface="Trebuchet MS" panose="020B0603020202020204"/>
                <a:cs typeface="Trebuchet MS" panose="020B0603020202020204"/>
              </a:rPr>
              <a:t>James  Daniela</a:t>
            </a:r>
            <a:r>
              <a:rPr sz="350" spc="-60" dirty="0">
                <a:solidFill>
                  <a:srgbClr val="FFFFFF"/>
                </a:solidFill>
                <a:latin typeface="Trebuchet MS" panose="020B0603020202020204"/>
                <a:cs typeface="Trebuchet MS" panose="020B0603020202020204"/>
              </a:rPr>
              <a:t> </a:t>
            </a:r>
            <a:r>
              <a:rPr sz="350" spc="-65" dirty="0">
                <a:solidFill>
                  <a:srgbClr val="FFFFFF"/>
                </a:solidFill>
                <a:latin typeface="Trebuchet MS" panose="020B0603020202020204"/>
                <a:cs typeface="Trebuchet MS" panose="020B0603020202020204"/>
              </a:rPr>
              <a:t>W</a:t>
            </a:r>
            <a:r>
              <a:rPr sz="350" spc="-40" dirty="0">
                <a:solidFill>
                  <a:srgbClr val="FFFFFF"/>
                </a:solidFill>
                <a:latin typeface="Trebuchet MS" panose="020B0603020202020204"/>
                <a:cs typeface="Trebuchet MS" panose="020B0603020202020204"/>
              </a:rPr>
              <a:t>it</a:t>
            </a:r>
            <a:r>
              <a:rPr sz="350" spc="-50" dirty="0">
                <a:solidFill>
                  <a:srgbClr val="FFFFFF"/>
                </a:solidFill>
                <a:latin typeface="Trebuchet MS" panose="020B0603020202020204"/>
                <a:cs typeface="Trebuchet MS" panose="020B0603020202020204"/>
              </a:rPr>
              <a:t>t</a:t>
            </a:r>
            <a:r>
              <a:rPr sz="350" spc="-40" dirty="0">
                <a:solidFill>
                  <a:srgbClr val="FFFFFF"/>
                </a:solidFill>
                <a:latin typeface="Trebuchet MS" panose="020B0603020202020204"/>
                <a:cs typeface="Trebuchet MS" panose="020B0603020202020204"/>
              </a:rPr>
              <a:t>en  </a:t>
            </a:r>
            <a:r>
              <a:rPr sz="350" spc="-95" dirty="0">
                <a:solidFill>
                  <a:srgbClr val="FFFFFF"/>
                </a:solidFill>
                <a:latin typeface="Trebuchet MS" panose="020B0603020202020204"/>
                <a:cs typeface="Trebuchet MS" panose="020B0603020202020204"/>
              </a:rPr>
              <a:t>T</a:t>
            </a:r>
            <a:r>
              <a:rPr sz="350" spc="-50" dirty="0">
                <a:solidFill>
                  <a:srgbClr val="FFFFFF"/>
                </a:solidFill>
                <a:latin typeface="Trebuchet MS" panose="020B0603020202020204"/>
                <a:cs typeface="Trebuchet MS" panose="020B0603020202020204"/>
              </a:rPr>
              <a:t>r</a:t>
            </a:r>
            <a:r>
              <a:rPr sz="350" spc="-55" dirty="0">
                <a:solidFill>
                  <a:srgbClr val="FFFFFF"/>
                </a:solidFill>
                <a:latin typeface="Trebuchet MS" panose="020B0603020202020204"/>
                <a:cs typeface="Trebuchet MS" panose="020B0603020202020204"/>
              </a:rPr>
              <a:t>ev</a:t>
            </a:r>
            <a:r>
              <a:rPr sz="350" spc="-45" dirty="0">
                <a:solidFill>
                  <a:srgbClr val="FFFFFF"/>
                </a:solidFill>
                <a:latin typeface="Trebuchet MS" panose="020B0603020202020204"/>
                <a:cs typeface="Trebuchet MS" panose="020B0603020202020204"/>
              </a:rPr>
              <a:t>or</a:t>
            </a:r>
            <a:r>
              <a:rPr sz="350" spc="-50" dirty="0">
                <a:solidFill>
                  <a:srgbClr val="FFFFFF"/>
                </a:solidFill>
                <a:latin typeface="Trebuchet MS" panose="020B0603020202020204"/>
                <a:cs typeface="Trebuchet MS" panose="020B0603020202020204"/>
              </a:rPr>
              <a:t> </a:t>
            </a:r>
            <a:r>
              <a:rPr sz="350" spc="-40" dirty="0">
                <a:solidFill>
                  <a:srgbClr val="FFFFFF"/>
                </a:solidFill>
                <a:latin typeface="Trebuchet MS" panose="020B0603020202020204"/>
                <a:cs typeface="Trebuchet MS" panose="020B0603020202020204"/>
              </a:rPr>
              <a:t>Hastie  </a:t>
            </a:r>
            <a:r>
              <a:rPr sz="350" spc="-55" dirty="0">
                <a:solidFill>
                  <a:srgbClr val="FFFFFF"/>
                </a:solidFill>
                <a:latin typeface="Trebuchet MS" panose="020B0603020202020204"/>
                <a:cs typeface="Trebuchet MS" panose="020B0603020202020204"/>
              </a:rPr>
              <a:t>Robe</a:t>
            </a:r>
            <a:r>
              <a:rPr sz="350" spc="-30" dirty="0">
                <a:solidFill>
                  <a:srgbClr val="FFFFFF"/>
                </a:solidFill>
                <a:latin typeface="Trebuchet MS" panose="020B0603020202020204"/>
                <a:cs typeface="Trebuchet MS" panose="020B0603020202020204"/>
              </a:rPr>
              <a:t>r</a:t>
            </a:r>
            <a:r>
              <a:rPr sz="350" spc="-45" dirty="0">
                <a:solidFill>
                  <a:srgbClr val="FFFFFF"/>
                </a:solidFill>
                <a:latin typeface="Trebuchet MS" panose="020B0603020202020204"/>
                <a:cs typeface="Trebuchet MS" panose="020B0603020202020204"/>
              </a:rPr>
              <a:t>t</a:t>
            </a:r>
            <a:r>
              <a:rPr sz="350" spc="-60" dirty="0">
                <a:solidFill>
                  <a:srgbClr val="FFFFFF"/>
                </a:solidFill>
                <a:latin typeface="Trebuchet MS" panose="020B0603020202020204"/>
                <a:cs typeface="Trebuchet MS" panose="020B0603020202020204"/>
              </a:rPr>
              <a:t> </a:t>
            </a:r>
            <a:r>
              <a:rPr sz="350" spc="-80" dirty="0">
                <a:solidFill>
                  <a:srgbClr val="FFFFFF"/>
                </a:solidFill>
                <a:latin typeface="Trebuchet MS" panose="020B0603020202020204"/>
                <a:cs typeface="Trebuchet MS" panose="020B0603020202020204"/>
              </a:rPr>
              <a:t>T</a:t>
            </a:r>
            <a:r>
              <a:rPr sz="350" spc="-40" dirty="0">
                <a:solidFill>
                  <a:srgbClr val="FFFFFF"/>
                </a:solidFill>
                <a:latin typeface="Trebuchet MS" panose="020B0603020202020204"/>
                <a:cs typeface="Trebuchet MS" panose="020B0603020202020204"/>
              </a:rPr>
              <a:t>ibshirani</a:t>
            </a:r>
            <a:endParaRPr sz="350">
              <a:latin typeface="Trebuchet MS" panose="020B0603020202020204"/>
              <a:cs typeface="Trebuchet MS" panose="020B0603020202020204"/>
            </a:endParaRPr>
          </a:p>
          <a:p>
            <a:pPr>
              <a:lnSpc>
                <a:spcPct val="100000"/>
              </a:lnSpc>
              <a:spcBef>
                <a:spcPts val="50"/>
              </a:spcBef>
            </a:pPr>
            <a:endParaRPr sz="300">
              <a:latin typeface="Trebuchet MS" panose="020B0603020202020204"/>
              <a:cs typeface="Trebuchet MS" panose="020B0603020202020204"/>
            </a:endParaRPr>
          </a:p>
          <a:p>
            <a:pPr marL="12700" marR="5080">
              <a:lnSpc>
                <a:spcPct val="78000"/>
              </a:lnSpc>
            </a:pPr>
            <a:r>
              <a:rPr sz="800" spc="-120" dirty="0">
                <a:solidFill>
                  <a:srgbClr val="FFFFFF"/>
                </a:solidFill>
                <a:latin typeface="Trebuchet MS" panose="020B0603020202020204"/>
                <a:cs typeface="Trebuchet MS" panose="020B0603020202020204"/>
              </a:rPr>
              <a:t>An</a:t>
            </a:r>
            <a:r>
              <a:rPr sz="800" spc="-125" dirty="0">
                <a:solidFill>
                  <a:srgbClr val="FFFFFF"/>
                </a:solidFill>
                <a:latin typeface="Trebuchet MS" panose="020B0603020202020204"/>
                <a:cs typeface="Trebuchet MS" panose="020B0603020202020204"/>
              </a:rPr>
              <a:t> </a:t>
            </a:r>
            <a:r>
              <a:rPr sz="800" spc="-60" dirty="0">
                <a:solidFill>
                  <a:srgbClr val="FFFFFF"/>
                </a:solidFill>
                <a:latin typeface="Trebuchet MS" panose="020B0603020202020204"/>
                <a:cs typeface="Trebuchet MS" panose="020B0603020202020204"/>
              </a:rPr>
              <a:t>I</a:t>
            </a:r>
            <a:r>
              <a:rPr sz="800" spc="-120" dirty="0">
                <a:solidFill>
                  <a:srgbClr val="FFFFFF"/>
                </a:solidFill>
                <a:latin typeface="Trebuchet MS" panose="020B0603020202020204"/>
                <a:cs typeface="Trebuchet MS" panose="020B0603020202020204"/>
              </a:rPr>
              <a:t>n</a:t>
            </a:r>
            <a:r>
              <a:rPr sz="800" spc="-114" dirty="0">
                <a:solidFill>
                  <a:srgbClr val="FFFFFF"/>
                </a:solidFill>
                <a:latin typeface="Trebuchet MS" panose="020B0603020202020204"/>
                <a:cs typeface="Trebuchet MS" panose="020B0603020202020204"/>
              </a:rPr>
              <a:t>t</a:t>
            </a:r>
            <a:r>
              <a:rPr sz="800" spc="-130" dirty="0">
                <a:solidFill>
                  <a:srgbClr val="FFFFFF"/>
                </a:solidFill>
                <a:latin typeface="Trebuchet MS" panose="020B0603020202020204"/>
                <a:cs typeface="Trebuchet MS" panose="020B0603020202020204"/>
              </a:rPr>
              <a:t>r</a:t>
            </a:r>
            <a:r>
              <a:rPr sz="800" spc="-135" dirty="0">
                <a:solidFill>
                  <a:srgbClr val="FFFFFF"/>
                </a:solidFill>
                <a:latin typeface="Trebuchet MS" panose="020B0603020202020204"/>
                <a:cs typeface="Trebuchet MS" panose="020B0603020202020204"/>
              </a:rPr>
              <a:t>odu</a:t>
            </a:r>
            <a:r>
              <a:rPr sz="800" spc="-110" dirty="0">
                <a:solidFill>
                  <a:srgbClr val="FFFFFF"/>
                </a:solidFill>
                <a:latin typeface="Trebuchet MS" panose="020B0603020202020204"/>
                <a:cs typeface="Trebuchet MS" panose="020B0603020202020204"/>
              </a:rPr>
              <a:t>c</a:t>
            </a:r>
            <a:r>
              <a:rPr sz="800" spc="-95" dirty="0">
                <a:solidFill>
                  <a:srgbClr val="FFFFFF"/>
                </a:solidFill>
                <a:latin typeface="Trebuchet MS" panose="020B0603020202020204"/>
                <a:cs typeface="Trebuchet MS" panose="020B0603020202020204"/>
              </a:rPr>
              <a:t>tion  </a:t>
            </a:r>
            <a:r>
              <a:rPr sz="800" spc="-125" dirty="0">
                <a:solidFill>
                  <a:srgbClr val="FFFFFF"/>
                </a:solidFill>
                <a:latin typeface="Trebuchet MS" panose="020B0603020202020204"/>
                <a:cs typeface="Trebuchet MS" panose="020B0603020202020204"/>
              </a:rPr>
              <a:t>to </a:t>
            </a:r>
            <a:r>
              <a:rPr sz="800" spc="-110" dirty="0">
                <a:solidFill>
                  <a:srgbClr val="FFFFFF"/>
                </a:solidFill>
                <a:latin typeface="Trebuchet MS" panose="020B0603020202020204"/>
                <a:cs typeface="Trebuchet MS" panose="020B0603020202020204"/>
              </a:rPr>
              <a:t>St</a:t>
            </a:r>
            <a:r>
              <a:rPr sz="800" spc="-135" dirty="0">
                <a:solidFill>
                  <a:srgbClr val="FFFFFF"/>
                </a:solidFill>
                <a:latin typeface="Trebuchet MS" panose="020B0603020202020204"/>
                <a:cs typeface="Trebuchet MS" panose="020B0603020202020204"/>
              </a:rPr>
              <a:t>a</a:t>
            </a:r>
            <a:r>
              <a:rPr sz="800" spc="-105" dirty="0">
                <a:solidFill>
                  <a:srgbClr val="FFFFFF"/>
                </a:solidFill>
                <a:latin typeface="Trebuchet MS" panose="020B0603020202020204"/>
                <a:cs typeface="Trebuchet MS" panose="020B0603020202020204"/>
              </a:rPr>
              <a:t>tistical  </a:t>
            </a:r>
            <a:r>
              <a:rPr sz="800" spc="-114" dirty="0">
                <a:solidFill>
                  <a:srgbClr val="FFFFFF"/>
                </a:solidFill>
                <a:latin typeface="Trebuchet MS" panose="020B0603020202020204"/>
                <a:cs typeface="Trebuchet MS" panose="020B0603020202020204"/>
              </a:rPr>
              <a:t>Learning</a:t>
            </a:r>
            <a:endParaRPr sz="800">
              <a:latin typeface="Trebuchet MS" panose="020B0603020202020204"/>
              <a:cs typeface="Trebuchet MS" panose="020B0603020202020204"/>
            </a:endParaRPr>
          </a:p>
          <a:p>
            <a:pPr marL="12700">
              <a:lnSpc>
                <a:spcPct val="100000"/>
              </a:lnSpc>
              <a:spcBef>
                <a:spcPts val="165"/>
              </a:spcBef>
            </a:pPr>
            <a:r>
              <a:rPr sz="350" spc="-40" dirty="0">
                <a:solidFill>
                  <a:srgbClr val="585742"/>
                </a:solidFill>
                <a:latin typeface="Trebuchet MS" panose="020B0603020202020204"/>
                <a:cs typeface="Trebuchet MS" panose="020B0603020202020204"/>
              </a:rPr>
              <a:t>with</a:t>
            </a:r>
            <a:r>
              <a:rPr sz="350" spc="-50" dirty="0">
                <a:solidFill>
                  <a:srgbClr val="585742"/>
                </a:solidFill>
                <a:latin typeface="Trebuchet MS" panose="020B0603020202020204"/>
                <a:cs typeface="Trebuchet MS" panose="020B0603020202020204"/>
              </a:rPr>
              <a:t> </a:t>
            </a:r>
            <a:r>
              <a:rPr sz="350" spc="-45" dirty="0">
                <a:solidFill>
                  <a:srgbClr val="585742"/>
                </a:solidFill>
                <a:latin typeface="Trebuchet MS" panose="020B0603020202020204"/>
                <a:cs typeface="Trebuchet MS" panose="020B0603020202020204"/>
              </a:rPr>
              <a:t>Applic</a:t>
            </a:r>
            <a:r>
              <a:rPr sz="350" spc="-55" dirty="0">
                <a:solidFill>
                  <a:srgbClr val="585742"/>
                </a:solidFill>
                <a:latin typeface="Trebuchet MS" panose="020B0603020202020204"/>
                <a:cs typeface="Trebuchet MS" panose="020B0603020202020204"/>
              </a:rPr>
              <a:t>a</a:t>
            </a:r>
            <a:r>
              <a:rPr sz="350" spc="-40" dirty="0">
                <a:solidFill>
                  <a:srgbClr val="585742"/>
                </a:solidFill>
                <a:latin typeface="Trebuchet MS" panose="020B0603020202020204"/>
                <a:cs typeface="Trebuchet MS" panose="020B0603020202020204"/>
              </a:rPr>
              <a:t>tions</a:t>
            </a:r>
            <a:r>
              <a:rPr sz="350" spc="-50" dirty="0">
                <a:solidFill>
                  <a:srgbClr val="585742"/>
                </a:solidFill>
                <a:latin typeface="Trebuchet MS" panose="020B0603020202020204"/>
                <a:cs typeface="Trebuchet MS" panose="020B0603020202020204"/>
              </a:rPr>
              <a:t> </a:t>
            </a:r>
            <a:r>
              <a:rPr sz="350" spc="-35" dirty="0">
                <a:solidFill>
                  <a:srgbClr val="585742"/>
                </a:solidFill>
                <a:latin typeface="Trebuchet MS" panose="020B0603020202020204"/>
                <a:cs typeface="Trebuchet MS" panose="020B0603020202020204"/>
              </a:rPr>
              <a:t>in</a:t>
            </a:r>
            <a:r>
              <a:rPr sz="350" spc="-50" dirty="0">
                <a:solidFill>
                  <a:srgbClr val="585742"/>
                </a:solidFill>
                <a:latin typeface="Trebuchet MS" panose="020B0603020202020204"/>
                <a:cs typeface="Trebuchet MS" panose="020B0603020202020204"/>
              </a:rPr>
              <a:t> R</a:t>
            </a:r>
            <a:endParaRPr sz="350">
              <a:latin typeface="Trebuchet MS" panose="020B0603020202020204"/>
              <a:cs typeface="Trebuchet MS" panose="020B0603020202020204"/>
            </a:endParaRPr>
          </a:p>
        </p:txBody>
      </p:sp>
      <p:sp>
        <p:nvSpPr>
          <p:cNvPr id="13" name="object 12">
            <a:extLst>
              <a:ext uri="{FF2B5EF4-FFF2-40B4-BE49-F238E27FC236}">
                <a16:creationId xmlns="" xmlns:a16="http://schemas.microsoft.com/office/drawing/2014/main" id="{AB2360DD-3028-C20C-C566-5FDEB1182126}"/>
              </a:ext>
            </a:extLst>
          </p:cNvPr>
          <p:cNvSpPr txBox="1"/>
          <p:nvPr/>
        </p:nvSpPr>
        <p:spPr>
          <a:xfrm>
            <a:off x="1416507" y="838526"/>
            <a:ext cx="2748280" cy="1088390"/>
          </a:xfrm>
          <a:prstGeom prst="rect">
            <a:avLst/>
          </a:prstGeom>
        </p:spPr>
        <p:txBody>
          <a:bodyPr vert="horz" wrap="square" lIns="0" tIns="12065" rIns="0" bIns="0" rtlCol="0">
            <a:spAutoFit/>
          </a:bodyPr>
          <a:lstStyle/>
          <a:p>
            <a:pPr marL="12700" marR="5080" algn="just">
              <a:lnSpc>
                <a:spcPct val="100000"/>
              </a:lnSpc>
              <a:spcBef>
                <a:spcPts val="95"/>
              </a:spcBef>
            </a:pPr>
            <a:r>
              <a:rPr sz="1000" spc="65" dirty="0">
                <a:latin typeface="Times New Roman" panose="02020603050405020304" pitchFamily="18" charset="0"/>
                <a:cs typeface="Times New Roman" panose="02020603050405020304" pitchFamily="18" charset="0"/>
              </a:rPr>
              <a:t>The </a:t>
            </a:r>
            <a:r>
              <a:rPr sz="1000" dirty="0">
                <a:latin typeface="Times New Roman" panose="02020603050405020304" pitchFamily="18" charset="0"/>
                <a:cs typeface="Times New Roman" panose="02020603050405020304" pitchFamily="18" charset="0"/>
              </a:rPr>
              <a:t>course </a:t>
            </a:r>
            <a:r>
              <a:rPr sz="1000" spc="35" dirty="0">
                <a:latin typeface="Times New Roman" panose="02020603050405020304" pitchFamily="18" charset="0"/>
                <a:cs typeface="Times New Roman" panose="02020603050405020304" pitchFamily="18" charset="0"/>
              </a:rPr>
              <a:t>will </a:t>
            </a:r>
            <a:r>
              <a:rPr sz="1000" spc="-5" dirty="0">
                <a:latin typeface="Times New Roman" panose="02020603050405020304" pitchFamily="18" charset="0"/>
                <a:cs typeface="Times New Roman" panose="02020603050405020304" pitchFamily="18" charset="0"/>
              </a:rPr>
              <a:t>cover </a:t>
            </a:r>
            <a:r>
              <a:rPr sz="1000" spc="10" dirty="0">
                <a:latin typeface="Times New Roman" panose="02020603050405020304" pitchFamily="18" charset="0"/>
                <a:cs typeface="Times New Roman" panose="02020603050405020304" pitchFamily="18" charset="0"/>
              </a:rPr>
              <a:t>most </a:t>
            </a:r>
            <a:r>
              <a:rPr sz="1000" spc="-20" dirty="0">
                <a:latin typeface="Times New Roman" panose="02020603050405020304" pitchFamily="18" charset="0"/>
                <a:cs typeface="Times New Roman" panose="02020603050405020304" pitchFamily="18" charset="0"/>
              </a:rPr>
              <a:t>of </a:t>
            </a:r>
            <a:r>
              <a:rPr sz="1000" spc="5" dirty="0">
                <a:latin typeface="Times New Roman" panose="02020603050405020304" pitchFamily="18" charset="0"/>
                <a:cs typeface="Times New Roman" panose="02020603050405020304" pitchFamily="18" charset="0"/>
              </a:rPr>
              <a:t>the </a:t>
            </a:r>
            <a:r>
              <a:rPr sz="1000" spc="20" dirty="0">
                <a:latin typeface="Times New Roman" panose="02020603050405020304" pitchFamily="18" charset="0"/>
                <a:cs typeface="Times New Roman" panose="02020603050405020304" pitchFamily="18" charset="0"/>
              </a:rPr>
              <a:t>material </a:t>
            </a:r>
            <a:r>
              <a:rPr sz="1000" spc="35" dirty="0">
                <a:latin typeface="Times New Roman" panose="02020603050405020304" pitchFamily="18" charset="0"/>
                <a:cs typeface="Times New Roman" panose="02020603050405020304" pitchFamily="18" charset="0"/>
              </a:rPr>
              <a:t>in </a:t>
            </a:r>
            <a:r>
              <a:rPr sz="1000" spc="30" dirty="0">
                <a:latin typeface="Times New Roman" panose="02020603050405020304" pitchFamily="18" charset="0"/>
                <a:cs typeface="Times New Roman" panose="02020603050405020304" pitchFamily="18" charset="0"/>
              </a:rPr>
              <a:t>this </a:t>
            </a:r>
            <a:r>
              <a:rPr sz="1000" spc="35" dirty="0">
                <a:latin typeface="Times New Roman" panose="02020603050405020304" pitchFamily="18" charset="0"/>
                <a:cs typeface="Times New Roman" panose="02020603050405020304" pitchFamily="18" charset="0"/>
              </a:rPr>
              <a:t> </a:t>
            </a:r>
            <a:r>
              <a:rPr sz="1000" spc="30" dirty="0">
                <a:latin typeface="Times New Roman" panose="02020603050405020304" pitchFamily="18" charset="0"/>
                <a:cs typeface="Times New Roman" panose="02020603050405020304" pitchFamily="18" charset="0"/>
              </a:rPr>
              <a:t>Springer </a:t>
            </a:r>
            <a:r>
              <a:rPr sz="1000" spc="20" dirty="0">
                <a:latin typeface="Times New Roman" panose="02020603050405020304" pitchFamily="18" charset="0"/>
                <a:cs typeface="Times New Roman" panose="02020603050405020304" pitchFamily="18" charset="0"/>
              </a:rPr>
              <a:t>book </a:t>
            </a:r>
            <a:r>
              <a:rPr sz="1000" spc="125" dirty="0">
                <a:latin typeface="Times New Roman" panose="02020603050405020304" pitchFamily="18" charset="0"/>
                <a:cs typeface="Times New Roman" panose="02020603050405020304" pitchFamily="18" charset="0"/>
              </a:rPr>
              <a:t>(ISLR) </a:t>
            </a:r>
            <a:r>
              <a:rPr sz="1000" spc="15" dirty="0">
                <a:latin typeface="Times New Roman" panose="02020603050405020304" pitchFamily="18" charset="0"/>
                <a:cs typeface="Times New Roman" panose="02020603050405020304" pitchFamily="18" charset="0"/>
              </a:rPr>
              <a:t>published </a:t>
            </a:r>
            <a:r>
              <a:rPr sz="1000" spc="35" dirty="0">
                <a:latin typeface="Times New Roman" panose="02020603050405020304" pitchFamily="18" charset="0"/>
                <a:cs typeface="Times New Roman" panose="02020603050405020304" pitchFamily="18" charset="0"/>
              </a:rPr>
              <a:t>in </a:t>
            </a:r>
            <a:r>
              <a:rPr sz="1000" spc="-5" dirty="0">
                <a:latin typeface="Times New Roman" panose="02020603050405020304" pitchFamily="18" charset="0"/>
                <a:cs typeface="Times New Roman" panose="02020603050405020304" pitchFamily="18" charset="0"/>
              </a:rPr>
              <a:t>2013,</a:t>
            </a:r>
            <a:r>
              <a:rPr sz="1000" spc="215" dirty="0">
                <a:latin typeface="Times New Roman" panose="02020603050405020304" pitchFamily="18" charset="0"/>
                <a:cs typeface="Times New Roman" panose="02020603050405020304" pitchFamily="18" charset="0"/>
              </a:rPr>
              <a:t> </a:t>
            </a:r>
            <a:r>
              <a:rPr sz="1000" spc="15" dirty="0">
                <a:latin typeface="Times New Roman" panose="02020603050405020304" pitchFamily="18" charset="0"/>
                <a:cs typeface="Times New Roman" panose="02020603050405020304" pitchFamily="18" charset="0"/>
              </a:rPr>
              <a:t>which </a:t>
            </a:r>
            <a:r>
              <a:rPr sz="1000" spc="20" dirty="0">
                <a:latin typeface="Times New Roman" panose="02020603050405020304" pitchFamily="18" charset="0"/>
                <a:cs typeface="Times New Roman" panose="02020603050405020304" pitchFamily="18" charset="0"/>
              </a:rPr>
              <a:t> </a:t>
            </a:r>
            <a:r>
              <a:rPr sz="1000" spc="5" dirty="0">
                <a:latin typeface="Times New Roman" panose="02020603050405020304" pitchFamily="18" charset="0"/>
                <a:cs typeface="Times New Roman" panose="02020603050405020304" pitchFamily="18" charset="0"/>
              </a:rPr>
              <a:t>the</a:t>
            </a:r>
            <a:r>
              <a:rPr sz="1000" spc="10" dirty="0">
                <a:latin typeface="Times New Roman" panose="02020603050405020304" pitchFamily="18" charset="0"/>
                <a:cs typeface="Times New Roman" panose="02020603050405020304" pitchFamily="18" charset="0"/>
              </a:rPr>
              <a:t> </a:t>
            </a:r>
            <a:r>
              <a:rPr sz="1000" spc="25" dirty="0">
                <a:latin typeface="Times New Roman" panose="02020603050405020304" pitchFamily="18" charset="0"/>
                <a:cs typeface="Times New Roman" panose="02020603050405020304" pitchFamily="18" charset="0"/>
              </a:rPr>
              <a:t>instructors</a:t>
            </a:r>
            <a:r>
              <a:rPr sz="1000" spc="30" dirty="0">
                <a:latin typeface="Times New Roman" panose="02020603050405020304" pitchFamily="18" charset="0"/>
                <a:cs typeface="Times New Roman" panose="02020603050405020304" pitchFamily="18" charset="0"/>
              </a:rPr>
              <a:t> </a:t>
            </a:r>
            <a:r>
              <a:rPr sz="1000" spc="10" dirty="0">
                <a:latin typeface="Times New Roman" panose="02020603050405020304" pitchFamily="18" charset="0"/>
                <a:cs typeface="Times New Roman" panose="02020603050405020304" pitchFamily="18" charset="0"/>
              </a:rPr>
              <a:t>coauthored</a:t>
            </a:r>
            <a:r>
              <a:rPr sz="1000" spc="15" dirty="0">
                <a:latin typeface="Times New Roman" panose="02020603050405020304" pitchFamily="18" charset="0"/>
                <a:cs typeface="Times New Roman" panose="02020603050405020304" pitchFamily="18" charset="0"/>
              </a:rPr>
              <a:t> </a:t>
            </a:r>
            <a:r>
              <a:rPr sz="1000" spc="30" dirty="0">
                <a:latin typeface="Times New Roman" panose="02020603050405020304" pitchFamily="18" charset="0"/>
                <a:cs typeface="Times New Roman" panose="02020603050405020304" pitchFamily="18" charset="0"/>
              </a:rPr>
              <a:t>with</a:t>
            </a:r>
            <a:r>
              <a:rPr sz="1000" spc="35" dirty="0">
                <a:latin typeface="Times New Roman" panose="02020603050405020304" pitchFamily="18" charset="0"/>
                <a:cs typeface="Times New Roman" panose="02020603050405020304" pitchFamily="18" charset="0"/>
              </a:rPr>
              <a:t> Gareth  James </a:t>
            </a:r>
            <a:r>
              <a:rPr sz="1000" spc="40" dirty="0">
                <a:latin typeface="Times New Roman" panose="02020603050405020304" pitchFamily="18" charset="0"/>
                <a:cs typeface="Times New Roman" panose="02020603050405020304" pitchFamily="18" charset="0"/>
              </a:rPr>
              <a:t> </a:t>
            </a:r>
            <a:r>
              <a:rPr sz="1000" spc="20" dirty="0">
                <a:latin typeface="Times New Roman" panose="02020603050405020304" pitchFamily="18" charset="0"/>
                <a:cs typeface="Times New Roman" panose="02020603050405020304" pitchFamily="18" charset="0"/>
              </a:rPr>
              <a:t>and </a:t>
            </a:r>
            <a:r>
              <a:rPr sz="1000" spc="35" dirty="0">
                <a:latin typeface="Times New Roman" panose="02020603050405020304" pitchFamily="18" charset="0"/>
                <a:cs typeface="Times New Roman" panose="02020603050405020304" pitchFamily="18" charset="0"/>
              </a:rPr>
              <a:t>Daniela Witten. </a:t>
            </a:r>
            <a:r>
              <a:rPr sz="1000" spc="55" dirty="0">
                <a:latin typeface="Times New Roman" panose="02020603050405020304" pitchFamily="18" charset="0"/>
                <a:cs typeface="Times New Roman" panose="02020603050405020304" pitchFamily="18" charset="0"/>
              </a:rPr>
              <a:t>Each </a:t>
            </a:r>
            <a:r>
              <a:rPr sz="1000" spc="10" dirty="0">
                <a:latin typeface="Times New Roman" panose="02020603050405020304" pitchFamily="18" charset="0"/>
                <a:cs typeface="Times New Roman" panose="02020603050405020304" pitchFamily="18" charset="0"/>
              </a:rPr>
              <a:t>chapter </a:t>
            </a:r>
            <a:r>
              <a:rPr sz="1000" dirty="0">
                <a:latin typeface="Times New Roman" panose="02020603050405020304" pitchFamily="18" charset="0"/>
                <a:cs typeface="Times New Roman" panose="02020603050405020304" pitchFamily="18" charset="0"/>
              </a:rPr>
              <a:t>ends </a:t>
            </a:r>
            <a:r>
              <a:rPr sz="1000" spc="30" dirty="0">
                <a:latin typeface="Times New Roman" panose="02020603050405020304" pitchFamily="18" charset="0"/>
                <a:cs typeface="Times New Roman" panose="02020603050405020304" pitchFamily="18" charset="0"/>
              </a:rPr>
              <a:t>with </a:t>
            </a:r>
            <a:r>
              <a:rPr sz="1000" spc="20" dirty="0">
                <a:latin typeface="Times New Roman" panose="02020603050405020304" pitchFamily="18" charset="0"/>
                <a:cs typeface="Times New Roman" panose="02020603050405020304" pitchFamily="18" charset="0"/>
              </a:rPr>
              <a:t>an </a:t>
            </a:r>
            <a:r>
              <a:rPr sz="1000" spc="190" dirty="0">
                <a:latin typeface="Times New Roman" panose="02020603050405020304" pitchFamily="18" charset="0"/>
                <a:cs typeface="Times New Roman" panose="02020603050405020304" pitchFamily="18" charset="0"/>
              </a:rPr>
              <a:t>R </a:t>
            </a:r>
            <a:r>
              <a:rPr sz="1000" spc="-215" dirty="0">
                <a:latin typeface="Times New Roman" panose="02020603050405020304" pitchFamily="18" charset="0"/>
                <a:cs typeface="Times New Roman" panose="02020603050405020304" pitchFamily="18" charset="0"/>
              </a:rPr>
              <a:t> </a:t>
            </a:r>
            <a:r>
              <a:rPr sz="1000" spc="25" dirty="0">
                <a:latin typeface="Times New Roman" panose="02020603050405020304" pitchFamily="18" charset="0"/>
                <a:cs typeface="Times New Roman" panose="02020603050405020304" pitchFamily="18" charset="0"/>
              </a:rPr>
              <a:t>lab, </a:t>
            </a:r>
            <a:r>
              <a:rPr sz="1000" spc="35" dirty="0">
                <a:latin typeface="Times New Roman" panose="02020603050405020304" pitchFamily="18" charset="0"/>
                <a:cs typeface="Times New Roman" panose="02020603050405020304" pitchFamily="18" charset="0"/>
              </a:rPr>
              <a:t>in </a:t>
            </a:r>
            <a:r>
              <a:rPr sz="1000" spc="15" dirty="0">
                <a:latin typeface="Times New Roman" panose="02020603050405020304" pitchFamily="18" charset="0"/>
                <a:cs typeface="Times New Roman" panose="02020603050405020304" pitchFamily="18" charset="0"/>
              </a:rPr>
              <a:t>which </a:t>
            </a:r>
            <a:r>
              <a:rPr sz="1000" spc="10" dirty="0">
                <a:latin typeface="Times New Roman" panose="02020603050405020304" pitchFamily="18" charset="0"/>
                <a:cs typeface="Times New Roman" panose="02020603050405020304" pitchFamily="18" charset="0"/>
              </a:rPr>
              <a:t>examples </a:t>
            </a:r>
            <a:r>
              <a:rPr sz="1000" dirty="0">
                <a:latin typeface="Times New Roman" panose="02020603050405020304" pitchFamily="18" charset="0"/>
                <a:cs typeface="Times New Roman" panose="02020603050405020304" pitchFamily="18" charset="0"/>
              </a:rPr>
              <a:t>are developed. </a:t>
            </a:r>
            <a:r>
              <a:rPr sz="1000" spc="114" dirty="0">
                <a:latin typeface="Times New Roman" panose="02020603050405020304" pitchFamily="18" charset="0"/>
                <a:cs typeface="Times New Roman" panose="02020603050405020304" pitchFamily="18" charset="0"/>
              </a:rPr>
              <a:t>By </a:t>
            </a:r>
            <a:r>
              <a:rPr sz="1000" spc="50" dirty="0">
                <a:latin typeface="Times New Roman" panose="02020603050405020304" pitchFamily="18" charset="0"/>
                <a:cs typeface="Times New Roman" panose="02020603050405020304" pitchFamily="18" charset="0"/>
              </a:rPr>
              <a:t>January </a:t>
            </a:r>
            <a:r>
              <a:rPr sz="1000" spc="-215" dirty="0">
                <a:latin typeface="Times New Roman" panose="02020603050405020304" pitchFamily="18" charset="0"/>
                <a:cs typeface="Times New Roman" panose="02020603050405020304" pitchFamily="18" charset="0"/>
              </a:rPr>
              <a:t> </a:t>
            </a:r>
            <a:r>
              <a:rPr sz="1000" spc="15" dirty="0">
                <a:latin typeface="Times New Roman" panose="02020603050405020304" pitchFamily="18" charset="0"/>
                <a:cs typeface="Times New Roman" panose="02020603050405020304" pitchFamily="18" charset="0"/>
              </a:rPr>
              <a:t>1st, </a:t>
            </a:r>
            <a:r>
              <a:rPr sz="1000" spc="-5" dirty="0">
                <a:latin typeface="Times New Roman" panose="02020603050405020304" pitchFamily="18" charset="0"/>
                <a:cs typeface="Times New Roman" panose="02020603050405020304" pitchFamily="18" charset="0"/>
              </a:rPr>
              <a:t>2014, </a:t>
            </a:r>
            <a:r>
              <a:rPr sz="1000" spc="20" dirty="0">
                <a:latin typeface="Times New Roman" panose="02020603050405020304" pitchFamily="18" charset="0"/>
                <a:cs typeface="Times New Roman" panose="02020603050405020304" pitchFamily="18" charset="0"/>
              </a:rPr>
              <a:t>an </a:t>
            </a:r>
            <a:r>
              <a:rPr sz="1000" spc="10" dirty="0">
                <a:latin typeface="Times New Roman" panose="02020603050405020304" pitchFamily="18" charset="0"/>
                <a:cs typeface="Times New Roman" panose="02020603050405020304" pitchFamily="18" charset="0"/>
              </a:rPr>
              <a:t>electronic version </a:t>
            </a:r>
            <a:r>
              <a:rPr sz="1000" spc="-20" dirty="0">
                <a:latin typeface="Times New Roman" panose="02020603050405020304" pitchFamily="18" charset="0"/>
                <a:cs typeface="Times New Roman" panose="02020603050405020304" pitchFamily="18" charset="0"/>
              </a:rPr>
              <a:t>of </a:t>
            </a:r>
            <a:r>
              <a:rPr sz="1000" spc="30" dirty="0">
                <a:latin typeface="Times New Roman" panose="02020603050405020304" pitchFamily="18" charset="0"/>
                <a:cs typeface="Times New Roman" panose="02020603050405020304" pitchFamily="18" charset="0"/>
              </a:rPr>
              <a:t>this </a:t>
            </a:r>
            <a:r>
              <a:rPr sz="1000" spc="20" dirty="0">
                <a:latin typeface="Times New Roman" panose="02020603050405020304" pitchFamily="18" charset="0"/>
                <a:cs typeface="Times New Roman" panose="02020603050405020304" pitchFamily="18" charset="0"/>
              </a:rPr>
              <a:t>book </a:t>
            </a:r>
            <a:r>
              <a:rPr sz="1000" spc="35" dirty="0">
                <a:latin typeface="Times New Roman" panose="02020603050405020304" pitchFamily="18" charset="0"/>
                <a:cs typeface="Times New Roman" panose="02020603050405020304" pitchFamily="18" charset="0"/>
              </a:rPr>
              <a:t>will </a:t>
            </a:r>
            <a:r>
              <a:rPr sz="1000" spc="-5" dirty="0">
                <a:latin typeface="Times New Roman" panose="02020603050405020304" pitchFamily="18" charset="0"/>
                <a:cs typeface="Times New Roman" panose="02020603050405020304" pitchFamily="18" charset="0"/>
              </a:rPr>
              <a:t>be </a:t>
            </a:r>
            <a:r>
              <a:rPr sz="1000" spc="-215" dirty="0">
                <a:latin typeface="Times New Roman" panose="02020603050405020304" pitchFamily="18" charset="0"/>
                <a:cs typeface="Times New Roman" panose="02020603050405020304" pitchFamily="18" charset="0"/>
              </a:rPr>
              <a:t> </a:t>
            </a:r>
            <a:r>
              <a:rPr sz="1000" spc="15" dirty="0">
                <a:latin typeface="Times New Roman" panose="02020603050405020304" pitchFamily="18" charset="0"/>
                <a:cs typeface="Times New Roman" panose="02020603050405020304" pitchFamily="18" charset="0"/>
              </a:rPr>
              <a:t>available</a:t>
            </a:r>
            <a:r>
              <a:rPr sz="1000" spc="100" dirty="0">
                <a:latin typeface="Times New Roman" panose="02020603050405020304" pitchFamily="18" charset="0"/>
                <a:cs typeface="Times New Roman" panose="02020603050405020304" pitchFamily="18" charset="0"/>
              </a:rPr>
              <a:t> </a:t>
            </a:r>
            <a:r>
              <a:rPr sz="1000" dirty="0">
                <a:latin typeface="Times New Roman" panose="02020603050405020304" pitchFamily="18" charset="0"/>
                <a:cs typeface="Times New Roman" panose="02020603050405020304" pitchFamily="18" charset="0"/>
              </a:rPr>
              <a:t>for</a:t>
            </a:r>
            <a:r>
              <a:rPr sz="1000" spc="105" dirty="0">
                <a:latin typeface="Times New Roman" panose="02020603050405020304" pitchFamily="18" charset="0"/>
                <a:cs typeface="Times New Roman" panose="02020603050405020304" pitchFamily="18" charset="0"/>
              </a:rPr>
              <a:t> </a:t>
            </a:r>
            <a:r>
              <a:rPr sz="1000" spc="-20" dirty="0">
                <a:latin typeface="Times New Roman" panose="02020603050405020304" pitchFamily="18" charset="0"/>
                <a:cs typeface="Times New Roman" panose="02020603050405020304" pitchFamily="18" charset="0"/>
              </a:rPr>
              <a:t>free</a:t>
            </a:r>
            <a:r>
              <a:rPr sz="1000" spc="105" dirty="0">
                <a:latin typeface="Times New Roman" panose="02020603050405020304" pitchFamily="18" charset="0"/>
                <a:cs typeface="Times New Roman" panose="02020603050405020304" pitchFamily="18" charset="0"/>
              </a:rPr>
              <a:t> </a:t>
            </a:r>
            <a:r>
              <a:rPr sz="1000" spc="5" dirty="0">
                <a:latin typeface="Times New Roman" panose="02020603050405020304" pitchFamily="18" charset="0"/>
                <a:cs typeface="Times New Roman" panose="02020603050405020304" pitchFamily="18" charset="0"/>
              </a:rPr>
              <a:t>from</a:t>
            </a:r>
            <a:r>
              <a:rPr sz="1000" spc="100" dirty="0">
                <a:latin typeface="Times New Roman" panose="02020603050405020304" pitchFamily="18" charset="0"/>
                <a:cs typeface="Times New Roman" panose="02020603050405020304" pitchFamily="18" charset="0"/>
              </a:rPr>
              <a:t> </a:t>
            </a:r>
            <a:r>
              <a:rPr sz="1000" spc="5" dirty="0">
                <a:latin typeface="Times New Roman" panose="02020603050405020304" pitchFamily="18" charset="0"/>
                <a:cs typeface="Times New Roman" panose="02020603050405020304" pitchFamily="18" charset="0"/>
              </a:rPr>
              <a:t>the</a:t>
            </a:r>
            <a:r>
              <a:rPr sz="1000" spc="105" dirty="0">
                <a:latin typeface="Times New Roman" panose="02020603050405020304" pitchFamily="18" charset="0"/>
                <a:cs typeface="Times New Roman" panose="02020603050405020304" pitchFamily="18" charset="0"/>
              </a:rPr>
              <a:t> </a:t>
            </a:r>
            <a:r>
              <a:rPr sz="1000" spc="25" dirty="0">
                <a:latin typeface="Times New Roman" panose="02020603050405020304" pitchFamily="18" charset="0"/>
                <a:cs typeface="Times New Roman" panose="02020603050405020304" pitchFamily="18" charset="0"/>
              </a:rPr>
              <a:t>instructors’</a:t>
            </a:r>
            <a:r>
              <a:rPr sz="1000" spc="105" dirty="0">
                <a:latin typeface="Times New Roman" panose="02020603050405020304" pitchFamily="18" charset="0"/>
                <a:cs typeface="Times New Roman" panose="02020603050405020304" pitchFamily="18" charset="0"/>
              </a:rPr>
              <a:t> </a:t>
            </a:r>
            <a:r>
              <a:rPr sz="1000" dirty="0">
                <a:latin typeface="Times New Roman" panose="02020603050405020304" pitchFamily="18" charset="0"/>
                <a:cs typeface="Times New Roman" panose="02020603050405020304" pitchFamily="18" charset="0"/>
              </a:rPr>
              <a:t>websites.</a:t>
            </a:r>
          </a:p>
        </p:txBody>
      </p:sp>
      <p:grpSp>
        <p:nvGrpSpPr>
          <p:cNvPr id="14" name="object 13">
            <a:extLst>
              <a:ext uri="{FF2B5EF4-FFF2-40B4-BE49-F238E27FC236}">
                <a16:creationId xmlns="" xmlns:a16="http://schemas.microsoft.com/office/drawing/2014/main" id="{B91C4BF7-89C6-07EA-4323-3A29E5F204DD}"/>
              </a:ext>
            </a:extLst>
          </p:cNvPr>
          <p:cNvGrpSpPr/>
          <p:nvPr/>
        </p:nvGrpSpPr>
        <p:grpSpPr>
          <a:xfrm>
            <a:off x="457200" y="2053246"/>
            <a:ext cx="777875" cy="398780"/>
            <a:chOff x="457200" y="2000309"/>
            <a:chExt cx="777875" cy="398780"/>
          </a:xfrm>
        </p:grpSpPr>
        <p:pic>
          <p:nvPicPr>
            <p:cNvPr id="15" name="object 14">
              <a:extLst>
                <a:ext uri="{FF2B5EF4-FFF2-40B4-BE49-F238E27FC236}">
                  <a16:creationId xmlns="" xmlns:a16="http://schemas.microsoft.com/office/drawing/2014/main" id="{E0E2C43E-FC90-7C14-B830-15B55323E3CB}"/>
                </a:ext>
              </a:extLst>
            </p:cNvPr>
            <p:cNvPicPr/>
            <p:nvPr/>
          </p:nvPicPr>
          <p:blipFill>
            <a:blip r:embed="rId9" cstate="print"/>
            <a:stretch>
              <a:fillRect/>
            </a:stretch>
          </p:blipFill>
          <p:spPr>
            <a:xfrm>
              <a:off x="457200" y="2000309"/>
              <a:ext cx="777479" cy="398417"/>
            </a:xfrm>
            <a:prstGeom prst="rect">
              <a:avLst/>
            </a:prstGeom>
          </p:spPr>
        </p:pic>
        <p:pic>
          <p:nvPicPr>
            <p:cNvPr id="16" name="object 15">
              <a:extLst>
                <a:ext uri="{FF2B5EF4-FFF2-40B4-BE49-F238E27FC236}">
                  <a16:creationId xmlns="" xmlns:a16="http://schemas.microsoft.com/office/drawing/2014/main" id="{18F8949A-2A83-CB47-A454-7D5389DB55BA}"/>
                </a:ext>
              </a:extLst>
            </p:cNvPr>
            <p:cNvPicPr/>
            <p:nvPr/>
          </p:nvPicPr>
          <p:blipFill>
            <a:blip r:embed="rId10" cstate="print"/>
            <a:stretch>
              <a:fillRect/>
            </a:stretch>
          </p:blipFill>
          <p:spPr>
            <a:xfrm>
              <a:off x="505590" y="2247103"/>
              <a:ext cx="729088" cy="151624"/>
            </a:xfrm>
            <a:prstGeom prst="rect">
              <a:avLst/>
            </a:prstGeom>
          </p:spPr>
        </p:pic>
      </p:grpSp>
      <p:sp>
        <p:nvSpPr>
          <p:cNvPr id="17" name="object 16">
            <a:extLst>
              <a:ext uri="{FF2B5EF4-FFF2-40B4-BE49-F238E27FC236}">
                <a16:creationId xmlns="" xmlns:a16="http://schemas.microsoft.com/office/drawing/2014/main" id="{D0ED5273-DB1D-854A-D55E-18101F46598B}"/>
              </a:ext>
            </a:extLst>
          </p:cNvPr>
          <p:cNvSpPr txBox="1"/>
          <p:nvPr/>
        </p:nvSpPr>
        <p:spPr>
          <a:xfrm>
            <a:off x="787132" y="2117523"/>
            <a:ext cx="341630" cy="68580"/>
          </a:xfrm>
          <a:prstGeom prst="rect">
            <a:avLst/>
          </a:prstGeom>
        </p:spPr>
        <p:txBody>
          <a:bodyPr vert="horz" wrap="square" lIns="0" tIns="16510" rIns="0" bIns="0" rtlCol="0">
            <a:spAutoFit/>
          </a:bodyPr>
          <a:lstStyle/>
          <a:p>
            <a:pPr marL="12700">
              <a:lnSpc>
                <a:spcPct val="100000"/>
              </a:lnSpc>
              <a:spcBef>
                <a:spcPts val="130"/>
              </a:spcBef>
            </a:pPr>
            <a:r>
              <a:rPr sz="250" spc="-20" dirty="0">
                <a:solidFill>
                  <a:srgbClr val="EEA616"/>
                </a:solidFill>
                <a:latin typeface="Trebuchet MS" panose="020B0603020202020204"/>
                <a:cs typeface="Trebuchet MS" panose="020B0603020202020204"/>
              </a:rPr>
              <a:t>Springer</a:t>
            </a:r>
            <a:r>
              <a:rPr sz="250" spc="-30" dirty="0">
                <a:solidFill>
                  <a:srgbClr val="EEA616"/>
                </a:solidFill>
                <a:latin typeface="Trebuchet MS" panose="020B0603020202020204"/>
                <a:cs typeface="Trebuchet MS" panose="020B0603020202020204"/>
              </a:rPr>
              <a:t> </a:t>
            </a:r>
            <a:r>
              <a:rPr sz="250" spc="-15" dirty="0">
                <a:solidFill>
                  <a:srgbClr val="EEA616"/>
                </a:solidFill>
                <a:latin typeface="Trebuchet MS" panose="020B0603020202020204"/>
                <a:cs typeface="Trebuchet MS" panose="020B0603020202020204"/>
              </a:rPr>
              <a:t>S</a:t>
            </a:r>
            <a:r>
              <a:rPr sz="250" spc="-30" dirty="0">
                <a:solidFill>
                  <a:srgbClr val="EEA616"/>
                </a:solidFill>
                <a:latin typeface="Trebuchet MS" panose="020B0603020202020204"/>
                <a:cs typeface="Trebuchet MS" panose="020B0603020202020204"/>
              </a:rPr>
              <a:t>e</a:t>
            </a:r>
            <a:r>
              <a:rPr sz="250" spc="-20" dirty="0">
                <a:solidFill>
                  <a:srgbClr val="EEA616"/>
                </a:solidFill>
                <a:latin typeface="Trebuchet MS" panose="020B0603020202020204"/>
                <a:cs typeface="Trebuchet MS" panose="020B0603020202020204"/>
              </a:rPr>
              <a:t>ries</a:t>
            </a:r>
            <a:r>
              <a:rPr sz="250" spc="-30" dirty="0">
                <a:solidFill>
                  <a:srgbClr val="EEA616"/>
                </a:solidFill>
                <a:latin typeface="Trebuchet MS" panose="020B0603020202020204"/>
                <a:cs typeface="Trebuchet MS" panose="020B0603020202020204"/>
              </a:rPr>
              <a:t> </a:t>
            </a:r>
            <a:r>
              <a:rPr sz="250" spc="-15" dirty="0">
                <a:solidFill>
                  <a:srgbClr val="EEA616"/>
                </a:solidFill>
                <a:latin typeface="Trebuchet MS" panose="020B0603020202020204"/>
                <a:cs typeface="Trebuchet MS" panose="020B0603020202020204"/>
              </a:rPr>
              <a:t>in</a:t>
            </a:r>
            <a:r>
              <a:rPr sz="250" spc="-30" dirty="0">
                <a:solidFill>
                  <a:srgbClr val="EEA616"/>
                </a:solidFill>
                <a:latin typeface="Trebuchet MS" panose="020B0603020202020204"/>
                <a:cs typeface="Trebuchet MS" panose="020B0603020202020204"/>
              </a:rPr>
              <a:t> </a:t>
            </a:r>
            <a:r>
              <a:rPr sz="250" spc="-20" dirty="0">
                <a:solidFill>
                  <a:srgbClr val="EEA616"/>
                </a:solidFill>
                <a:latin typeface="Trebuchet MS" panose="020B0603020202020204"/>
                <a:cs typeface="Trebuchet MS" panose="020B0603020202020204"/>
              </a:rPr>
              <a:t>St</a:t>
            </a:r>
            <a:r>
              <a:rPr sz="250" spc="-30" dirty="0">
                <a:solidFill>
                  <a:srgbClr val="EEA616"/>
                </a:solidFill>
                <a:latin typeface="Trebuchet MS" panose="020B0603020202020204"/>
                <a:cs typeface="Trebuchet MS" panose="020B0603020202020204"/>
              </a:rPr>
              <a:t>a</a:t>
            </a:r>
            <a:r>
              <a:rPr sz="250" spc="-20" dirty="0">
                <a:solidFill>
                  <a:srgbClr val="EEA616"/>
                </a:solidFill>
                <a:latin typeface="Trebuchet MS" panose="020B0603020202020204"/>
                <a:cs typeface="Trebuchet MS" panose="020B0603020202020204"/>
              </a:rPr>
              <a:t>tistics</a:t>
            </a:r>
            <a:endParaRPr sz="250">
              <a:latin typeface="Trebuchet MS" panose="020B0603020202020204"/>
              <a:cs typeface="Trebuchet MS" panose="020B0603020202020204"/>
            </a:endParaRPr>
          </a:p>
        </p:txBody>
      </p:sp>
      <p:sp>
        <p:nvSpPr>
          <p:cNvPr id="18" name="object 17">
            <a:extLst>
              <a:ext uri="{FF2B5EF4-FFF2-40B4-BE49-F238E27FC236}">
                <a16:creationId xmlns="" xmlns:a16="http://schemas.microsoft.com/office/drawing/2014/main" id="{69E08CF4-99BD-6351-1958-B3D65CFCD83A}"/>
              </a:ext>
            </a:extLst>
          </p:cNvPr>
          <p:cNvSpPr txBox="1"/>
          <p:nvPr/>
        </p:nvSpPr>
        <p:spPr>
          <a:xfrm>
            <a:off x="541704" y="2279902"/>
            <a:ext cx="265430" cy="176530"/>
          </a:xfrm>
          <a:prstGeom prst="rect">
            <a:avLst/>
          </a:prstGeom>
        </p:spPr>
        <p:txBody>
          <a:bodyPr vert="horz" wrap="square" lIns="0" tIns="19050" rIns="0" bIns="0" rtlCol="0">
            <a:spAutoFit/>
          </a:bodyPr>
          <a:lstStyle/>
          <a:p>
            <a:pPr marL="12700" marR="5080">
              <a:lnSpc>
                <a:spcPts val="380"/>
              </a:lnSpc>
              <a:spcBef>
                <a:spcPts val="150"/>
              </a:spcBef>
            </a:pPr>
            <a:r>
              <a:rPr sz="350" spc="-100" dirty="0">
                <a:solidFill>
                  <a:srgbClr val="FFFFFF"/>
                </a:solidFill>
                <a:latin typeface="Trebuchet MS" panose="020B0603020202020204"/>
                <a:cs typeface="Trebuchet MS" panose="020B0603020202020204"/>
              </a:rPr>
              <a:t>T</a:t>
            </a:r>
            <a:r>
              <a:rPr sz="350" spc="-55" dirty="0">
                <a:solidFill>
                  <a:srgbClr val="FFFFFF"/>
                </a:solidFill>
                <a:latin typeface="Trebuchet MS" panose="020B0603020202020204"/>
                <a:cs typeface="Trebuchet MS" panose="020B0603020202020204"/>
              </a:rPr>
              <a:t>r</a:t>
            </a:r>
            <a:r>
              <a:rPr sz="350" spc="-60" dirty="0">
                <a:solidFill>
                  <a:srgbClr val="FFFFFF"/>
                </a:solidFill>
                <a:latin typeface="Trebuchet MS" panose="020B0603020202020204"/>
                <a:cs typeface="Trebuchet MS" panose="020B0603020202020204"/>
              </a:rPr>
              <a:t>ev</a:t>
            </a:r>
            <a:r>
              <a:rPr sz="350" spc="-65" dirty="0">
                <a:solidFill>
                  <a:srgbClr val="FFFFFF"/>
                </a:solidFill>
                <a:latin typeface="Trebuchet MS" panose="020B0603020202020204"/>
                <a:cs typeface="Trebuchet MS" panose="020B0603020202020204"/>
              </a:rPr>
              <a:t>o</a:t>
            </a:r>
            <a:r>
              <a:rPr sz="350" spc="-45" dirty="0">
                <a:solidFill>
                  <a:srgbClr val="FFFFFF"/>
                </a:solidFill>
                <a:latin typeface="Trebuchet MS" panose="020B0603020202020204"/>
                <a:cs typeface="Trebuchet MS" panose="020B0603020202020204"/>
              </a:rPr>
              <a:t>r </a:t>
            </a:r>
            <a:r>
              <a:rPr sz="350" spc="-55" dirty="0">
                <a:solidFill>
                  <a:srgbClr val="FFFFFF"/>
                </a:solidFill>
                <a:latin typeface="Trebuchet MS" panose="020B0603020202020204"/>
                <a:cs typeface="Trebuchet MS" panose="020B0603020202020204"/>
              </a:rPr>
              <a:t>Hastie  </a:t>
            </a:r>
            <a:r>
              <a:rPr sz="350" spc="-60" dirty="0">
                <a:solidFill>
                  <a:srgbClr val="FFFFFF"/>
                </a:solidFill>
                <a:latin typeface="Trebuchet MS" panose="020B0603020202020204"/>
                <a:cs typeface="Trebuchet MS" panose="020B0603020202020204"/>
              </a:rPr>
              <a:t>Robe</a:t>
            </a:r>
            <a:r>
              <a:rPr sz="350" spc="-40" dirty="0">
                <a:solidFill>
                  <a:srgbClr val="FFFFFF"/>
                </a:solidFill>
                <a:latin typeface="Trebuchet MS" panose="020B0603020202020204"/>
                <a:cs typeface="Trebuchet MS" panose="020B0603020202020204"/>
              </a:rPr>
              <a:t>r</a:t>
            </a:r>
            <a:r>
              <a:rPr sz="350" spc="-50" dirty="0">
                <a:solidFill>
                  <a:srgbClr val="FFFFFF"/>
                </a:solidFill>
                <a:latin typeface="Trebuchet MS" panose="020B0603020202020204"/>
                <a:cs typeface="Trebuchet MS" panose="020B0603020202020204"/>
              </a:rPr>
              <a:t>t</a:t>
            </a:r>
            <a:r>
              <a:rPr sz="350" spc="-60" dirty="0">
                <a:solidFill>
                  <a:srgbClr val="FFFFFF"/>
                </a:solidFill>
                <a:latin typeface="Trebuchet MS" panose="020B0603020202020204"/>
                <a:cs typeface="Trebuchet MS" panose="020B0603020202020204"/>
              </a:rPr>
              <a:t> </a:t>
            </a:r>
            <a:r>
              <a:rPr sz="350" spc="-85" dirty="0">
                <a:solidFill>
                  <a:srgbClr val="FFFFFF"/>
                </a:solidFill>
                <a:latin typeface="Trebuchet MS" panose="020B0603020202020204"/>
                <a:cs typeface="Trebuchet MS" panose="020B0603020202020204"/>
              </a:rPr>
              <a:t>T</a:t>
            </a:r>
            <a:r>
              <a:rPr sz="350" spc="-45" dirty="0">
                <a:solidFill>
                  <a:srgbClr val="FFFFFF"/>
                </a:solidFill>
                <a:latin typeface="Trebuchet MS" panose="020B0603020202020204"/>
                <a:cs typeface="Trebuchet MS" panose="020B0603020202020204"/>
              </a:rPr>
              <a:t>ibshirani  </a:t>
            </a:r>
            <a:r>
              <a:rPr sz="350" spc="-70" dirty="0">
                <a:solidFill>
                  <a:srgbClr val="FFFFFF"/>
                </a:solidFill>
                <a:latin typeface="Trebuchet MS" panose="020B0603020202020204"/>
                <a:cs typeface="Trebuchet MS" panose="020B0603020202020204"/>
              </a:rPr>
              <a:t>Je</a:t>
            </a:r>
            <a:r>
              <a:rPr sz="350" spc="-60" dirty="0">
                <a:solidFill>
                  <a:srgbClr val="FFFFFF"/>
                </a:solidFill>
                <a:latin typeface="Trebuchet MS" panose="020B0603020202020204"/>
                <a:cs typeface="Trebuchet MS" panose="020B0603020202020204"/>
              </a:rPr>
              <a:t>r</a:t>
            </a:r>
            <a:r>
              <a:rPr sz="350" spc="-65" dirty="0">
                <a:solidFill>
                  <a:srgbClr val="FFFFFF"/>
                </a:solidFill>
                <a:latin typeface="Trebuchet MS" panose="020B0603020202020204"/>
                <a:cs typeface="Trebuchet MS" panose="020B0603020202020204"/>
              </a:rPr>
              <a:t>ome</a:t>
            </a:r>
            <a:r>
              <a:rPr sz="350" spc="-45" dirty="0">
                <a:solidFill>
                  <a:srgbClr val="FFFFFF"/>
                </a:solidFill>
                <a:latin typeface="Trebuchet MS" panose="020B0603020202020204"/>
                <a:cs typeface="Trebuchet MS" panose="020B0603020202020204"/>
              </a:rPr>
              <a:t> </a:t>
            </a:r>
            <a:r>
              <a:rPr sz="350" spc="-70" dirty="0">
                <a:solidFill>
                  <a:srgbClr val="FFFFFF"/>
                </a:solidFill>
                <a:latin typeface="Trebuchet MS" panose="020B0603020202020204"/>
                <a:cs typeface="Trebuchet MS" panose="020B0603020202020204"/>
              </a:rPr>
              <a:t>F</a:t>
            </a:r>
            <a:r>
              <a:rPr sz="350" spc="-55" dirty="0">
                <a:solidFill>
                  <a:srgbClr val="FFFFFF"/>
                </a:solidFill>
                <a:latin typeface="Trebuchet MS" panose="020B0603020202020204"/>
                <a:cs typeface="Trebuchet MS" panose="020B0603020202020204"/>
              </a:rPr>
              <a:t>riedman</a:t>
            </a:r>
            <a:endParaRPr sz="350">
              <a:latin typeface="Trebuchet MS" panose="020B0603020202020204"/>
              <a:cs typeface="Trebuchet MS" panose="020B0603020202020204"/>
            </a:endParaRPr>
          </a:p>
        </p:txBody>
      </p:sp>
      <p:sp>
        <p:nvSpPr>
          <p:cNvPr id="19" name="object 18">
            <a:extLst>
              <a:ext uri="{FF2B5EF4-FFF2-40B4-BE49-F238E27FC236}">
                <a16:creationId xmlns="" xmlns:a16="http://schemas.microsoft.com/office/drawing/2014/main" id="{B9251CE1-19BF-A739-3244-BADDB47AA198}"/>
              </a:ext>
            </a:extLst>
          </p:cNvPr>
          <p:cNvSpPr/>
          <p:nvPr/>
        </p:nvSpPr>
        <p:spPr>
          <a:xfrm>
            <a:off x="457200" y="2803304"/>
            <a:ext cx="777875" cy="426084"/>
          </a:xfrm>
          <a:custGeom>
            <a:avLst/>
            <a:gdLst/>
            <a:ahLst/>
            <a:cxnLst/>
            <a:rect l="l" t="t" r="r" b="b"/>
            <a:pathLst>
              <a:path w="777875" h="426085">
                <a:moveTo>
                  <a:pt x="0" y="425839"/>
                </a:moveTo>
                <a:lnTo>
                  <a:pt x="0" y="0"/>
                </a:lnTo>
                <a:lnTo>
                  <a:pt x="777478" y="0"/>
                </a:lnTo>
                <a:lnTo>
                  <a:pt x="777478" y="425839"/>
                </a:lnTo>
                <a:lnTo>
                  <a:pt x="0" y="425839"/>
                </a:lnTo>
                <a:close/>
              </a:path>
            </a:pathLst>
          </a:custGeom>
          <a:solidFill>
            <a:srgbClr val="F2B54A"/>
          </a:solidFill>
        </p:spPr>
        <p:txBody>
          <a:bodyPr wrap="square" lIns="0" tIns="0" rIns="0" bIns="0" rtlCol="0"/>
          <a:lstStyle/>
          <a:p>
            <a:endParaRPr/>
          </a:p>
        </p:txBody>
      </p:sp>
      <p:sp>
        <p:nvSpPr>
          <p:cNvPr id="20" name="object 19">
            <a:extLst>
              <a:ext uri="{FF2B5EF4-FFF2-40B4-BE49-F238E27FC236}">
                <a16:creationId xmlns="" xmlns:a16="http://schemas.microsoft.com/office/drawing/2014/main" id="{F7799170-B2DE-E121-3843-F8558DA53271}"/>
              </a:ext>
            </a:extLst>
          </p:cNvPr>
          <p:cNvSpPr txBox="1"/>
          <p:nvPr/>
        </p:nvSpPr>
        <p:spPr>
          <a:xfrm>
            <a:off x="466448" y="2449204"/>
            <a:ext cx="758190" cy="351790"/>
          </a:xfrm>
          <a:prstGeom prst="rect">
            <a:avLst/>
          </a:prstGeom>
          <a:solidFill>
            <a:srgbClr val="EEA616"/>
          </a:solidFill>
        </p:spPr>
        <p:txBody>
          <a:bodyPr vert="horz" wrap="square" lIns="0" tIns="38100" rIns="0" bIns="0" rtlCol="0">
            <a:spAutoFit/>
          </a:bodyPr>
          <a:lstStyle/>
          <a:p>
            <a:pPr marL="77470" marR="148590">
              <a:lnSpc>
                <a:spcPts val="690"/>
              </a:lnSpc>
              <a:spcBef>
                <a:spcPts val="300"/>
              </a:spcBef>
            </a:pPr>
            <a:r>
              <a:rPr sz="600" spc="-80" dirty="0">
                <a:solidFill>
                  <a:srgbClr val="FFFFFF"/>
                </a:solidFill>
                <a:latin typeface="Trebuchet MS" panose="020B0603020202020204"/>
                <a:cs typeface="Trebuchet MS" panose="020B0603020202020204"/>
              </a:rPr>
              <a:t>The</a:t>
            </a:r>
            <a:r>
              <a:rPr sz="600" spc="-75" dirty="0">
                <a:solidFill>
                  <a:srgbClr val="FFFFFF"/>
                </a:solidFill>
                <a:latin typeface="Trebuchet MS" panose="020B0603020202020204"/>
                <a:cs typeface="Trebuchet MS" panose="020B0603020202020204"/>
              </a:rPr>
              <a:t> </a:t>
            </a:r>
            <a:r>
              <a:rPr sz="600" spc="-65" dirty="0">
                <a:solidFill>
                  <a:srgbClr val="FFFFFF"/>
                </a:solidFill>
                <a:latin typeface="Trebuchet MS" panose="020B0603020202020204"/>
                <a:cs typeface="Trebuchet MS" panose="020B0603020202020204"/>
              </a:rPr>
              <a:t>Elements</a:t>
            </a:r>
            <a:r>
              <a:rPr sz="600" spc="-75" dirty="0">
                <a:solidFill>
                  <a:srgbClr val="FFFFFF"/>
                </a:solidFill>
                <a:latin typeface="Trebuchet MS" panose="020B0603020202020204"/>
                <a:cs typeface="Trebuchet MS" panose="020B0603020202020204"/>
              </a:rPr>
              <a:t> </a:t>
            </a:r>
            <a:r>
              <a:rPr sz="600" spc="-45" dirty="0">
                <a:solidFill>
                  <a:srgbClr val="FFFFFF"/>
                </a:solidFill>
                <a:latin typeface="Trebuchet MS" panose="020B0603020202020204"/>
                <a:cs typeface="Trebuchet MS" panose="020B0603020202020204"/>
              </a:rPr>
              <a:t>of  </a:t>
            </a:r>
            <a:r>
              <a:rPr sz="600" spc="-50" dirty="0">
                <a:solidFill>
                  <a:srgbClr val="FFFFFF"/>
                </a:solidFill>
                <a:latin typeface="Trebuchet MS" panose="020B0603020202020204"/>
                <a:cs typeface="Trebuchet MS" panose="020B0603020202020204"/>
              </a:rPr>
              <a:t>St</a:t>
            </a:r>
            <a:r>
              <a:rPr sz="600" spc="-70" dirty="0">
                <a:solidFill>
                  <a:srgbClr val="FFFFFF"/>
                </a:solidFill>
                <a:latin typeface="Trebuchet MS" panose="020B0603020202020204"/>
                <a:cs typeface="Trebuchet MS" panose="020B0603020202020204"/>
              </a:rPr>
              <a:t>a</a:t>
            </a:r>
            <a:r>
              <a:rPr sz="600" spc="-50" dirty="0">
                <a:solidFill>
                  <a:srgbClr val="FFFFFF"/>
                </a:solidFill>
                <a:latin typeface="Trebuchet MS" panose="020B0603020202020204"/>
                <a:cs typeface="Trebuchet MS" panose="020B0603020202020204"/>
              </a:rPr>
              <a:t>tisti</a:t>
            </a:r>
            <a:r>
              <a:rPr sz="600" spc="-65" dirty="0">
                <a:solidFill>
                  <a:srgbClr val="FFFFFF"/>
                </a:solidFill>
                <a:latin typeface="Trebuchet MS" panose="020B0603020202020204"/>
                <a:cs typeface="Trebuchet MS" panose="020B0603020202020204"/>
              </a:rPr>
              <a:t>c</a:t>
            </a:r>
            <a:r>
              <a:rPr sz="600" spc="-50" dirty="0">
                <a:solidFill>
                  <a:srgbClr val="FFFFFF"/>
                </a:solidFill>
                <a:latin typeface="Trebuchet MS" panose="020B0603020202020204"/>
                <a:cs typeface="Trebuchet MS" panose="020B0603020202020204"/>
              </a:rPr>
              <a:t>al</a:t>
            </a:r>
            <a:r>
              <a:rPr sz="600" spc="-75" dirty="0">
                <a:solidFill>
                  <a:srgbClr val="FFFFFF"/>
                </a:solidFill>
                <a:latin typeface="Trebuchet MS" panose="020B0603020202020204"/>
                <a:cs typeface="Trebuchet MS" panose="020B0603020202020204"/>
              </a:rPr>
              <a:t> </a:t>
            </a:r>
            <a:r>
              <a:rPr sz="600" spc="-80" dirty="0">
                <a:solidFill>
                  <a:srgbClr val="FFFFFF"/>
                </a:solidFill>
                <a:latin typeface="Trebuchet MS" panose="020B0603020202020204"/>
                <a:cs typeface="Trebuchet MS" panose="020B0603020202020204"/>
              </a:rPr>
              <a:t>L</a:t>
            </a:r>
            <a:r>
              <a:rPr sz="600" spc="-50" dirty="0">
                <a:solidFill>
                  <a:srgbClr val="FFFFFF"/>
                </a:solidFill>
                <a:latin typeface="Trebuchet MS" panose="020B0603020202020204"/>
                <a:cs typeface="Trebuchet MS" panose="020B0603020202020204"/>
              </a:rPr>
              <a:t>earning</a:t>
            </a:r>
            <a:endParaRPr sz="600" dirty="0">
              <a:latin typeface="Trebuchet MS" panose="020B0603020202020204"/>
              <a:cs typeface="Trebuchet MS" panose="020B0603020202020204"/>
            </a:endParaRPr>
          </a:p>
          <a:p>
            <a:pPr marL="77470">
              <a:lnSpc>
                <a:spcPct val="100000"/>
              </a:lnSpc>
              <a:spcBef>
                <a:spcPts val="90"/>
              </a:spcBef>
            </a:pPr>
            <a:r>
              <a:rPr sz="350" spc="-50" dirty="0">
                <a:solidFill>
                  <a:srgbClr val="864A0E"/>
                </a:solidFill>
                <a:latin typeface="Trebuchet MS" panose="020B0603020202020204"/>
                <a:cs typeface="Trebuchet MS" panose="020B0603020202020204"/>
              </a:rPr>
              <a:t>Da</a:t>
            </a:r>
            <a:r>
              <a:rPr sz="350" spc="-45" dirty="0">
                <a:solidFill>
                  <a:srgbClr val="864A0E"/>
                </a:solidFill>
                <a:latin typeface="Trebuchet MS" panose="020B0603020202020204"/>
                <a:cs typeface="Trebuchet MS" panose="020B0603020202020204"/>
              </a:rPr>
              <a:t>ta</a:t>
            </a:r>
            <a:r>
              <a:rPr sz="350" spc="-40" dirty="0">
                <a:solidFill>
                  <a:srgbClr val="864A0E"/>
                </a:solidFill>
                <a:latin typeface="Trebuchet MS" panose="020B0603020202020204"/>
                <a:cs typeface="Trebuchet MS" panose="020B0603020202020204"/>
              </a:rPr>
              <a:t> </a:t>
            </a:r>
            <a:r>
              <a:rPr sz="350" spc="-30" dirty="0">
                <a:solidFill>
                  <a:srgbClr val="864A0E"/>
                </a:solidFill>
                <a:latin typeface="Trebuchet MS" panose="020B0603020202020204"/>
                <a:cs typeface="Trebuchet MS" panose="020B0603020202020204"/>
              </a:rPr>
              <a:t>Minin</a:t>
            </a:r>
            <a:r>
              <a:rPr sz="350" spc="-45" dirty="0">
                <a:solidFill>
                  <a:srgbClr val="864A0E"/>
                </a:solidFill>
                <a:latin typeface="Trebuchet MS" panose="020B0603020202020204"/>
                <a:cs typeface="Trebuchet MS" panose="020B0603020202020204"/>
              </a:rPr>
              <a:t>g</a:t>
            </a:r>
            <a:r>
              <a:rPr sz="350" spc="-55" dirty="0">
                <a:solidFill>
                  <a:srgbClr val="864A0E"/>
                </a:solidFill>
                <a:latin typeface="Trebuchet MS" panose="020B0603020202020204"/>
                <a:cs typeface="Trebuchet MS" panose="020B0603020202020204"/>
              </a:rPr>
              <a:t>,</a:t>
            </a:r>
            <a:r>
              <a:rPr sz="350" spc="-65" dirty="0">
                <a:solidFill>
                  <a:srgbClr val="864A0E"/>
                </a:solidFill>
                <a:latin typeface="Trebuchet MS" panose="020B0603020202020204"/>
                <a:cs typeface="Trebuchet MS" panose="020B0603020202020204"/>
              </a:rPr>
              <a:t> </a:t>
            </a:r>
            <a:r>
              <a:rPr sz="350" spc="-40" dirty="0">
                <a:solidFill>
                  <a:srgbClr val="864A0E"/>
                </a:solidFill>
                <a:latin typeface="Trebuchet MS" panose="020B0603020202020204"/>
                <a:cs typeface="Trebuchet MS" panose="020B0603020202020204"/>
              </a:rPr>
              <a:t>Infe</a:t>
            </a:r>
            <a:r>
              <a:rPr sz="350" spc="-50" dirty="0">
                <a:solidFill>
                  <a:srgbClr val="864A0E"/>
                </a:solidFill>
                <a:latin typeface="Trebuchet MS" panose="020B0603020202020204"/>
                <a:cs typeface="Trebuchet MS" panose="020B0603020202020204"/>
              </a:rPr>
              <a:t>r</a:t>
            </a:r>
            <a:r>
              <a:rPr sz="350" spc="-55" dirty="0">
                <a:solidFill>
                  <a:srgbClr val="864A0E"/>
                </a:solidFill>
                <a:latin typeface="Trebuchet MS" panose="020B0603020202020204"/>
                <a:cs typeface="Trebuchet MS" panose="020B0603020202020204"/>
              </a:rPr>
              <a:t>enc</a:t>
            </a:r>
            <a:r>
              <a:rPr sz="350" spc="-65" dirty="0">
                <a:solidFill>
                  <a:srgbClr val="864A0E"/>
                </a:solidFill>
                <a:latin typeface="Trebuchet MS" panose="020B0603020202020204"/>
                <a:cs typeface="Trebuchet MS" panose="020B0603020202020204"/>
              </a:rPr>
              <a:t>e</a:t>
            </a:r>
            <a:r>
              <a:rPr sz="350" spc="-55" dirty="0">
                <a:solidFill>
                  <a:srgbClr val="864A0E"/>
                </a:solidFill>
                <a:latin typeface="Trebuchet MS" panose="020B0603020202020204"/>
                <a:cs typeface="Trebuchet MS" panose="020B0603020202020204"/>
              </a:rPr>
              <a:t>,</a:t>
            </a:r>
            <a:r>
              <a:rPr sz="350" spc="-65" dirty="0">
                <a:solidFill>
                  <a:srgbClr val="864A0E"/>
                </a:solidFill>
                <a:latin typeface="Trebuchet MS" panose="020B0603020202020204"/>
                <a:cs typeface="Trebuchet MS" panose="020B0603020202020204"/>
              </a:rPr>
              <a:t> </a:t>
            </a:r>
            <a:r>
              <a:rPr sz="350" spc="-45" dirty="0">
                <a:solidFill>
                  <a:srgbClr val="864A0E"/>
                </a:solidFill>
                <a:latin typeface="Trebuchet MS" panose="020B0603020202020204"/>
                <a:cs typeface="Trebuchet MS" panose="020B0603020202020204"/>
              </a:rPr>
              <a:t>and</a:t>
            </a:r>
            <a:r>
              <a:rPr sz="350" spc="-40" dirty="0">
                <a:solidFill>
                  <a:srgbClr val="864A0E"/>
                </a:solidFill>
                <a:latin typeface="Trebuchet MS" panose="020B0603020202020204"/>
                <a:cs typeface="Trebuchet MS" panose="020B0603020202020204"/>
              </a:rPr>
              <a:t> </a:t>
            </a:r>
            <a:r>
              <a:rPr sz="350" spc="-50" dirty="0">
                <a:solidFill>
                  <a:srgbClr val="864A0E"/>
                </a:solidFill>
                <a:latin typeface="Trebuchet MS" panose="020B0603020202020204"/>
                <a:cs typeface="Trebuchet MS" panose="020B0603020202020204"/>
              </a:rPr>
              <a:t>P</a:t>
            </a:r>
            <a:r>
              <a:rPr sz="350" spc="-55" dirty="0">
                <a:solidFill>
                  <a:srgbClr val="864A0E"/>
                </a:solidFill>
                <a:latin typeface="Trebuchet MS" panose="020B0603020202020204"/>
                <a:cs typeface="Trebuchet MS" panose="020B0603020202020204"/>
              </a:rPr>
              <a:t>r</a:t>
            </a:r>
            <a:r>
              <a:rPr sz="350" spc="-50" dirty="0">
                <a:solidFill>
                  <a:srgbClr val="864A0E"/>
                </a:solidFill>
                <a:latin typeface="Trebuchet MS" panose="020B0603020202020204"/>
                <a:cs typeface="Trebuchet MS" panose="020B0603020202020204"/>
              </a:rPr>
              <a:t>edi</a:t>
            </a:r>
            <a:r>
              <a:rPr sz="350" spc="-45" dirty="0">
                <a:solidFill>
                  <a:srgbClr val="864A0E"/>
                </a:solidFill>
                <a:latin typeface="Trebuchet MS" panose="020B0603020202020204"/>
                <a:cs typeface="Trebuchet MS" panose="020B0603020202020204"/>
              </a:rPr>
              <a:t>c</a:t>
            </a:r>
            <a:r>
              <a:rPr sz="350" spc="-40" dirty="0">
                <a:solidFill>
                  <a:srgbClr val="864A0E"/>
                </a:solidFill>
                <a:latin typeface="Trebuchet MS" panose="020B0603020202020204"/>
                <a:cs typeface="Trebuchet MS" panose="020B0603020202020204"/>
              </a:rPr>
              <a:t>tion</a:t>
            </a:r>
            <a:endParaRPr sz="350" dirty="0">
              <a:latin typeface="Trebuchet MS" panose="020B0603020202020204"/>
              <a:cs typeface="Trebuchet MS" panose="020B0603020202020204"/>
            </a:endParaRPr>
          </a:p>
        </p:txBody>
      </p:sp>
      <p:sp>
        <p:nvSpPr>
          <p:cNvPr id="21" name="object 20">
            <a:extLst>
              <a:ext uri="{FF2B5EF4-FFF2-40B4-BE49-F238E27FC236}">
                <a16:creationId xmlns="" xmlns:a16="http://schemas.microsoft.com/office/drawing/2014/main" id="{51A5382A-C817-89FD-B783-52F6E2723D40}"/>
              </a:ext>
            </a:extLst>
          </p:cNvPr>
          <p:cNvSpPr/>
          <p:nvPr/>
        </p:nvSpPr>
        <p:spPr>
          <a:xfrm>
            <a:off x="536473" y="3088580"/>
            <a:ext cx="177800" cy="48260"/>
          </a:xfrm>
          <a:custGeom>
            <a:avLst/>
            <a:gdLst/>
            <a:ahLst/>
            <a:cxnLst/>
            <a:rect l="l" t="t" r="r" b="b"/>
            <a:pathLst>
              <a:path w="177800" h="48260">
                <a:moveTo>
                  <a:pt x="5651" y="22326"/>
                </a:moveTo>
                <a:lnTo>
                  <a:pt x="5638" y="20739"/>
                </a:lnTo>
                <a:lnTo>
                  <a:pt x="4508" y="20662"/>
                </a:lnTo>
                <a:lnTo>
                  <a:pt x="4457" y="21590"/>
                </a:lnTo>
                <a:lnTo>
                  <a:pt x="4241" y="22326"/>
                </a:lnTo>
                <a:lnTo>
                  <a:pt x="3797" y="23063"/>
                </a:lnTo>
                <a:lnTo>
                  <a:pt x="5143" y="23558"/>
                </a:lnTo>
                <a:lnTo>
                  <a:pt x="5562" y="22860"/>
                </a:lnTo>
                <a:lnTo>
                  <a:pt x="5651" y="22326"/>
                </a:lnTo>
                <a:close/>
              </a:path>
              <a:path w="177800" h="48260">
                <a:moveTo>
                  <a:pt x="13081" y="12217"/>
                </a:moveTo>
                <a:lnTo>
                  <a:pt x="10045" y="12573"/>
                </a:lnTo>
                <a:lnTo>
                  <a:pt x="10185" y="15049"/>
                </a:lnTo>
                <a:lnTo>
                  <a:pt x="13030" y="13500"/>
                </a:lnTo>
                <a:lnTo>
                  <a:pt x="13081" y="12217"/>
                </a:lnTo>
                <a:close/>
              </a:path>
              <a:path w="177800" h="48260">
                <a:moveTo>
                  <a:pt x="37541" y="42811"/>
                </a:moveTo>
                <a:lnTo>
                  <a:pt x="6667" y="42811"/>
                </a:lnTo>
                <a:lnTo>
                  <a:pt x="6667" y="46697"/>
                </a:lnTo>
                <a:lnTo>
                  <a:pt x="37541" y="46697"/>
                </a:lnTo>
                <a:lnTo>
                  <a:pt x="37541" y="42811"/>
                </a:lnTo>
                <a:close/>
              </a:path>
              <a:path w="177800" h="48260">
                <a:moveTo>
                  <a:pt x="37592" y="35039"/>
                </a:moveTo>
                <a:lnTo>
                  <a:pt x="34836" y="35039"/>
                </a:lnTo>
                <a:lnTo>
                  <a:pt x="35191" y="33553"/>
                </a:lnTo>
                <a:lnTo>
                  <a:pt x="35471" y="32143"/>
                </a:lnTo>
                <a:lnTo>
                  <a:pt x="35687" y="30657"/>
                </a:lnTo>
                <a:lnTo>
                  <a:pt x="36322" y="30657"/>
                </a:lnTo>
                <a:lnTo>
                  <a:pt x="36817" y="30238"/>
                </a:lnTo>
                <a:lnTo>
                  <a:pt x="36817" y="29171"/>
                </a:lnTo>
                <a:lnTo>
                  <a:pt x="36398" y="28752"/>
                </a:lnTo>
                <a:lnTo>
                  <a:pt x="35902" y="28676"/>
                </a:lnTo>
                <a:lnTo>
                  <a:pt x="36080" y="26352"/>
                </a:lnTo>
                <a:lnTo>
                  <a:pt x="36106" y="24295"/>
                </a:lnTo>
                <a:lnTo>
                  <a:pt x="36601" y="24295"/>
                </a:lnTo>
                <a:lnTo>
                  <a:pt x="37096" y="23876"/>
                </a:lnTo>
                <a:lnTo>
                  <a:pt x="37096" y="22745"/>
                </a:lnTo>
                <a:lnTo>
                  <a:pt x="36601" y="22326"/>
                </a:lnTo>
                <a:lnTo>
                  <a:pt x="36042" y="22326"/>
                </a:lnTo>
                <a:lnTo>
                  <a:pt x="35852" y="20624"/>
                </a:lnTo>
                <a:lnTo>
                  <a:pt x="35674" y="19431"/>
                </a:lnTo>
                <a:lnTo>
                  <a:pt x="35407" y="18161"/>
                </a:lnTo>
                <a:lnTo>
                  <a:pt x="35902" y="18021"/>
                </a:lnTo>
                <a:lnTo>
                  <a:pt x="36182" y="17665"/>
                </a:lnTo>
                <a:lnTo>
                  <a:pt x="36182" y="16598"/>
                </a:lnTo>
                <a:lnTo>
                  <a:pt x="35763" y="16179"/>
                </a:lnTo>
                <a:lnTo>
                  <a:pt x="34912" y="16179"/>
                </a:lnTo>
                <a:lnTo>
                  <a:pt x="34493" y="14833"/>
                </a:lnTo>
                <a:lnTo>
                  <a:pt x="34175" y="14020"/>
                </a:lnTo>
                <a:lnTo>
                  <a:pt x="34175" y="24511"/>
                </a:lnTo>
                <a:lnTo>
                  <a:pt x="32931" y="35102"/>
                </a:lnTo>
                <a:lnTo>
                  <a:pt x="11315" y="35102"/>
                </a:lnTo>
                <a:lnTo>
                  <a:pt x="11531" y="32639"/>
                </a:lnTo>
                <a:lnTo>
                  <a:pt x="13017" y="30797"/>
                </a:lnTo>
                <a:lnTo>
                  <a:pt x="19304" y="24511"/>
                </a:lnTo>
                <a:lnTo>
                  <a:pt x="23025" y="21691"/>
                </a:lnTo>
                <a:lnTo>
                  <a:pt x="23114" y="19926"/>
                </a:lnTo>
                <a:lnTo>
                  <a:pt x="23114" y="14135"/>
                </a:lnTo>
                <a:lnTo>
                  <a:pt x="21145" y="14135"/>
                </a:lnTo>
                <a:lnTo>
                  <a:pt x="21094" y="16598"/>
                </a:lnTo>
                <a:lnTo>
                  <a:pt x="20713" y="18224"/>
                </a:lnTo>
                <a:lnTo>
                  <a:pt x="20002" y="19850"/>
                </a:lnTo>
                <a:lnTo>
                  <a:pt x="15138" y="19926"/>
                </a:lnTo>
                <a:lnTo>
                  <a:pt x="13728" y="18224"/>
                </a:lnTo>
                <a:lnTo>
                  <a:pt x="12306" y="19431"/>
                </a:lnTo>
                <a:lnTo>
                  <a:pt x="13296" y="20624"/>
                </a:lnTo>
                <a:lnTo>
                  <a:pt x="11531" y="21971"/>
                </a:lnTo>
                <a:lnTo>
                  <a:pt x="9626" y="24587"/>
                </a:lnTo>
                <a:lnTo>
                  <a:pt x="9055" y="26911"/>
                </a:lnTo>
                <a:lnTo>
                  <a:pt x="7543" y="26924"/>
                </a:lnTo>
                <a:lnTo>
                  <a:pt x="7543" y="26771"/>
                </a:lnTo>
                <a:lnTo>
                  <a:pt x="7543" y="25438"/>
                </a:lnTo>
                <a:lnTo>
                  <a:pt x="7429" y="23558"/>
                </a:lnTo>
                <a:lnTo>
                  <a:pt x="7162" y="23368"/>
                </a:lnTo>
                <a:lnTo>
                  <a:pt x="4533" y="25438"/>
                </a:lnTo>
                <a:lnTo>
                  <a:pt x="2247" y="22860"/>
                </a:lnTo>
                <a:lnTo>
                  <a:pt x="2286" y="22606"/>
                </a:lnTo>
                <a:lnTo>
                  <a:pt x="8255" y="14338"/>
                </a:lnTo>
                <a:lnTo>
                  <a:pt x="9232" y="11455"/>
                </a:lnTo>
                <a:lnTo>
                  <a:pt x="12700" y="10261"/>
                </a:lnTo>
                <a:lnTo>
                  <a:pt x="12382" y="9321"/>
                </a:lnTo>
                <a:lnTo>
                  <a:pt x="12395" y="8661"/>
                </a:lnTo>
                <a:lnTo>
                  <a:pt x="13296" y="7277"/>
                </a:lnTo>
                <a:lnTo>
                  <a:pt x="12877" y="4025"/>
                </a:lnTo>
                <a:lnTo>
                  <a:pt x="13868" y="4457"/>
                </a:lnTo>
                <a:lnTo>
                  <a:pt x="14465" y="4953"/>
                </a:lnTo>
                <a:lnTo>
                  <a:pt x="14566" y="6781"/>
                </a:lnTo>
                <a:lnTo>
                  <a:pt x="16408" y="7073"/>
                </a:lnTo>
                <a:lnTo>
                  <a:pt x="16814" y="5092"/>
                </a:lnTo>
                <a:lnTo>
                  <a:pt x="16903" y="4025"/>
                </a:lnTo>
                <a:lnTo>
                  <a:pt x="16903" y="3111"/>
                </a:lnTo>
                <a:lnTo>
                  <a:pt x="16903" y="2336"/>
                </a:lnTo>
                <a:lnTo>
                  <a:pt x="18338" y="3251"/>
                </a:lnTo>
                <a:lnTo>
                  <a:pt x="18364" y="6083"/>
                </a:lnTo>
                <a:lnTo>
                  <a:pt x="18237" y="8407"/>
                </a:lnTo>
                <a:lnTo>
                  <a:pt x="20154" y="8763"/>
                </a:lnTo>
                <a:lnTo>
                  <a:pt x="20154" y="5651"/>
                </a:lnTo>
                <a:lnTo>
                  <a:pt x="27800" y="8661"/>
                </a:lnTo>
                <a:lnTo>
                  <a:pt x="32499" y="15062"/>
                </a:lnTo>
                <a:lnTo>
                  <a:pt x="34061" y="23241"/>
                </a:lnTo>
                <a:lnTo>
                  <a:pt x="34175" y="24511"/>
                </a:lnTo>
                <a:lnTo>
                  <a:pt x="34175" y="14020"/>
                </a:lnTo>
                <a:lnTo>
                  <a:pt x="33997" y="13563"/>
                </a:lnTo>
                <a:lnTo>
                  <a:pt x="33362" y="12433"/>
                </a:lnTo>
                <a:lnTo>
                  <a:pt x="33642" y="12217"/>
                </a:lnTo>
                <a:lnTo>
                  <a:pt x="33845" y="11938"/>
                </a:lnTo>
                <a:lnTo>
                  <a:pt x="33845" y="11023"/>
                </a:lnTo>
                <a:lnTo>
                  <a:pt x="33553" y="10668"/>
                </a:lnTo>
                <a:lnTo>
                  <a:pt x="33426" y="10528"/>
                </a:lnTo>
                <a:lnTo>
                  <a:pt x="32651" y="10528"/>
                </a:lnTo>
                <a:lnTo>
                  <a:pt x="32372" y="10668"/>
                </a:lnTo>
                <a:lnTo>
                  <a:pt x="31521" y="9474"/>
                </a:lnTo>
                <a:lnTo>
                  <a:pt x="30607" y="8407"/>
                </a:lnTo>
                <a:lnTo>
                  <a:pt x="29540" y="7493"/>
                </a:lnTo>
                <a:lnTo>
                  <a:pt x="29667" y="7277"/>
                </a:lnTo>
                <a:lnTo>
                  <a:pt x="29679" y="6286"/>
                </a:lnTo>
                <a:lnTo>
                  <a:pt x="29260" y="5867"/>
                </a:lnTo>
                <a:lnTo>
                  <a:pt x="28409" y="5867"/>
                </a:lnTo>
                <a:lnTo>
                  <a:pt x="28130" y="6083"/>
                </a:lnTo>
                <a:lnTo>
                  <a:pt x="27914" y="6286"/>
                </a:lnTo>
                <a:lnTo>
                  <a:pt x="26898" y="5651"/>
                </a:lnTo>
                <a:lnTo>
                  <a:pt x="25450" y="4953"/>
                </a:lnTo>
                <a:lnTo>
                  <a:pt x="24028" y="4457"/>
                </a:lnTo>
                <a:lnTo>
                  <a:pt x="24104" y="3962"/>
                </a:lnTo>
                <a:lnTo>
                  <a:pt x="24028" y="3606"/>
                </a:lnTo>
                <a:lnTo>
                  <a:pt x="23685" y="3251"/>
                </a:lnTo>
                <a:lnTo>
                  <a:pt x="22618" y="3251"/>
                </a:lnTo>
                <a:lnTo>
                  <a:pt x="22263" y="3530"/>
                </a:lnTo>
                <a:lnTo>
                  <a:pt x="22123" y="3962"/>
                </a:lnTo>
                <a:lnTo>
                  <a:pt x="20574" y="3683"/>
                </a:lnTo>
                <a:lnTo>
                  <a:pt x="19799" y="3606"/>
                </a:lnTo>
                <a:lnTo>
                  <a:pt x="19418" y="2336"/>
                </a:lnTo>
                <a:lnTo>
                  <a:pt x="19227" y="1701"/>
                </a:lnTo>
                <a:lnTo>
                  <a:pt x="18097" y="0"/>
                </a:lnTo>
                <a:lnTo>
                  <a:pt x="14998" y="355"/>
                </a:lnTo>
                <a:lnTo>
                  <a:pt x="15062" y="3111"/>
                </a:lnTo>
                <a:lnTo>
                  <a:pt x="14211" y="2197"/>
                </a:lnTo>
                <a:lnTo>
                  <a:pt x="12446" y="1701"/>
                </a:lnTo>
                <a:lnTo>
                  <a:pt x="10960" y="2197"/>
                </a:lnTo>
                <a:lnTo>
                  <a:pt x="10871" y="3111"/>
                </a:lnTo>
                <a:lnTo>
                  <a:pt x="11226" y="5588"/>
                </a:lnTo>
                <a:lnTo>
                  <a:pt x="11341" y="6781"/>
                </a:lnTo>
                <a:lnTo>
                  <a:pt x="9550" y="9321"/>
                </a:lnTo>
                <a:lnTo>
                  <a:pt x="7785" y="9969"/>
                </a:lnTo>
                <a:lnTo>
                  <a:pt x="6616" y="13423"/>
                </a:lnTo>
                <a:lnTo>
                  <a:pt x="6540" y="13563"/>
                </a:lnTo>
                <a:lnTo>
                  <a:pt x="127" y="22326"/>
                </a:lnTo>
                <a:lnTo>
                  <a:pt x="0" y="23063"/>
                </a:lnTo>
                <a:lnTo>
                  <a:pt x="88" y="23241"/>
                </a:lnTo>
                <a:lnTo>
                  <a:pt x="4330" y="28041"/>
                </a:lnTo>
                <a:lnTo>
                  <a:pt x="5880" y="26771"/>
                </a:lnTo>
                <a:lnTo>
                  <a:pt x="5880" y="28752"/>
                </a:lnTo>
                <a:lnTo>
                  <a:pt x="10375" y="28752"/>
                </a:lnTo>
                <a:lnTo>
                  <a:pt x="10553" y="28676"/>
                </a:lnTo>
                <a:lnTo>
                  <a:pt x="10617" y="26924"/>
                </a:lnTo>
                <a:lnTo>
                  <a:pt x="10617" y="26352"/>
                </a:lnTo>
                <a:lnTo>
                  <a:pt x="13296" y="22326"/>
                </a:lnTo>
                <a:lnTo>
                  <a:pt x="15201" y="21691"/>
                </a:lnTo>
                <a:lnTo>
                  <a:pt x="18948" y="21691"/>
                </a:lnTo>
                <a:lnTo>
                  <a:pt x="15697" y="26631"/>
                </a:lnTo>
                <a:lnTo>
                  <a:pt x="10617" y="28651"/>
                </a:lnTo>
                <a:lnTo>
                  <a:pt x="10375" y="28752"/>
                </a:lnTo>
                <a:lnTo>
                  <a:pt x="9842" y="28968"/>
                </a:lnTo>
                <a:lnTo>
                  <a:pt x="9410" y="35039"/>
                </a:lnTo>
                <a:lnTo>
                  <a:pt x="6731" y="35039"/>
                </a:lnTo>
                <a:lnTo>
                  <a:pt x="6731" y="36944"/>
                </a:lnTo>
                <a:lnTo>
                  <a:pt x="37592" y="36944"/>
                </a:lnTo>
                <a:lnTo>
                  <a:pt x="37592" y="35102"/>
                </a:lnTo>
                <a:close/>
              </a:path>
              <a:path w="177800" h="48260">
                <a:moveTo>
                  <a:pt x="65544" y="34264"/>
                </a:moveTo>
                <a:lnTo>
                  <a:pt x="65493" y="29311"/>
                </a:lnTo>
                <a:lnTo>
                  <a:pt x="65379" y="28816"/>
                </a:lnTo>
                <a:lnTo>
                  <a:pt x="64122" y="23202"/>
                </a:lnTo>
                <a:lnTo>
                  <a:pt x="56324" y="23075"/>
                </a:lnTo>
                <a:lnTo>
                  <a:pt x="54546" y="19138"/>
                </a:lnTo>
                <a:lnTo>
                  <a:pt x="54305" y="18630"/>
                </a:lnTo>
                <a:lnTo>
                  <a:pt x="54178" y="18046"/>
                </a:lnTo>
                <a:lnTo>
                  <a:pt x="54178" y="15405"/>
                </a:lnTo>
                <a:lnTo>
                  <a:pt x="55448" y="13703"/>
                </a:lnTo>
                <a:lnTo>
                  <a:pt x="61239" y="13703"/>
                </a:lnTo>
                <a:lnTo>
                  <a:pt x="62293" y="16459"/>
                </a:lnTo>
                <a:lnTo>
                  <a:pt x="62928" y="18796"/>
                </a:lnTo>
                <a:lnTo>
                  <a:pt x="64350" y="18719"/>
                </a:lnTo>
                <a:lnTo>
                  <a:pt x="64223" y="15405"/>
                </a:lnTo>
                <a:lnTo>
                  <a:pt x="64058" y="13703"/>
                </a:lnTo>
                <a:lnTo>
                  <a:pt x="63995" y="13004"/>
                </a:lnTo>
                <a:lnTo>
                  <a:pt x="62153" y="12369"/>
                </a:lnTo>
                <a:lnTo>
                  <a:pt x="60325" y="11938"/>
                </a:lnTo>
                <a:lnTo>
                  <a:pt x="53543" y="11938"/>
                </a:lnTo>
                <a:lnTo>
                  <a:pt x="50647" y="15125"/>
                </a:lnTo>
                <a:lnTo>
                  <a:pt x="50660" y="19151"/>
                </a:lnTo>
                <a:lnTo>
                  <a:pt x="51054" y="25095"/>
                </a:lnTo>
                <a:lnTo>
                  <a:pt x="58420" y="25273"/>
                </a:lnTo>
                <a:lnTo>
                  <a:pt x="60998" y="28829"/>
                </a:lnTo>
                <a:lnTo>
                  <a:pt x="61544" y="29578"/>
                </a:lnTo>
                <a:lnTo>
                  <a:pt x="61874" y="30492"/>
                </a:lnTo>
                <a:lnTo>
                  <a:pt x="61798" y="34264"/>
                </a:lnTo>
                <a:lnTo>
                  <a:pt x="60185" y="35890"/>
                </a:lnTo>
                <a:lnTo>
                  <a:pt x="53543" y="35890"/>
                </a:lnTo>
                <a:lnTo>
                  <a:pt x="52336" y="32778"/>
                </a:lnTo>
                <a:lnTo>
                  <a:pt x="51485" y="29603"/>
                </a:lnTo>
                <a:lnTo>
                  <a:pt x="50012" y="29806"/>
                </a:lnTo>
                <a:lnTo>
                  <a:pt x="50292" y="34467"/>
                </a:lnTo>
                <a:lnTo>
                  <a:pt x="50647" y="36169"/>
                </a:lnTo>
                <a:lnTo>
                  <a:pt x="52552" y="37020"/>
                </a:lnTo>
                <a:lnTo>
                  <a:pt x="54533" y="37579"/>
                </a:lnTo>
                <a:lnTo>
                  <a:pt x="62090" y="37579"/>
                </a:lnTo>
                <a:lnTo>
                  <a:pt x="63855" y="35890"/>
                </a:lnTo>
                <a:lnTo>
                  <a:pt x="65544" y="34264"/>
                </a:lnTo>
                <a:close/>
              </a:path>
              <a:path w="177800" h="48260">
                <a:moveTo>
                  <a:pt x="84480" y="24155"/>
                </a:moveTo>
                <a:lnTo>
                  <a:pt x="83756" y="23025"/>
                </a:lnTo>
                <a:lnTo>
                  <a:pt x="83578" y="22745"/>
                </a:lnTo>
                <a:lnTo>
                  <a:pt x="82219" y="20624"/>
                </a:lnTo>
                <a:lnTo>
                  <a:pt x="80949" y="20624"/>
                </a:lnTo>
                <a:lnTo>
                  <a:pt x="80949" y="28803"/>
                </a:lnTo>
                <a:lnTo>
                  <a:pt x="80822" y="33972"/>
                </a:lnTo>
                <a:lnTo>
                  <a:pt x="78473" y="35318"/>
                </a:lnTo>
                <a:lnTo>
                  <a:pt x="75158" y="35318"/>
                </a:lnTo>
                <a:lnTo>
                  <a:pt x="73952" y="34759"/>
                </a:lnTo>
                <a:lnTo>
                  <a:pt x="73240" y="33972"/>
                </a:lnTo>
                <a:lnTo>
                  <a:pt x="73240" y="28816"/>
                </a:lnTo>
                <a:lnTo>
                  <a:pt x="73240" y="24295"/>
                </a:lnTo>
                <a:lnTo>
                  <a:pt x="74091" y="23736"/>
                </a:lnTo>
                <a:lnTo>
                  <a:pt x="75438" y="23025"/>
                </a:lnTo>
                <a:lnTo>
                  <a:pt x="78943" y="23025"/>
                </a:lnTo>
                <a:lnTo>
                  <a:pt x="80899" y="24815"/>
                </a:lnTo>
                <a:lnTo>
                  <a:pt x="80949" y="28803"/>
                </a:lnTo>
                <a:lnTo>
                  <a:pt x="80949" y="20624"/>
                </a:lnTo>
                <a:lnTo>
                  <a:pt x="77698" y="20624"/>
                </a:lnTo>
                <a:lnTo>
                  <a:pt x="77203" y="20701"/>
                </a:lnTo>
                <a:lnTo>
                  <a:pt x="73240" y="22745"/>
                </a:lnTo>
                <a:lnTo>
                  <a:pt x="73240" y="20269"/>
                </a:lnTo>
                <a:lnTo>
                  <a:pt x="69507" y="21551"/>
                </a:lnTo>
                <a:lnTo>
                  <a:pt x="67525" y="21894"/>
                </a:lnTo>
                <a:lnTo>
                  <a:pt x="67525" y="23025"/>
                </a:lnTo>
                <a:lnTo>
                  <a:pt x="69786" y="23241"/>
                </a:lnTo>
                <a:lnTo>
                  <a:pt x="69850" y="28816"/>
                </a:lnTo>
                <a:lnTo>
                  <a:pt x="69850" y="45275"/>
                </a:lnTo>
                <a:lnTo>
                  <a:pt x="69646" y="45491"/>
                </a:lnTo>
                <a:lnTo>
                  <a:pt x="67246" y="45707"/>
                </a:lnTo>
                <a:lnTo>
                  <a:pt x="67246" y="46977"/>
                </a:lnTo>
                <a:lnTo>
                  <a:pt x="76492" y="46977"/>
                </a:lnTo>
                <a:lnTo>
                  <a:pt x="76492" y="45707"/>
                </a:lnTo>
                <a:lnTo>
                  <a:pt x="73456" y="45491"/>
                </a:lnTo>
                <a:lnTo>
                  <a:pt x="73240" y="45275"/>
                </a:lnTo>
                <a:lnTo>
                  <a:pt x="73240" y="36868"/>
                </a:lnTo>
                <a:lnTo>
                  <a:pt x="73736" y="37084"/>
                </a:lnTo>
                <a:lnTo>
                  <a:pt x="74587" y="37299"/>
                </a:lnTo>
                <a:lnTo>
                  <a:pt x="75653" y="37363"/>
                </a:lnTo>
                <a:lnTo>
                  <a:pt x="79438" y="36868"/>
                </a:lnTo>
                <a:lnTo>
                  <a:pt x="80137" y="36779"/>
                </a:lnTo>
                <a:lnTo>
                  <a:pt x="81851" y="35318"/>
                </a:lnTo>
                <a:lnTo>
                  <a:pt x="83845" y="33616"/>
                </a:lnTo>
                <a:lnTo>
                  <a:pt x="84404" y="28816"/>
                </a:lnTo>
                <a:lnTo>
                  <a:pt x="84480" y="24155"/>
                </a:lnTo>
                <a:close/>
              </a:path>
              <a:path w="177800" h="48260">
                <a:moveTo>
                  <a:pt x="99314" y="21615"/>
                </a:moveTo>
                <a:lnTo>
                  <a:pt x="98386" y="20624"/>
                </a:lnTo>
                <a:lnTo>
                  <a:pt x="95567" y="20624"/>
                </a:lnTo>
                <a:lnTo>
                  <a:pt x="93941" y="22326"/>
                </a:lnTo>
                <a:lnTo>
                  <a:pt x="92811" y="24447"/>
                </a:lnTo>
                <a:lnTo>
                  <a:pt x="92735" y="20561"/>
                </a:lnTo>
                <a:lnTo>
                  <a:pt x="91046" y="21196"/>
                </a:lnTo>
                <a:lnTo>
                  <a:pt x="89141" y="21615"/>
                </a:lnTo>
                <a:lnTo>
                  <a:pt x="87160" y="21971"/>
                </a:lnTo>
                <a:lnTo>
                  <a:pt x="87160" y="23101"/>
                </a:lnTo>
                <a:lnTo>
                  <a:pt x="89204" y="23456"/>
                </a:lnTo>
                <a:lnTo>
                  <a:pt x="89357" y="23456"/>
                </a:lnTo>
                <a:lnTo>
                  <a:pt x="89357" y="28816"/>
                </a:lnTo>
                <a:lnTo>
                  <a:pt x="89357" y="35318"/>
                </a:lnTo>
                <a:lnTo>
                  <a:pt x="89141" y="35534"/>
                </a:lnTo>
                <a:lnTo>
                  <a:pt x="86880" y="35750"/>
                </a:lnTo>
                <a:lnTo>
                  <a:pt x="86880" y="37020"/>
                </a:lnTo>
                <a:lnTo>
                  <a:pt x="95783" y="37020"/>
                </a:lnTo>
                <a:lnTo>
                  <a:pt x="95783" y="35750"/>
                </a:lnTo>
                <a:lnTo>
                  <a:pt x="92951" y="35534"/>
                </a:lnTo>
                <a:lnTo>
                  <a:pt x="92735" y="35318"/>
                </a:lnTo>
                <a:lnTo>
                  <a:pt x="92735" y="28816"/>
                </a:lnTo>
                <a:lnTo>
                  <a:pt x="92735" y="26987"/>
                </a:lnTo>
                <a:lnTo>
                  <a:pt x="93446" y="25006"/>
                </a:lnTo>
                <a:lnTo>
                  <a:pt x="94056" y="24447"/>
                </a:lnTo>
                <a:lnTo>
                  <a:pt x="94500" y="24015"/>
                </a:lnTo>
                <a:lnTo>
                  <a:pt x="95986" y="24015"/>
                </a:lnTo>
                <a:lnTo>
                  <a:pt x="96481" y="24155"/>
                </a:lnTo>
                <a:lnTo>
                  <a:pt x="96913" y="24650"/>
                </a:lnTo>
                <a:lnTo>
                  <a:pt x="97751" y="25438"/>
                </a:lnTo>
                <a:lnTo>
                  <a:pt x="99314" y="24155"/>
                </a:lnTo>
                <a:lnTo>
                  <a:pt x="99314" y="24015"/>
                </a:lnTo>
                <a:lnTo>
                  <a:pt x="99314" y="21615"/>
                </a:lnTo>
                <a:close/>
              </a:path>
              <a:path w="177800" h="48260">
                <a:moveTo>
                  <a:pt x="107365" y="13563"/>
                </a:moveTo>
                <a:lnTo>
                  <a:pt x="106375" y="12573"/>
                </a:lnTo>
                <a:lnTo>
                  <a:pt x="103835" y="12573"/>
                </a:lnTo>
                <a:lnTo>
                  <a:pt x="102844" y="13563"/>
                </a:lnTo>
                <a:lnTo>
                  <a:pt x="102844" y="16103"/>
                </a:lnTo>
                <a:lnTo>
                  <a:pt x="103835" y="17094"/>
                </a:lnTo>
                <a:lnTo>
                  <a:pt x="106375" y="17094"/>
                </a:lnTo>
                <a:lnTo>
                  <a:pt x="107365" y="16103"/>
                </a:lnTo>
                <a:lnTo>
                  <a:pt x="107365" y="13563"/>
                </a:lnTo>
                <a:close/>
              </a:path>
              <a:path w="177800" h="48260">
                <a:moveTo>
                  <a:pt x="109410" y="35750"/>
                </a:moveTo>
                <a:lnTo>
                  <a:pt x="107073" y="35534"/>
                </a:lnTo>
                <a:lnTo>
                  <a:pt x="106934" y="35318"/>
                </a:lnTo>
                <a:lnTo>
                  <a:pt x="106934" y="28816"/>
                </a:lnTo>
                <a:lnTo>
                  <a:pt x="106934" y="20561"/>
                </a:lnTo>
                <a:lnTo>
                  <a:pt x="105244" y="21120"/>
                </a:lnTo>
                <a:lnTo>
                  <a:pt x="103263" y="21615"/>
                </a:lnTo>
                <a:lnTo>
                  <a:pt x="101219" y="21971"/>
                </a:lnTo>
                <a:lnTo>
                  <a:pt x="101219" y="23101"/>
                </a:lnTo>
                <a:lnTo>
                  <a:pt x="103403" y="23380"/>
                </a:lnTo>
                <a:lnTo>
                  <a:pt x="103543" y="23380"/>
                </a:lnTo>
                <a:lnTo>
                  <a:pt x="103543" y="28816"/>
                </a:lnTo>
                <a:lnTo>
                  <a:pt x="103543" y="35318"/>
                </a:lnTo>
                <a:lnTo>
                  <a:pt x="103263" y="35534"/>
                </a:lnTo>
                <a:lnTo>
                  <a:pt x="101003" y="35750"/>
                </a:lnTo>
                <a:lnTo>
                  <a:pt x="101003" y="37020"/>
                </a:lnTo>
                <a:lnTo>
                  <a:pt x="109410" y="37020"/>
                </a:lnTo>
                <a:lnTo>
                  <a:pt x="109410" y="35750"/>
                </a:lnTo>
                <a:close/>
              </a:path>
              <a:path w="177800" h="48260">
                <a:moveTo>
                  <a:pt x="129400" y="35750"/>
                </a:moveTo>
                <a:lnTo>
                  <a:pt x="127419" y="35534"/>
                </a:lnTo>
                <a:lnTo>
                  <a:pt x="127139" y="35318"/>
                </a:lnTo>
                <a:lnTo>
                  <a:pt x="127139" y="28816"/>
                </a:lnTo>
                <a:lnTo>
                  <a:pt x="127139" y="23025"/>
                </a:lnTo>
                <a:lnTo>
                  <a:pt x="127139" y="22606"/>
                </a:lnTo>
                <a:lnTo>
                  <a:pt x="125298" y="20624"/>
                </a:lnTo>
                <a:lnTo>
                  <a:pt x="120421" y="20624"/>
                </a:lnTo>
                <a:lnTo>
                  <a:pt x="117957" y="22466"/>
                </a:lnTo>
                <a:lnTo>
                  <a:pt x="117106" y="23164"/>
                </a:lnTo>
                <a:lnTo>
                  <a:pt x="117106" y="20561"/>
                </a:lnTo>
                <a:lnTo>
                  <a:pt x="115417" y="21196"/>
                </a:lnTo>
                <a:lnTo>
                  <a:pt x="113576" y="21615"/>
                </a:lnTo>
                <a:lnTo>
                  <a:pt x="111594" y="21971"/>
                </a:lnTo>
                <a:lnTo>
                  <a:pt x="111594" y="23101"/>
                </a:lnTo>
                <a:lnTo>
                  <a:pt x="113576" y="23380"/>
                </a:lnTo>
                <a:lnTo>
                  <a:pt x="113715" y="23456"/>
                </a:lnTo>
                <a:lnTo>
                  <a:pt x="113715" y="28816"/>
                </a:lnTo>
                <a:lnTo>
                  <a:pt x="113715" y="35318"/>
                </a:lnTo>
                <a:lnTo>
                  <a:pt x="113360" y="35534"/>
                </a:lnTo>
                <a:lnTo>
                  <a:pt x="111175" y="35750"/>
                </a:lnTo>
                <a:lnTo>
                  <a:pt x="111175" y="37020"/>
                </a:lnTo>
                <a:lnTo>
                  <a:pt x="119151" y="37020"/>
                </a:lnTo>
                <a:lnTo>
                  <a:pt x="119151" y="35750"/>
                </a:lnTo>
                <a:lnTo>
                  <a:pt x="117322" y="35534"/>
                </a:lnTo>
                <a:lnTo>
                  <a:pt x="117106" y="35318"/>
                </a:lnTo>
                <a:lnTo>
                  <a:pt x="117106" y="28816"/>
                </a:lnTo>
                <a:lnTo>
                  <a:pt x="117106" y="24866"/>
                </a:lnTo>
                <a:lnTo>
                  <a:pt x="118097" y="23952"/>
                </a:lnTo>
                <a:lnTo>
                  <a:pt x="119291" y="23164"/>
                </a:lnTo>
                <a:lnTo>
                  <a:pt x="119507" y="23025"/>
                </a:lnTo>
                <a:lnTo>
                  <a:pt x="122758" y="23025"/>
                </a:lnTo>
                <a:lnTo>
                  <a:pt x="123748" y="24447"/>
                </a:lnTo>
                <a:lnTo>
                  <a:pt x="123748" y="28816"/>
                </a:lnTo>
                <a:lnTo>
                  <a:pt x="123748" y="35318"/>
                </a:lnTo>
                <a:lnTo>
                  <a:pt x="123532" y="35534"/>
                </a:lnTo>
                <a:lnTo>
                  <a:pt x="121704" y="35750"/>
                </a:lnTo>
                <a:lnTo>
                  <a:pt x="121704" y="37020"/>
                </a:lnTo>
                <a:lnTo>
                  <a:pt x="129400" y="37020"/>
                </a:lnTo>
                <a:lnTo>
                  <a:pt x="129400" y="35750"/>
                </a:lnTo>
                <a:close/>
              </a:path>
              <a:path w="177800" h="48260">
                <a:moveTo>
                  <a:pt x="148043" y="21475"/>
                </a:moveTo>
                <a:lnTo>
                  <a:pt x="147764" y="21056"/>
                </a:lnTo>
                <a:lnTo>
                  <a:pt x="144513" y="21475"/>
                </a:lnTo>
                <a:lnTo>
                  <a:pt x="142824" y="21551"/>
                </a:lnTo>
                <a:lnTo>
                  <a:pt x="141871" y="21031"/>
                </a:lnTo>
                <a:lnTo>
                  <a:pt x="141871" y="28282"/>
                </a:lnTo>
                <a:lnTo>
                  <a:pt x="141706" y="28816"/>
                </a:lnTo>
                <a:lnTo>
                  <a:pt x="141236" y="30378"/>
                </a:lnTo>
                <a:lnTo>
                  <a:pt x="140195" y="31076"/>
                </a:lnTo>
                <a:lnTo>
                  <a:pt x="137833" y="31076"/>
                </a:lnTo>
                <a:lnTo>
                  <a:pt x="135750" y="23596"/>
                </a:lnTo>
                <a:lnTo>
                  <a:pt x="137312" y="22186"/>
                </a:lnTo>
                <a:lnTo>
                  <a:pt x="140703" y="22186"/>
                </a:lnTo>
                <a:lnTo>
                  <a:pt x="141795" y="24015"/>
                </a:lnTo>
                <a:lnTo>
                  <a:pt x="141871" y="28282"/>
                </a:lnTo>
                <a:lnTo>
                  <a:pt x="141871" y="21031"/>
                </a:lnTo>
                <a:lnTo>
                  <a:pt x="141681" y="20916"/>
                </a:lnTo>
                <a:lnTo>
                  <a:pt x="140411" y="20624"/>
                </a:lnTo>
                <a:lnTo>
                  <a:pt x="135902" y="20624"/>
                </a:lnTo>
                <a:lnTo>
                  <a:pt x="132080" y="22885"/>
                </a:lnTo>
                <a:lnTo>
                  <a:pt x="132181" y="28282"/>
                </a:lnTo>
                <a:lnTo>
                  <a:pt x="132346" y="28816"/>
                </a:lnTo>
                <a:lnTo>
                  <a:pt x="132892" y="30454"/>
                </a:lnTo>
                <a:lnTo>
                  <a:pt x="134137" y="31737"/>
                </a:lnTo>
                <a:lnTo>
                  <a:pt x="135470" y="32207"/>
                </a:lnTo>
                <a:lnTo>
                  <a:pt x="134912" y="32918"/>
                </a:lnTo>
                <a:lnTo>
                  <a:pt x="133489" y="34048"/>
                </a:lnTo>
                <a:lnTo>
                  <a:pt x="132016" y="34759"/>
                </a:lnTo>
                <a:lnTo>
                  <a:pt x="131864" y="36804"/>
                </a:lnTo>
                <a:lnTo>
                  <a:pt x="133845" y="37934"/>
                </a:lnTo>
                <a:lnTo>
                  <a:pt x="134975" y="38354"/>
                </a:lnTo>
                <a:lnTo>
                  <a:pt x="131864" y="40690"/>
                </a:lnTo>
                <a:lnTo>
                  <a:pt x="131165" y="41821"/>
                </a:lnTo>
                <a:lnTo>
                  <a:pt x="131165" y="45491"/>
                </a:lnTo>
                <a:lnTo>
                  <a:pt x="133489" y="48171"/>
                </a:lnTo>
                <a:lnTo>
                  <a:pt x="143103" y="48171"/>
                </a:lnTo>
                <a:lnTo>
                  <a:pt x="145554" y="46202"/>
                </a:lnTo>
                <a:lnTo>
                  <a:pt x="147485" y="44640"/>
                </a:lnTo>
                <a:lnTo>
                  <a:pt x="147485" y="38569"/>
                </a:lnTo>
                <a:lnTo>
                  <a:pt x="147485" y="36804"/>
                </a:lnTo>
                <a:lnTo>
                  <a:pt x="144653" y="35852"/>
                </a:lnTo>
                <a:lnTo>
                  <a:pt x="144653" y="40474"/>
                </a:lnTo>
                <a:lnTo>
                  <a:pt x="144653" y="44005"/>
                </a:lnTo>
                <a:lnTo>
                  <a:pt x="142824" y="46202"/>
                </a:lnTo>
                <a:lnTo>
                  <a:pt x="136601" y="46202"/>
                </a:lnTo>
                <a:lnTo>
                  <a:pt x="134620" y="44500"/>
                </a:lnTo>
                <a:lnTo>
                  <a:pt x="134620" y="40690"/>
                </a:lnTo>
                <a:lnTo>
                  <a:pt x="135902" y="38569"/>
                </a:lnTo>
                <a:lnTo>
                  <a:pt x="140703" y="38569"/>
                </a:lnTo>
                <a:lnTo>
                  <a:pt x="141973" y="38633"/>
                </a:lnTo>
                <a:lnTo>
                  <a:pt x="143878" y="39344"/>
                </a:lnTo>
                <a:lnTo>
                  <a:pt x="144653" y="40474"/>
                </a:lnTo>
                <a:lnTo>
                  <a:pt x="144653" y="35852"/>
                </a:lnTo>
                <a:lnTo>
                  <a:pt x="144373" y="35750"/>
                </a:lnTo>
                <a:lnTo>
                  <a:pt x="136601" y="35750"/>
                </a:lnTo>
                <a:lnTo>
                  <a:pt x="136042" y="34963"/>
                </a:lnTo>
                <a:lnTo>
                  <a:pt x="136042" y="33832"/>
                </a:lnTo>
                <a:lnTo>
                  <a:pt x="136677" y="32918"/>
                </a:lnTo>
                <a:lnTo>
                  <a:pt x="137452" y="32639"/>
                </a:lnTo>
                <a:lnTo>
                  <a:pt x="137871" y="32639"/>
                </a:lnTo>
                <a:lnTo>
                  <a:pt x="138442" y="32702"/>
                </a:lnTo>
                <a:lnTo>
                  <a:pt x="141224" y="32702"/>
                </a:lnTo>
                <a:lnTo>
                  <a:pt x="141363" y="32639"/>
                </a:lnTo>
                <a:lnTo>
                  <a:pt x="144005" y="31343"/>
                </a:lnTo>
                <a:lnTo>
                  <a:pt x="144106" y="31076"/>
                </a:lnTo>
                <a:lnTo>
                  <a:pt x="145059" y="28816"/>
                </a:lnTo>
                <a:lnTo>
                  <a:pt x="145351" y="28105"/>
                </a:lnTo>
                <a:lnTo>
                  <a:pt x="145453" y="27609"/>
                </a:lnTo>
                <a:lnTo>
                  <a:pt x="145503" y="25438"/>
                </a:lnTo>
                <a:lnTo>
                  <a:pt x="145072" y="24015"/>
                </a:lnTo>
                <a:lnTo>
                  <a:pt x="144589" y="23317"/>
                </a:lnTo>
                <a:lnTo>
                  <a:pt x="146494" y="23456"/>
                </a:lnTo>
                <a:lnTo>
                  <a:pt x="146773" y="23317"/>
                </a:lnTo>
                <a:lnTo>
                  <a:pt x="147053" y="23164"/>
                </a:lnTo>
                <a:lnTo>
                  <a:pt x="147675" y="22186"/>
                </a:lnTo>
                <a:lnTo>
                  <a:pt x="148005" y="21551"/>
                </a:lnTo>
                <a:close/>
              </a:path>
              <a:path w="177800" h="48260">
                <a:moveTo>
                  <a:pt x="162661" y="23380"/>
                </a:moveTo>
                <a:lnTo>
                  <a:pt x="161620" y="22250"/>
                </a:lnTo>
                <a:lnTo>
                  <a:pt x="160121" y="20624"/>
                </a:lnTo>
                <a:lnTo>
                  <a:pt x="159207" y="20624"/>
                </a:lnTo>
                <a:lnTo>
                  <a:pt x="159207" y="26352"/>
                </a:lnTo>
                <a:lnTo>
                  <a:pt x="159067" y="26555"/>
                </a:lnTo>
                <a:lnTo>
                  <a:pt x="158356" y="26555"/>
                </a:lnTo>
                <a:lnTo>
                  <a:pt x="152781" y="26708"/>
                </a:lnTo>
                <a:lnTo>
                  <a:pt x="153123" y="23876"/>
                </a:lnTo>
                <a:lnTo>
                  <a:pt x="154686" y="22250"/>
                </a:lnTo>
                <a:lnTo>
                  <a:pt x="158000" y="22250"/>
                </a:lnTo>
                <a:lnTo>
                  <a:pt x="159156" y="23876"/>
                </a:lnTo>
                <a:lnTo>
                  <a:pt x="159207" y="26352"/>
                </a:lnTo>
                <a:lnTo>
                  <a:pt x="159207" y="20624"/>
                </a:lnTo>
                <a:lnTo>
                  <a:pt x="153276" y="20624"/>
                </a:lnTo>
                <a:lnTo>
                  <a:pt x="149669" y="24155"/>
                </a:lnTo>
                <a:lnTo>
                  <a:pt x="149275" y="28816"/>
                </a:lnTo>
                <a:lnTo>
                  <a:pt x="149352" y="34048"/>
                </a:lnTo>
                <a:lnTo>
                  <a:pt x="151930" y="37439"/>
                </a:lnTo>
                <a:lnTo>
                  <a:pt x="157721" y="37439"/>
                </a:lnTo>
                <a:lnTo>
                  <a:pt x="160261" y="36728"/>
                </a:lnTo>
                <a:lnTo>
                  <a:pt x="161988" y="34607"/>
                </a:lnTo>
                <a:lnTo>
                  <a:pt x="162344" y="34188"/>
                </a:lnTo>
                <a:lnTo>
                  <a:pt x="162344" y="33909"/>
                </a:lnTo>
                <a:lnTo>
                  <a:pt x="161607" y="32918"/>
                </a:lnTo>
                <a:lnTo>
                  <a:pt x="160261" y="34188"/>
                </a:lnTo>
                <a:lnTo>
                  <a:pt x="159207" y="34607"/>
                </a:lnTo>
                <a:lnTo>
                  <a:pt x="155321" y="34607"/>
                </a:lnTo>
                <a:lnTo>
                  <a:pt x="152844" y="32880"/>
                </a:lnTo>
                <a:lnTo>
                  <a:pt x="152577" y="28829"/>
                </a:lnTo>
                <a:lnTo>
                  <a:pt x="150926" y="28829"/>
                </a:lnTo>
                <a:lnTo>
                  <a:pt x="152577" y="28816"/>
                </a:lnTo>
                <a:lnTo>
                  <a:pt x="152565" y="28473"/>
                </a:lnTo>
                <a:lnTo>
                  <a:pt x="156667" y="28333"/>
                </a:lnTo>
                <a:lnTo>
                  <a:pt x="161188" y="27978"/>
                </a:lnTo>
                <a:lnTo>
                  <a:pt x="161747" y="27901"/>
                </a:lnTo>
                <a:lnTo>
                  <a:pt x="162521" y="27762"/>
                </a:lnTo>
                <a:lnTo>
                  <a:pt x="162661" y="27406"/>
                </a:lnTo>
                <a:lnTo>
                  <a:pt x="162661" y="26708"/>
                </a:lnTo>
                <a:lnTo>
                  <a:pt x="162661" y="23380"/>
                </a:lnTo>
                <a:close/>
              </a:path>
              <a:path w="177800" h="48260">
                <a:moveTo>
                  <a:pt x="177431" y="21615"/>
                </a:moveTo>
                <a:lnTo>
                  <a:pt x="176441" y="20624"/>
                </a:lnTo>
                <a:lnTo>
                  <a:pt x="173609" y="20624"/>
                </a:lnTo>
                <a:lnTo>
                  <a:pt x="171983" y="22326"/>
                </a:lnTo>
                <a:lnTo>
                  <a:pt x="170853" y="24447"/>
                </a:lnTo>
                <a:lnTo>
                  <a:pt x="170789" y="20561"/>
                </a:lnTo>
                <a:lnTo>
                  <a:pt x="169087" y="21196"/>
                </a:lnTo>
                <a:lnTo>
                  <a:pt x="167259" y="21615"/>
                </a:lnTo>
                <a:lnTo>
                  <a:pt x="165214" y="21971"/>
                </a:lnTo>
                <a:lnTo>
                  <a:pt x="165214" y="23101"/>
                </a:lnTo>
                <a:lnTo>
                  <a:pt x="167259" y="23456"/>
                </a:lnTo>
                <a:lnTo>
                  <a:pt x="167398" y="23456"/>
                </a:lnTo>
                <a:lnTo>
                  <a:pt x="167398" y="28816"/>
                </a:lnTo>
                <a:lnTo>
                  <a:pt x="167398" y="35318"/>
                </a:lnTo>
                <a:lnTo>
                  <a:pt x="167182" y="35534"/>
                </a:lnTo>
                <a:lnTo>
                  <a:pt x="164922" y="35750"/>
                </a:lnTo>
                <a:lnTo>
                  <a:pt x="164922" y="37020"/>
                </a:lnTo>
                <a:lnTo>
                  <a:pt x="173901" y="37020"/>
                </a:lnTo>
                <a:lnTo>
                  <a:pt x="173901" y="35750"/>
                </a:lnTo>
                <a:lnTo>
                  <a:pt x="171069" y="35534"/>
                </a:lnTo>
                <a:lnTo>
                  <a:pt x="170789" y="35318"/>
                </a:lnTo>
                <a:lnTo>
                  <a:pt x="170789" y="28816"/>
                </a:lnTo>
                <a:lnTo>
                  <a:pt x="170789" y="26987"/>
                </a:lnTo>
                <a:lnTo>
                  <a:pt x="171488" y="25006"/>
                </a:lnTo>
                <a:lnTo>
                  <a:pt x="172135" y="24447"/>
                </a:lnTo>
                <a:lnTo>
                  <a:pt x="172618" y="24015"/>
                </a:lnTo>
                <a:lnTo>
                  <a:pt x="174040" y="24015"/>
                </a:lnTo>
                <a:lnTo>
                  <a:pt x="174599" y="24155"/>
                </a:lnTo>
                <a:lnTo>
                  <a:pt x="175031" y="24650"/>
                </a:lnTo>
                <a:lnTo>
                  <a:pt x="175806" y="25438"/>
                </a:lnTo>
                <a:lnTo>
                  <a:pt x="177431" y="24155"/>
                </a:lnTo>
                <a:lnTo>
                  <a:pt x="177431" y="24015"/>
                </a:lnTo>
                <a:lnTo>
                  <a:pt x="177431" y="21615"/>
                </a:lnTo>
                <a:close/>
              </a:path>
            </a:pathLst>
          </a:custGeom>
          <a:solidFill>
            <a:srgbClr val="FFFFFF"/>
          </a:solidFill>
        </p:spPr>
        <p:txBody>
          <a:bodyPr wrap="square" lIns="0" tIns="0" rIns="0" bIns="0" rtlCol="0"/>
          <a:lstStyle/>
          <a:p>
            <a:endParaRPr/>
          </a:p>
        </p:txBody>
      </p:sp>
      <p:sp>
        <p:nvSpPr>
          <p:cNvPr id="22" name="object 21">
            <a:extLst>
              <a:ext uri="{FF2B5EF4-FFF2-40B4-BE49-F238E27FC236}">
                <a16:creationId xmlns="" xmlns:a16="http://schemas.microsoft.com/office/drawing/2014/main" id="{BC49428E-434D-C43B-652E-F42AC73BD6EB}"/>
              </a:ext>
            </a:extLst>
          </p:cNvPr>
          <p:cNvSpPr/>
          <p:nvPr/>
        </p:nvSpPr>
        <p:spPr>
          <a:xfrm>
            <a:off x="457200" y="2300039"/>
            <a:ext cx="39370" cy="151765"/>
          </a:xfrm>
          <a:custGeom>
            <a:avLst/>
            <a:gdLst/>
            <a:ahLst/>
            <a:cxnLst/>
            <a:rect l="l" t="t" r="r" b="b"/>
            <a:pathLst>
              <a:path w="39370" h="151764">
                <a:moveTo>
                  <a:pt x="0" y="151624"/>
                </a:moveTo>
                <a:lnTo>
                  <a:pt x="0" y="0"/>
                </a:lnTo>
                <a:lnTo>
                  <a:pt x="39132" y="0"/>
                </a:lnTo>
                <a:lnTo>
                  <a:pt x="39132" y="151624"/>
                </a:lnTo>
                <a:lnTo>
                  <a:pt x="0" y="151624"/>
                </a:lnTo>
                <a:close/>
              </a:path>
            </a:pathLst>
          </a:custGeom>
          <a:solidFill>
            <a:srgbClr val="9C6435"/>
          </a:solidFill>
        </p:spPr>
        <p:txBody>
          <a:bodyPr wrap="square" lIns="0" tIns="0" rIns="0" bIns="0" rtlCol="0"/>
          <a:lstStyle/>
          <a:p>
            <a:endParaRPr/>
          </a:p>
        </p:txBody>
      </p:sp>
      <p:sp>
        <p:nvSpPr>
          <p:cNvPr id="23" name="object 22">
            <a:extLst>
              <a:ext uri="{FF2B5EF4-FFF2-40B4-BE49-F238E27FC236}">
                <a16:creationId xmlns="" xmlns:a16="http://schemas.microsoft.com/office/drawing/2014/main" id="{FB9D3219-7923-ADF0-8A5C-6DFA50169EC5}"/>
              </a:ext>
            </a:extLst>
          </p:cNvPr>
          <p:cNvSpPr txBox="1"/>
          <p:nvPr/>
        </p:nvSpPr>
        <p:spPr>
          <a:xfrm>
            <a:off x="476766" y="2803304"/>
            <a:ext cx="758190" cy="426084"/>
          </a:xfrm>
          <a:prstGeom prst="rect">
            <a:avLst/>
          </a:prstGeom>
        </p:spPr>
        <p:txBody>
          <a:bodyPr vert="horz" wrap="square" lIns="0" tIns="20320" rIns="0" bIns="0" rtlCol="0">
            <a:spAutoFit/>
          </a:bodyPr>
          <a:lstStyle/>
          <a:p>
            <a:pPr marL="76835">
              <a:lnSpc>
                <a:spcPct val="100000"/>
              </a:lnSpc>
              <a:spcBef>
                <a:spcPts val="160"/>
              </a:spcBef>
            </a:pPr>
            <a:r>
              <a:rPr sz="350" spc="-40" dirty="0">
                <a:solidFill>
                  <a:srgbClr val="FFFFFF"/>
                </a:solidFill>
                <a:latin typeface="Trebuchet MS" panose="020B0603020202020204"/>
                <a:cs typeface="Trebuchet MS" panose="020B0603020202020204"/>
              </a:rPr>
              <a:t>S</a:t>
            </a:r>
            <a:r>
              <a:rPr sz="350" spc="-65" dirty="0">
                <a:solidFill>
                  <a:srgbClr val="FFFFFF"/>
                </a:solidFill>
                <a:latin typeface="Trebuchet MS" panose="020B0603020202020204"/>
                <a:cs typeface="Trebuchet MS" panose="020B0603020202020204"/>
              </a:rPr>
              <a:t>e</a:t>
            </a:r>
            <a:r>
              <a:rPr sz="350" spc="-75" dirty="0">
                <a:solidFill>
                  <a:srgbClr val="FFFFFF"/>
                </a:solidFill>
                <a:latin typeface="Trebuchet MS" panose="020B0603020202020204"/>
                <a:cs typeface="Trebuchet MS" panose="020B0603020202020204"/>
              </a:rPr>
              <a:t>c</a:t>
            </a:r>
            <a:r>
              <a:rPr sz="350" spc="-55" dirty="0">
                <a:solidFill>
                  <a:srgbClr val="FFFFFF"/>
                </a:solidFill>
                <a:latin typeface="Trebuchet MS" panose="020B0603020202020204"/>
                <a:cs typeface="Trebuchet MS" panose="020B0603020202020204"/>
              </a:rPr>
              <a:t>ond</a:t>
            </a:r>
            <a:r>
              <a:rPr sz="350" spc="-45" dirty="0">
                <a:solidFill>
                  <a:srgbClr val="FFFFFF"/>
                </a:solidFill>
                <a:latin typeface="Trebuchet MS" panose="020B0603020202020204"/>
                <a:cs typeface="Trebuchet MS" panose="020B0603020202020204"/>
              </a:rPr>
              <a:t> </a:t>
            </a:r>
            <a:r>
              <a:rPr sz="350" spc="-70" dirty="0">
                <a:solidFill>
                  <a:srgbClr val="FFFFFF"/>
                </a:solidFill>
                <a:latin typeface="Trebuchet MS" panose="020B0603020202020204"/>
                <a:cs typeface="Trebuchet MS" panose="020B0603020202020204"/>
              </a:rPr>
              <a:t>E</a:t>
            </a:r>
            <a:r>
              <a:rPr sz="350" spc="-45" dirty="0">
                <a:solidFill>
                  <a:srgbClr val="FFFFFF"/>
                </a:solidFill>
                <a:latin typeface="Trebuchet MS" panose="020B0603020202020204"/>
                <a:cs typeface="Trebuchet MS" panose="020B0603020202020204"/>
              </a:rPr>
              <a:t>dition</a:t>
            </a:r>
            <a:endParaRPr sz="350">
              <a:latin typeface="Trebuchet MS" panose="020B0603020202020204"/>
              <a:cs typeface="Trebuchet MS" panose="020B0603020202020204"/>
            </a:endParaRPr>
          </a:p>
        </p:txBody>
      </p:sp>
      <p:sp>
        <p:nvSpPr>
          <p:cNvPr id="24" name="object 23">
            <a:extLst>
              <a:ext uri="{FF2B5EF4-FFF2-40B4-BE49-F238E27FC236}">
                <a16:creationId xmlns="" xmlns:a16="http://schemas.microsoft.com/office/drawing/2014/main" id="{C39B4730-35E9-F8A2-04C3-0180BBB74C97}"/>
              </a:ext>
            </a:extLst>
          </p:cNvPr>
          <p:cNvSpPr txBox="1"/>
          <p:nvPr/>
        </p:nvSpPr>
        <p:spPr>
          <a:xfrm>
            <a:off x="1416507" y="2178934"/>
            <a:ext cx="2747645" cy="1088390"/>
          </a:xfrm>
          <a:prstGeom prst="rect">
            <a:avLst/>
          </a:prstGeom>
        </p:spPr>
        <p:txBody>
          <a:bodyPr vert="horz" wrap="square" lIns="0" tIns="12065" rIns="0" bIns="0" rtlCol="0">
            <a:spAutoFit/>
          </a:bodyPr>
          <a:lstStyle/>
          <a:p>
            <a:pPr marL="12700" marR="5080" algn="just">
              <a:lnSpc>
                <a:spcPct val="100000"/>
              </a:lnSpc>
              <a:spcBef>
                <a:spcPts val="95"/>
              </a:spcBef>
            </a:pPr>
            <a:r>
              <a:rPr sz="1000" spc="75" dirty="0">
                <a:latin typeface="Times New Roman" panose="02020603050405020304" pitchFamily="18" charset="0"/>
                <a:cs typeface="Times New Roman" panose="02020603050405020304" pitchFamily="18" charset="0"/>
              </a:rPr>
              <a:t>This</a:t>
            </a:r>
            <a:r>
              <a:rPr sz="1000" spc="15" dirty="0">
                <a:latin typeface="Times New Roman" panose="02020603050405020304" pitchFamily="18" charset="0"/>
                <a:cs typeface="Times New Roman" panose="02020603050405020304" pitchFamily="18" charset="0"/>
              </a:rPr>
              <a:t> </a:t>
            </a:r>
            <a:r>
              <a:rPr sz="1000" spc="30" dirty="0">
                <a:latin typeface="Times New Roman" panose="02020603050405020304" pitchFamily="18" charset="0"/>
                <a:cs typeface="Times New Roman" panose="02020603050405020304" pitchFamily="18" charset="0"/>
              </a:rPr>
              <a:t>Springer</a:t>
            </a:r>
            <a:r>
              <a:rPr sz="1000" spc="15" dirty="0">
                <a:latin typeface="Times New Roman" panose="02020603050405020304" pitchFamily="18" charset="0"/>
                <a:cs typeface="Times New Roman" panose="02020603050405020304" pitchFamily="18" charset="0"/>
              </a:rPr>
              <a:t> </a:t>
            </a:r>
            <a:r>
              <a:rPr sz="1000" spc="20" dirty="0">
                <a:latin typeface="Times New Roman" panose="02020603050405020304" pitchFamily="18" charset="0"/>
                <a:cs typeface="Times New Roman" panose="02020603050405020304" pitchFamily="18" charset="0"/>
              </a:rPr>
              <a:t>book </a:t>
            </a:r>
            <a:r>
              <a:rPr sz="1000" spc="130" dirty="0">
                <a:latin typeface="Times New Roman" panose="02020603050405020304" pitchFamily="18" charset="0"/>
                <a:cs typeface="Times New Roman" panose="02020603050405020304" pitchFamily="18" charset="0"/>
              </a:rPr>
              <a:t>(ESL)</a:t>
            </a:r>
            <a:r>
              <a:rPr sz="1000" spc="15" dirty="0">
                <a:latin typeface="Times New Roman" panose="02020603050405020304" pitchFamily="18" charset="0"/>
                <a:cs typeface="Times New Roman" panose="02020603050405020304" pitchFamily="18" charset="0"/>
              </a:rPr>
              <a:t> </a:t>
            </a:r>
            <a:r>
              <a:rPr sz="1000" spc="20" dirty="0">
                <a:latin typeface="Times New Roman" panose="02020603050405020304" pitchFamily="18" charset="0"/>
                <a:cs typeface="Times New Roman" panose="02020603050405020304" pitchFamily="18" charset="0"/>
              </a:rPr>
              <a:t>is</a:t>
            </a:r>
            <a:r>
              <a:rPr sz="1000" spc="15" dirty="0">
                <a:latin typeface="Times New Roman" panose="02020603050405020304" pitchFamily="18" charset="0"/>
                <a:cs typeface="Times New Roman" panose="02020603050405020304" pitchFamily="18" charset="0"/>
              </a:rPr>
              <a:t> </a:t>
            </a:r>
            <a:r>
              <a:rPr sz="1000" spc="-5" dirty="0">
                <a:latin typeface="Times New Roman" panose="02020603050405020304" pitchFamily="18" charset="0"/>
                <a:cs typeface="Times New Roman" panose="02020603050405020304" pitchFamily="18" charset="0"/>
              </a:rPr>
              <a:t>more</a:t>
            </a:r>
            <a:r>
              <a:rPr sz="1000" spc="20" dirty="0">
                <a:latin typeface="Times New Roman" panose="02020603050405020304" pitchFamily="18" charset="0"/>
                <a:cs typeface="Times New Roman" panose="02020603050405020304" pitchFamily="18" charset="0"/>
              </a:rPr>
              <a:t> </a:t>
            </a:r>
            <a:r>
              <a:rPr sz="1000" spc="30" dirty="0">
                <a:latin typeface="Times New Roman" panose="02020603050405020304" pitchFamily="18" charset="0"/>
                <a:cs typeface="Times New Roman" panose="02020603050405020304" pitchFamily="18" charset="0"/>
              </a:rPr>
              <a:t>mathematically </a:t>
            </a:r>
            <a:r>
              <a:rPr sz="1000" spc="-215" dirty="0">
                <a:latin typeface="Times New Roman" panose="02020603050405020304" pitchFamily="18" charset="0"/>
                <a:cs typeface="Times New Roman" panose="02020603050405020304" pitchFamily="18" charset="0"/>
              </a:rPr>
              <a:t> </a:t>
            </a:r>
            <a:r>
              <a:rPr sz="1000" spc="10" dirty="0">
                <a:latin typeface="Times New Roman" panose="02020603050405020304" pitchFamily="18" charset="0"/>
                <a:cs typeface="Times New Roman" panose="02020603050405020304" pitchFamily="18" charset="0"/>
              </a:rPr>
              <a:t>advanced </a:t>
            </a:r>
            <a:r>
              <a:rPr sz="1000" spc="30" dirty="0">
                <a:latin typeface="Times New Roman" panose="02020603050405020304" pitchFamily="18" charset="0"/>
                <a:cs typeface="Times New Roman" panose="02020603050405020304" pitchFamily="18" charset="0"/>
              </a:rPr>
              <a:t>than </a:t>
            </a:r>
            <a:r>
              <a:rPr sz="1000" spc="120" dirty="0">
                <a:latin typeface="Times New Roman" panose="02020603050405020304" pitchFamily="18" charset="0"/>
                <a:cs typeface="Times New Roman" panose="02020603050405020304" pitchFamily="18" charset="0"/>
              </a:rPr>
              <a:t>ISLR; </a:t>
            </a:r>
            <a:r>
              <a:rPr sz="1000" spc="5" dirty="0">
                <a:latin typeface="Times New Roman" panose="02020603050405020304" pitchFamily="18" charset="0"/>
                <a:cs typeface="Times New Roman" panose="02020603050405020304" pitchFamily="18" charset="0"/>
              </a:rPr>
              <a:t>the </a:t>
            </a:r>
            <a:r>
              <a:rPr sz="1000" spc="-5" dirty="0">
                <a:latin typeface="Times New Roman" panose="02020603050405020304" pitchFamily="18" charset="0"/>
                <a:cs typeface="Times New Roman" panose="02020603050405020304" pitchFamily="18" charset="0"/>
              </a:rPr>
              <a:t>second </a:t>
            </a:r>
            <a:r>
              <a:rPr sz="1000" spc="15" dirty="0">
                <a:latin typeface="Times New Roman" panose="02020603050405020304" pitchFamily="18" charset="0"/>
                <a:cs typeface="Times New Roman" panose="02020603050405020304" pitchFamily="18" charset="0"/>
              </a:rPr>
              <a:t>edition </a:t>
            </a:r>
            <a:r>
              <a:rPr sz="1000" spc="-5" dirty="0">
                <a:latin typeface="Times New Roman" panose="02020603050405020304" pitchFamily="18" charset="0"/>
                <a:cs typeface="Times New Roman" panose="02020603050405020304" pitchFamily="18" charset="0"/>
              </a:rPr>
              <a:t>was </a:t>
            </a:r>
            <a:r>
              <a:rPr sz="1000" spc="25" dirty="0">
                <a:latin typeface="Times New Roman" panose="02020603050405020304" pitchFamily="18" charset="0"/>
                <a:cs typeface="Times New Roman" panose="02020603050405020304" pitchFamily="18" charset="0"/>
              </a:rPr>
              <a:t>pub- </a:t>
            </a:r>
            <a:r>
              <a:rPr sz="1000" spc="30" dirty="0">
                <a:latin typeface="Times New Roman" panose="02020603050405020304" pitchFamily="18" charset="0"/>
                <a:cs typeface="Times New Roman" panose="02020603050405020304" pitchFamily="18" charset="0"/>
              </a:rPr>
              <a:t> </a:t>
            </a:r>
            <a:r>
              <a:rPr sz="1000" spc="15" dirty="0">
                <a:latin typeface="Times New Roman" panose="02020603050405020304" pitchFamily="18" charset="0"/>
                <a:cs typeface="Times New Roman" panose="02020603050405020304" pitchFamily="18" charset="0"/>
              </a:rPr>
              <a:t>lished </a:t>
            </a:r>
            <a:r>
              <a:rPr sz="1000" spc="35" dirty="0">
                <a:latin typeface="Times New Roman" panose="02020603050405020304" pitchFamily="18" charset="0"/>
                <a:cs typeface="Times New Roman" panose="02020603050405020304" pitchFamily="18" charset="0"/>
              </a:rPr>
              <a:t>in </a:t>
            </a:r>
            <a:r>
              <a:rPr sz="1000" spc="-5" dirty="0">
                <a:latin typeface="Times New Roman" panose="02020603050405020304" pitchFamily="18" charset="0"/>
                <a:cs typeface="Times New Roman" panose="02020603050405020304" pitchFamily="18" charset="0"/>
              </a:rPr>
              <a:t>2009, </a:t>
            </a:r>
            <a:r>
              <a:rPr sz="1000" spc="20" dirty="0">
                <a:latin typeface="Times New Roman" panose="02020603050405020304" pitchFamily="18" charset="0"/>
                <a:cs typeface="Times New Roman" panose="02020603050405020304" pitchFamily="18" charset="0"/>
              </a:rPr>
              <a:t>and </a:t>
            </a:r>
            <a:r>
              <a:rPr sz="1000" spc="10" dirty="0">
                <a:latin typeface="Times New Roman" panose="02020603050405020304" pitchFamily="18" charset="0"/>
                <a:cs typeface="Times New Roman" panose="02020603050405020304" pitchFamily="18" charset="0"/>
              </a:rPr>
              <a:t>coauthored </a:t>
            </a:r>
            <a:r>
              <a:rPr sz="1000" spc="35" dirty="0">
                <a:latin typeface="Times New Roman" panose="02020603050405020304" pitchFamily="18" charset="0"/>
                <a:cs typeface="Times New Roman" panose="02020603050405020304" pitchFamily="18" charset="0"/>
              </a:rPr>
              <a:t>by </a:t>
            </a:r>
            <a:r>
              <a:rPr sz="1000" spc="5" dirty="0">
                <a:latin typeface="Times New Roman" panose="02020603050405020304" pitchFamily="18" charset="0"/>
                <a:cs typeface="Times New Roman" panose="02020603050405020304" pitchFamily="18" charset="0"/>
              </a:rPr>
              <a:t>the </a:t>
            </a:r>
            <a:r>
              <a:rPr sz="1000" spc="25" dirty="0">
                <a:latin typeface="Times New Roman" panose="02020603050405020304" pitchFamily="18" charset="0"/>
                <a:cs typeface="Times New Roman" panose="02020603050405020304" pitchFamily="18" charset="0"/>
              </a:rPr>
              <a:t>instructors </a:t>
            </a:r>
            <a:r>
              <a:rPr sz="1000" spc="30" dirty="0">
                <a:latin typeface="Times New Roman" panose="02020603050405020304" pitchFamily="18" charset="0"/>
                <a:cs typeface="Times New Roman" panose="02020603050405020304" pitchFamily="18" charset="0"/>
              </a:rPr>
              <a:t> </a:t>
            </a:r>
            <a:r>
              <a:rPr sz="1000" spc="20" dirty="0">
                <a:latin typeface="Times New Roman" panose="02020603050405020304" pitchFamily="18" charset="0"/>
                <a:cs typeface="Times New Roman" panose="02020603050405020304" pitchFamily="18" charset="0"/>
              </a:rPr>
              <a:t>and Jerome </a:t>
            </a:r>
            <a:r>
              <a:rPr sz="1000" spc="25" dirty="0">
                <a:latin typeface="Times New Roman" panose="02020603050405020304" pitchFamily="18" charset="0"/>
                <a:cs typeface="Times New Roman" panose="02020603050405020304" pitchFamily="18" charset="0"/>
              </a:rPr>
              <a:t>Friedman.  </a:t>
            </a:r>
            <a:r>
              <a:rPr sz="1000" spc="75" dirty="0">
                <a:latin typeface="Times New Roman" panose="02020603050405020304" pitchFamily="18" charset="0"/>
                <a:cs typeface="Times New Roman" panose="02020603050405020304" pitchFamily="18" charset="0"/>
              </a:rPr>
              <a:t>It </a:t>
            </a:r>
            <a:r>
              <a:rPr sz="1000" spc="-5" dirty="0">
                <a:latin typeface="Times New Roman" panose="02020603050405020304" pitchFamily="18" charset="0"/>
                <a:cs typeface="Times New Roman" panose="02020603050405020304" pitchFamily="18" charset="0"/>
              </a:rPr>
              <a:t>covers</a:t>
            </a:r>
            <a:r>
              <a:rPr sz="1000" spc="215" dirty="0">
                <a:latin typeface="Times New Roman" panose="02020603050405020304" pitchFamily="18" charset="0"/>
                <a:cs typeface="Times New Roman" panose="02020603050405020304" pitchFamily="18" charset="0"/>
              </a:rPr>
              <a:t> </a:t>
            </a:r>
            <a:r>
              <a:rPr sz="1000" spc="15" dirty="0">
                <a:latin typeface="Times New Roman" panose="02020603050405020304" pitchFamily="18" charset="0"/>
                <a:cs typeface="Times New Roman" panose="02020603050405020304" pitchFamily="18" charset="0"/>
              </a:rPr>
              <a:t>a </a:t>
            </a:r>
            <a:r>
              <a:rPr sz="1000" spc="10" dirty="0">
                <a:latin typeface="Times New Roman" panose="02020603050405020304" pitchFamily="18" charset="0"/>
                <a:cs typeface="Times New Roman" panose="02020603050405020304" pitchFamily="18" charset="0"/>
              </a:rPr>
              <a:t>broader range </a:t>
            </a:r>
            <a:r>
              <a:rPr sz="1000" spc="15" dirty="0">
                <a:latin typeface="Times New Roman" panose="02020603050405020304" pitchFamily="18" charset="0"/>
                <a:cs typeface="Times New Roman" panose="02020603050405020304" pitchFamily="18" charset="0"/>
              </a:rPr>
              <a:t> </a:t>
            </a:r>
            <a:r>
              <a:rPr sz="1000" spc="-20" dirty="0">
                <a:latin typeface="Times New Roman" panose="02020603050405020304" pitchFamily="18" charset="0"/>
                <a:cs typeface="Times New Roman" panose="02020603050405020304" pitchFamily="18" charset="0"/>
              </a:rPr>
              <a:t>of </a:t>
            </a:r>
            <a:r>
              <a:rPr sz="1000" spc="20" dirty="0">
                <a:latin typeface="Times New Roman" panose="02020603050405020304" pitchFamily="18" charset="0"/>
                <a:cs typeface="Times New Roman" panose="02020603050405020304" pitchFamily="18" charset="0"/>
              </a:rPr>
              <a:t>topics. </a:t>
            </a:r>
            <a:r>
              <a:rPr sz="1000" spc="65" dirty="0">
                <a:latin typeface="Times New Roman" panose="02020603050405020304" pitchFamily="18" charset="0"/>
                <a:cs typeface="Times New Roman" panose="02020603050405020304" pitchFamily="18" charset="0"/>
              </a:rPr>
              <a:t>The </a:t>
            </a:r>
            <a:r>
              <a:rPr sz="1000" spc="20" dirty="0">
                <a:latin typeface="Times New Roman" panose="02020603050405020304" pitchFamily="18" charset="0"/>
                <a:cs typeface="Times New Roman" panose="02020603050405020304" pitchFamily="18" charset="0"/>
              </a:rPr>
              <a:t>book is </a:t>
            </a:r>
            <a:r>
              <a:rPr sz="1000" spc="15" dirty="0">
                <a:latin typeface="Times New Roman" panose="02020603050405020304" pitchFamily="18" charset="0"/>
                <a:cs typeface="Times New Roman" panose="02020603050405020304" pitchFamily="18" charset="0"/>
              </a:rPr>
              <a:t>available </a:t>
            </a:r>
            <a:r>
              <a:rPr sz="1000" spc="10" dirty="0">
                <a:latin typeface="Times New Roman" panose="02020603050405020304" pitchFamily="18" charset="0"/>
                <a:cs typeface="Times New Roman" panose="02020603050405020304" pitchFamily="18" charset="0"/>
              </a:rPr>
              <a:t>from </a:t>
            </a:r>
            <a:r>
              <a:rPr sz="1000" spc="30" dirty="0">
                <a:latin typeface="Times New Roman" panose="02020603050405020304" pitchFamily="18" charset="0"/>
                <a:cs typeface="Times New Roman" panose="02020603050405020304" pitchFamily="18" charset="0"/>
              </a:rPr>
              <a:t>Springer </a:t>
            </a:r>
            <a:r>
              <a:rPr sz="1000" spc="20" dirty="0">
                <a:latin typeface="Times New Roman" panose="02020603050405020304" pitchFamily="18" charset="0"/>
                <a:cs typeface="Times New Roman" panose="02020603050405020304" pitchFamily="18" charset="0"/>
              </a:rPr>
              <a:t>and </a:t>
            </a:r>
            <a:r>
              <a:rPr sz="1000" spc="25" dirty="0">
                <a:latin typeface="Times New Roman" panose="02020603050405020304" pitchFamily="18" charset="0"/>
                <a:cs typeface="Times New Roman" panose="02020603050405020304" pitchFamily="18" charset="0"/>
              </a:rPr>
              <a:t> </a:t>
            </a:r>
            <a:r>
              <a:rPr sz="1000" spc="40" dirty="0">
                <a:latin typeface="Times New Roman" panose="02020603050405020304" pitchFamily="18" charset="0"/>
                <a:cs typeface="Times New Roman" panose="02020603050405020304" pitchFamily="18" charset="0"/>
              </a:rPr>
              <a:t>Amazon, </a:t>
            </a:r>
            <a:r>
              <a:rPr sz="1000" spc="15" dirty="0">
                <a:latin typeface="Times New Roman" panose="02020603050405020304" pitchFamily="18" charset="0"/>
                <a:cs typeface="Times New Roman" panose="02020603050405020304" pitchFamily="18" charset="0"/>
              </a:rPr>
              <a:t>a </a:t>
            </a:r>
            <a:r>
              <a:rPr sz="1000" spc="-20" dirty="0">
                <a:latin typeface="Times New Roman" panose="02020603050405020304" pitchFamily="18" charset="0"/>
                <a:cs typeface="Times New Roman" panose="02020603050405020304" pitchFamily="18" charset="0"/>
              </a:rPr>
              <a:t>free </a:t>
            </a:r>
            <a:r>
              <a:rPr sz="1000" spc="10" dirty="0">
                <a:latin typeface="Times New Roman" panose="02020603050405020304" pitchFamily="18" charset="0"/>
                <a:cs typeface="Times New Roman" panose="02020603050405020304" pitchFamily="18" charset="0"/>
              </a:rPr>
              <a:t>electronic version </a:t>
            </a:r>
            <a:r>
              <a:rPr sz="1000" spc="20" dirty="0">
                <a:latin typeface="Times New Roman" panose="02020603050405020304" pitchFamily="18" charset="0"/>
                <a:cs typeface="Times New Roman" panose="02020603050405020304" pitchFamily="18" charset="0"/>
              </a:rPr>
              <a:t>is </a:t>
            </a:r>
            <a:r>
              <a:rPr sz="1000" spc="15" dirty="0">
                <a:latin typeface="Times New Roman" panose="02020603050405020304" pitchFamily="18" charset="0"/>
                <a:cs typeface="Times New Roman" panose="02020603050405020304" pitchFamily="18" charset="0"/>
              </a:rPr>
              <a:t>available </a:t>
            </a:r>
            <a:r>
              <a:rPr sz="1000" spc="10" dirty="0">
                <a:latin typeface="Times New Roman" panose="02020603050405020304" pitchFamily="18" charset="0"/>
                <a:cs typeface="Times New Roman" panose="02020603050405020304" pitchFamily="18" charset="0"/>
              </a:rPr>
              <a:t>from </a:t>
            </a:r>
            <a:r>
              <a:rPr sz="1000" spc="-215" dirty="0">
                <a:latin typeface="Times New Roman" panose="02020603050405020304" pitchFamily="18" charset="0"/>
                <a:cs typeface="Times New Roman" panose="02020603050405020304" pitchFamily="18" charset="0"/>
              </a:rPr>
              <a:t> </a:t>
            </a:r>
            <a:r>
              <a:rPr sz="1000" spc="5" dirty="0">
                <a:latin typeface="Times New Roman" panose="02020603050405020304" pitchFamily="18" charset="0"/>
                <a:cs typeface="Times New Roman" panose="02020603050405020304" pitchFamily="18" charset="0"/>
              </a:rPr>
              <a:t>the</a:t>
            </a:r>
            <a:r>
              <a:rPr sz="1000" spc="100" dirty="0">
                <a:latin typeface="Times New Roman" panose="02020603050405020304" pitchFamily="18" charset="0"/>
                <a:cs typeface="Times New Roman" panose="02020603050405020304" pitchFamily="18" charset="0"/>
              </a:rPr>
              <a:t> </a:t>
            </a:r>
            <a:r>
              <a:rPr sz="1000" spc="25" dirty="0">
                <a:latin typeface="Times New Roman" panose="02020603050405020304" pitchFamily="18" charset="0"/>
                <a:cs typeface="Times New Roman" panose="02020603050405020304" pitchFamily="18" charset="0"/>
              </a:rPr>
              <a:t>instructors’</a:t>
            </a:r>
            <a:r>
              <a:rPr sz="1000" spc="105" dirty="0">
                <a:latin typeface="Times New Roman" panose="02020603050405020304" pitchFamily="18" charset="0"/>
                <a:cs typeface="Times New Roman" panose="02020603050405020304" pitchFamily="18" charset="0"/>
              </a:rPr>
              <a:t> </a:t>
            </a:r>
            <a:r>
              <a:rPr sz="1000" dirty="0">
                <a:latin typeface="Times New Roman" panose="02020603050405020304" pitchFamily="18" charset="0"/>
                <a:cs typeface="Times New Roman" panose="02020603050405020304" pitchFamily="18" charset="0"/>
              </a:rPr>
              <a:t>websites.</a:t>
            </a:r>
          </a:p>
        </p:txBody>
      </p:sp>
      <p:sp>
        <p:nvSpPr>
          <p:cNvPr id="25" name="矩形 24">
            <a:extLst>
              <a:ext uri="{FF2B5EF4-FFF2-40B4-BE49-F238E27FC236}">
                <a16:creationId xmlns="" xmlns:a16="http://schemas.microsoft.com/office/drawing/2014/main" id="{B149BED0-0185-C7C3-F4C7-CFC4E21740FF}"/>
              </a:ext>
            </a:extLst>
          </p:cNvPr>
          <p:cNvSpPr/>
          <p:nvPr/>
        </p:nvSpPr>
        <p:spPr>
          <a:xfrm>
            <a:off x="247650" y="541297"/>
            <a:ext cx="4114800" cy="146228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4" name="Picture 2" descr="《统计学习导论：基于R应用》 Gareth James / Daniela Witten / Trevor Hastie 著 王星 译 pdf [51.10 MB]"/>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3295650" y="619706"/>
            <a:ext cx="935212" cy="13514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6700387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原创设计师QQ598969553      _2">
            <a:extLst>
              <a:ext uri="{FF2B5EF4-FFF2-40B4-BE49-F238E27FC236}">
                <a16:creationId xmlns="" xmlns:a16="http://schemas.microsoft.com/office/drawing/2014/main" id="{7C4725B1-D255-CC63-745B-0C08A542F8E6}"/>
              </a:ext>
            </a:extLst>
          </p:cNvPr>
          <p:cNvSpPr txBox="1"/>
          <p:nvPr/>
        </p:nvSpPr>
        <p:spPr>
          <a:xfrm>
            <a:off x="618435" y="185570"/>
            <a:ext cx="2267573" cy="204379"/>
          </a:xfrm>
          <a:prstGeom prst="rect">
            <a:avLst/>
          </a:prstGeom>
          <a:noFill/>
        </p:spPr>
        <p:txBody>
          <a:bodyPr wrap="square" lIns="34762" tIns="17381" rIns="34762" bIns="17381" rtlCol="0">
            <a:spAutoFit/>
          </a:bodyPr>
          <a:lstStyle/>
          <a:p>
            <a:r>
              <a:rPr lang="zh-CN" altLang="en-US" sz="1100" b="1" dirty="0">
                <a:latin typeface="微软雅黑" panose="020B0503020204020204" pitchFamily="34" charset="-122"/>
                <a:ea typeface="微软雅黑" panose="020B0503020204020204" pitchFamily="34" charset="-122"/>
              </a:rPr>
              <a:t>学习目的</a:t>
            </a:r>
          </a:p>
        </p:txBody>
      </p:sp>
      <p:grpSp>
        <p:nvGrpSpPr>
          <p:cNvPr id="68" name="原创设计师QQ598969553      _9">
            <a:extLst>
              <a:ext uri="{FF2B5EF4-FFF2-40B4-BE49-F238E27FC236}">
                <a16:creationId xmlns="" xmlns:a16="http://schemas.microsoft.com/office/drawing/2014/main" id="{EC33079E-1247-70DE-8763-3ACDD65E706D}"/>
              </a:ext>
            </a:extLst>
          </p:cNvPr>
          <p:cNvGrpSpPr/>
          <p:nvPr/>
        </p:nvGrpSpPr>
        <p:grpSpPr>
          <a:xfrm>
            <a:off x="188162" y="153558"/>
            <a:ext cx="304678" cy="243737"/>
            <a:chOff x="4268207" y="2118116"/>
            <a:chExt cx="2653566" cy="2214138"/>
          </a:xfrm>
        </p:grpSpPr>
        <p:grpSp>
          <p:nvGrpSpPr>
            <p:cNvPr id="69" name="组合 68">
              <a:extLst>
                <a:ext uri="{FF2B5EF4-FFF2-40B4-BE49-F238E27FC236}">
                  <a16:creationId xmlns="" xmlns:a16="http://schemas.microsoft.com/office/drawing/2014/main" id="{3866FBD5-A960-6794-8BA4-9DBBA9FC3AA3}"/>
                </a:ext>
              </a:extLst>
            </p:cNvPr>
            <p:cNvGrpSpPr/>
            <p:nvPr/>
          </p:nvGrpSpPr>
          <p:grpSpPr>
            <a:xfrm>
              <a:off x="4508674" y="2118116"/>
              <a:ext cx="2204282" cy="2204282"/>
              <a:chOff x="1517331" y="1125257"/>
              <a:chExt cx="2204282" cy="2204282"/>
            </a:xfrm>
          </p:grpSpPr>
          <p:sp>
            <p:nvSpPr>
              <p:cNvPr id="71" name="椭圆 70">
                <a:extLst>
                  <a:ext uri="{FF2B5EF4-FFF2-40B4-BE49-F238E27FC236}">
                    <a16:creationId xmlns="" xmlns:a16="http://schemas.microsoft.com/office/drawing/2014/main" id="{68A1054A-58A0-C11B-68D9-FA23D2B35325}"/>
                  </a:ext>
                </a:extLst>
              </p:cNvPr>
              <p:cNvSpPr/>
              <p:nvPr/>
            </p:nvSpPr>
            <p:spPr>
              <a:xfrm>
                <a:off x="1517331" y="1125257"/>
                <a:ext cx="2204282" cy="2204282"/>
              </a:xfrm>
              <a:prstGeom prst="ellipse">
                <a:avLst/>
              </a:prstGeom>
              <a:gradFill>
                <a:gsLst>
                  <a:gs pos="0">
                    <a:srgbClr val="EBEBEB"/>
                  </a:gs>
                  <a:gs pos="100000">
                    <a:srgbClr val="FEFEFE"/>
                  </a:gs>
                </a:gsLst>
                <a:lin ang="7530000" scaled="0"/>
              </a:gradFill>
              <a:ln w="12700">
                <a:solidFill>
                  <a:schemeClr val="bg1"/>
                </a:solidFill>
              </a:ln>
              <a:effectLst>
                <a:outerShdw blurRad="457200" dist="444500" dir="7800000" sx="89000" sy="89000" algn="tr" rotWithShape="0">
                  <a:prstClr val="black">
                    <a:alpha val="3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76">
                  <a:latin typeface="字体视界-NWE粗楷体" panose="02000500000000000000" pitchFamily="2" charset="-122"/>
                  <a:ea typeface="字体视界-NWE粗楷体" panose="02000500000000000000" pitchFamily="2" charset="-122"/>
                </a:endParaRPr>
              </a:p>
            </p:txBody>
          </p:sp>
          <p:sp>
            <p:nvSpPr>
              <p:cNvPr id="72" name="椭圆 71">
                <a:extLst>
                  <a:ext uri="{FF2B5EF4-FFF2-40B4-BE49-F238E27FC236}">
                    <a16:creationId xmlns="" xmlns:a16="http://schemas.microsoft.com/office/drawing/2014/main" id="{BFBCAB49-6A8C-B2B3-35ED-D6BBBED5CF8B}"/>
                  </a:ext>
                </a:extLst>
              </p:cNvPr>
              <p:cNvSpPr/>
              <p:nvPr/>
            </p:nvSpPr>
            <p:spPr>
              <a:xfrm>
                <a:off x="1719371" y="1344751"/>
                <a:ext cx="1800198" cy="1800200"/>
              </a:xfrm>
              <a:prstGeom prst="ellipse">
                <a:avLst/>
              </a:prstGeom>
              <a:solidFill>
                <a:srgbClr val="004098"/>
              </a:solidFill>
              <a:ln>
                <a:noFill/>
              </a:ln>
              <a:effectLst>
                <a:innerShdw blurRad="101600" dist="50800" dir="18900000">
                  <a:prstClr val="black">
                    <a:alpha val="43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76">
                  <a:latin typeface="字体视界-NWE粗楷体" panose="02000500000000000000" pitchFamily="2" charset="-122"/>
                  <a:ea typeface="字体视界-NWE粗楷体" panose="02000500000000000000" pitchFamily="2" charset="-122"/>
                </a:endParaRPr>
              </a:p>
            </p:txBody>
          </p:sp>
        </p:grpSp>
        <p:sp>
          <p:nvSpPr>
            <p:cNvPr id="70" name="TextBox 80">
              <a:extLst>
                <a:ext uri="{FF2B5EF4-FFF2-40B4-BE49-F238E27FC236}">
                  <a16:creationId xmlns="" xmlns:a16="http://schemas.microsoft.com/office/drawing/2014/main" id="{7A547AF7-EE79-5DEF-44B1-CF755100FDCC}"/>
                </a:ext>
              </a:extLst>
            </p:cNvPr>
            <p:cNvSpPr txBox="1"/>
            <p:nvPr/>
          </p:nvSpPr>
          <p:spPr>
            <a:xfrm>
              <a:off x="4268207" y="2408917"/>
              <a:ext cx="2653566" cy="1923337"/>
            </a:xfrm>
            <a:prstGeom prst="rect">
              <a:avLst/>
            </a:prstGeom>
            <a:noFill/>
          </p:spPr>
          <p:txBody>
            <a:bodyPr wrap="square" rtlCol="0">
              <a:spAutoFit/>
            </a:bodyPr>
            <a:lstStyle/>
            <a:p>
              <a:r>
                <a:rPr lang="en-US" altLang="zh-CN" sz="776" dirty="0">
                  <a:solidFill>
                    <a:schemeClr val="bg1"/>
                  </a:solidFill>
                  <a:latin typeface="字体视界-NWE粗楷体" panose="02000500000000000000" pitchFamily="2" charset="-122"/>
                  <a:ea typeface="字体视界-NWE粗楷体" panose="02000500000000000000" pitchFamily="2" charset="-122"/>
                </a:rPr>
                <a:t>10</a:t>
              </a:r>
            </a:p>
          </p:txBody>
        </p:sp>
      </p:grpSp>
      <p:sp>
        <p:nvSpPr>
          <p:cNvPr id="73" name="原创设计师QQ598969553      _12">
            <a:extLst>
              <a:ext uri="{FF2B5EF4-FFF2-40B4-BE49-F238E27FC236}">
                <a16:creationId xmlns="" xmlns:a16="http://schemas.microsoft.com/office/drawing/2014/main" id="{760473EF-0D78-F124-1B4B-A4A3255E7476}"/>
              </a:ext>
            </a:extLst>
          </p:cNvPr>
          <p:cNvSpPr>
            <a:spLocks noChangeShapeType="1"/>
          </p:cNvSpPr>
          <p:nvPr/>
        </p:nvSpPr>
        <p:spPr bwMode="auto">
          <a:xfrm flipH="1" flipV="1">
            <a:off x="543649" y="130604"/>
            <a:ext cx="0" cy="307269"/>
          </a:xfrm>
          <a:prstGeom prst="line">
            <a:avLst/>
          </a:prstGeom>
          <a:noFill/>
          <a:ln w="19050">
            <a:solidFill>
              <a:srgbClr val="004098"/>
            </a:solidFill>
            <a:prstDash val="dash"/>
            <a:round/>
          </a:ln>
          <a:extLst>
            <a:ext uri="{909E8E84-426E-40DD-AFC4-6F175D3DCCD1}">
              <a14:hiddenFill xmlns:a14="http://schemas.microsoft.com/office/drawing/2010/main">
                <a:noFill/>
              </a14:hiddenFill>
            </a:ext>
          </a:extLst>
        </p:spPr>
        <p:txBody>
          <a:bodyPr/>
          <a:lstStyle/>
          <a:p>
            <a:endParaRPr lang="zh-CN" altLang="en-US" sz="776" dirty="0"/>
          </a:p>
        </p:txBody>
      </p:sp>
      <p:sp>
        <p:nvSpPr>
          <p:cNvPr id="74" name="矩形: 圆角 18">
            <a:extLst>
              <a:ext uri="{FF2B5EF4-FFF2-40B4-BE49-F238E27FC236}">
                <a16:creationId xmlns="" xmlns:a16="http://schemas.microsoft.com/office/drawing/2014/main" id="{7C923056-96D1-FDBC-A663-A1F8635BC91E}"/>
              </a:ext>
            </a:extLst>
          </p:cNvPr>
          <p:cNvSpPr/>
          <p:nvPr/>
        </p:nvSpPr>
        <p:spPr>
          <a:xfrm flipV="1">
            <a:off x="140988" y="434975"/>
            <a:ext cx="2164062" cy="31919"/>
          </a:xfrm>
          <a:prstGeom prst="roundRect">
            <a:avLst>
              <a:gd name="adj" fmla="val 50000"/>
            </a:avLst>
          </a:prstGeom>
          <a:solidFill>
            <a:srgbClr val="0040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90">
              <a:solidFill>
                <a:srgbClr val="004098"/>
              </a:solidFill>
              <a:latin typeface="字体视界-NWE粗楷体" panose="02000500000000000000" pitchFamily="2" charset="-122"/>
              <a:ea typeface="字体视界-NWE粗楷体" panose="02000500000000000000" pitchFamily="2" charset="-122"/>
            </a:endParaRPr>
          </a:p>
        </p:txBody>
      </p:sp>
      <p:sp>
        <p:nvSpPr>
          <p:cNvPr id="2" name="object 12">
            <a:extLst>
              <a:ext uri="{FF2B5EF4-FFF2-40B4-BE49-F238E27FC236}">
                <a16:creationId xmlns="" xmlns:a16="http://schemas.microsoft.com/office/drawing/2014/main" id="{D3B64C0B-2819-F063-AF97-AFB56A86A3F7}"/>
              </a:ext>
            </a:extLst>
          </p:cNvPr>
          <p:cNvSpPr txBox="1"/>
          <p:nvPr/>
        </p:nvSpPr>
        <p:spPr>
          <a:xfrm>
            <a:off x="359551" y="1054869"/>
            <a:ext cx="3886200" cy="1535677"/>
          </a:xfrm>
          <a:prstGeom prst="rect">
            <a:avLst/>
          </a:prstGeom>
        </p:spPr>
        <p:txBody>
          <a:bodyPr vert="horz" wrap="square" lIns="0" tIns="12065" rIns="0" bIns="0" rtlCol="0">
            <a:spAutoFit/>
          </a:bodyPr>
          <a:lstStyle/>
          <a:p>
            <a:pPr marL="241300" marR="5080" indent="-228600" algn="just">
              <a:lnSpc>
                <a:spcPct val="100000"/>
              </a:lnSpc>
              <a:spcBef>
                <a:spcPts val="600"/>
              </a:spcBef>
              <a:buFont typeface="+mj-lt"/>
              <a:buAutoNum type="arabicPeriod"/>
            </a:pPr>
            <a:r>
              <a:rPr lang="zh-CN" altLang="en-US" sz="1200" dirty="0" smtClean="0"/>
              <a:t>许多</a:t>
            </a:r>
            <a:r>
              <a:rPr lang="zh-CN" altLang="en-US" sz="1200" dirty="0"/>
              <a:t>统计学习方法不仅仅属于统计学科，而是在许多学术和非学术的领域里有广泛的 应用。</a:t>
            </a:r>
            <a:endParaRPr lang="en-US" altLang="zh-CN" sz="1200" dirty="0"/>
          </a:p>
          <a:p>
            <a:pPr marL="241300" marR="5080" indent="-228600" algn="just">
              <a:lnSpc>
                <a:spcPct val="100000"/>
              </a:lnSpc>
              <a:spcBef>
                <a:spcPts val="600"/>
              </a:spcBef>
              <a:buFont typeface="+mj-lt"/>
              <a:buAutoNum type="arabicPeriod"/>
            </a:pPr>
            <a:r>
              <a:rPr lang="zh-CN" altLang="en-US" sz="1200" dirty="0" smtClean="0"/>
              <a:t>统计</a:t>
            </a:r>
            <a:r>
              <a:rPr lang="zh-CN" altLang="en-US" sz="1200" dirty="0"/>
              <a:t>学习并非一组黑箱。</a:t>
            </a:r>
            <a:endParaRPr lang="en-US" altLang="zh-CN" sz="1200" dirty="0"/>
          </a:p>
          <a:p>
            <a:pPr marL="241300" marR="5080" indent="-228600" algn="just">
              <a:lnSpc>
                <a:spcPct val="100000"/>
              </a:lnSpc>
              <a:spcBef>
                <a:spcPts val="600"/>
              </a:spcBef>
              <a:buFont typeface="+mj-lt"/>
              <a:buAutoNum type="arabicPeriod"/>
            </a:pPr>
            <a:r>
              <a:rPr lang="zh-CN" altLang="en-US" sz="1200" dirty="0" smtClean="0"/>
              <a:t>尽管</a:t>
            </a:r>
            <a:r>
              <a:rPr lang="zh-CN" altLang="en-US" sz="1200" dirty="0"/>
              <a:t>掌握组合模型中每个齿轮的功能至关重要，但这并不表示没有掌握理论细节就不能在箱子里构造机器</a:t>
            </a:r>
            <a:r>
              <a:rPr lang="en-US" altLang="zh-CN" sz="1200" dirty="0"/>
              <a:t>!</a:t>
            </a:r>
          </a:p>
          <a:p>
            <a:pPr marL="241300" marR="5080" indent="-228600" algn="just">
              <a:lnSpc>
                <a:spcPct val="100000"/>
              </a:lnSpc>
              <a:spcBef>
                <a:spcPts val="600"/>
              </a:spcBef>
              <a:buFont typeface="+mj-lt"/>
              <a:buAutoNum type="arabicPeriod"/>
            </a:pPr>
            <a:r>
              <a:rPr lang="zh-CN" altLang="en-US" sz="1200" dirty="0" smtClean="0"/>
              <a:t>假定</a:t>
            </a:r>
            <a:r>
              <a:rPr lang="zh-CN" altLang="en-US" sz="1200" dirty="0"/>
              <a:t>读者有志于应用统计学习方法解决现实世界的问题。</a:t>
            </a:r>
            <a:endParaRPr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3444921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原创设计师QQ598969553      _2">
            <a:extLst>
              <a:ext uri="{FF2B5EF4-FFF2-40B4-BE49-F238E27FC236}">
                <a16:creationId xmlns="" xmlns:a16="http://schemas.microsoft.com/office/drawing/2014/main" id="{7C4725B1-D255-CC63-745B-0C08A542F8E6}"/>
              </a:ext>
            </a:extLst>
          </p:cNvPr>
          <p:cNvSpPr txBox="1"/>
          <p:nvPr/>
        </p:nvSpPr>
        <p:spPr>
          <a:xfrm>
            <a:off x="618435" y="185570"/>
            <a:ext cx="2267573" cy="204379"/>
          </a:xfrm>
          <a:prstGeom prst="rect">
            <a:avLst/>
          </a:prstGeom>
          <a:noFill/>
        </p:spPr>
        <p:txBody>
          <a:bodyPr wrap="square" lIns="34762" tIns="17381" rIns="34762" bIns="17381" rtlCol="0">
            <a:spAutoFit/>
          </a:bodyPr>
          <a:lstStyle/>
          <a:p>
            <a:r>
              <a:rPr lang="zh-CN" altLang="en-US" sz="1100" b="1" dirty="0">
                <a:latin typeface="微软雅黑" panose="020B0503020204020204" pitchFamily="34" charset="-122"/>
                <a:ea typeface="微软雅黑" panose="020B0503020204020204" pitchFamily="34" charset="-122"/>
              </a:rPr>
              <a:t>章节安排</a:t>
            </a:r>
          </a:p>
        </p:txBody>
      </p:sp>
      <p:grpSp>
        <p:nvGrpSpPr>
          <p:cNvPr id="68" name="原创设计师QQ598969553      _9">
            <a:extLst>
              <a:ext uri="{FF2B5EF4-FFF2-40B4-BE49-F238E27FC236}">
                <a16:creationId xmlns="" xmlns:a16="http://schemas.microsoft.com/office/drawing/2014/main" id="{EC33079E-1247-70DE-8763-3ACDD65E706D}"/>
              </a:ext>
            </a:extLst>
          </p:cNvPr>
          <p:cNvGrpSpPr/>
          <p:nvPr/>
        </p:nvGrpSpPr>
        <p:grpSpPr>
          <a:xfrm>
            <a:off x="188162" y="153558"/>
            <a:ext cx="304678" cy="243737"/>
            <a:chOff x="4268207" y="2118116"/>
            <a:chExt cx="2653566" cy="2214138"/>
          </a:xfrm>
        </p:grpSpPr>
        <p:grpSp>
          <p:nvGrpSpPr>
            <p:cNvPr id="69" name="组合 68">
              <a:extLst>
                <a:ext uri="{FF2B5EF4-FFF2-40B4-BE49-F238E27FC236}">
                  <a16:creationId xmlns="" xmlns:a16="http://schemas.microsoft.com/office/drawing/2014/main" id="{3866FBD5-A960-6794-8BA4-9DBBA9FC3AA3}"/>
                </a:ext>
              </a:extLst>
            </p:cNvPr>
            <p:cNvGrpSpPr/>
            <p:nvPr/>
          </p:nvGrpSpPr>
          <p:grpSpPr>
            <a:xfrm>
              <a:off x="4508674" y="2118116"/>
              <a:ext cx="2204282" cy="2204282"/>
              <a:chOff x="1517331" y="1125257"/>
              <a:chExt cx="2204282" cy="2204282"/>
            </a:xfrm>
          </p:grpSpPr>
          <p:sp>
            <p:nvSpPr>
              <p:cNvPr id="71" name="椭圆 70">
                <a:extLst>
                  <a:ext uri="{FF2B5EF4-FFF2-40B4-BE49-F238E27FC236}">
                    <a16:creationId xmlns="" xmlns:a16="http://schemas.microsoft.com/office/drawing/2014/main" id="{68A1054A-58A0-C11B-68D9-FA23D2B35325}"/>
                  </a:ext>
                </a:extLst>
              </p:cNvPr>
              <p:cNvSpPr/>
              <p:nvPr/>
            </p:nvSpPr>
            <p:spPr>
              <a:xfrm>
                <a:off x="1517331" y="1125257"/>
                <a:ext cx="2204282" cy="2204282"/>
              </a:xfrm>
              <a:prstGeom prst="ellipse">
                <a:avLst/>
              </a:prstGeom>
              <a:gradFill>
                <a:gsLst>
                  <a:gs pos="0">
                    <a:srgbClr val="EBEBEB"/>
                  </a:gs>
                  <a:gs pos="100000">
                    <a:srgbClr val="FEFEFE"/>
                  </a:gs>
                </a:gsLst>
                <a:lin ang="7530000" scaled="0"/>
              </a:gradFill>
              <a:ln w="12700">
                <a:solidFill>
                  <a:schemeClr val="bg1"/>
                </a:solidFill>
              </a:ln>
              <a:effectLst>
                <a:outerShdw blurRad="457200" dist="444500" dir="7800000" sx="89000" sy="89000" algn="tr" rotWithShape="0">
                  <a:prstClr val="black">
                    <a:alpha val="3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76">
                  <a:latin typeface="字体视界-NWE粗楷体" panose="02000500000000000000" pitchFamily="2" charset="-122"/>
                  <a:ea typeface="字体视界-NWE粗楷体" panose="02000500000000000000" pitchFamily="2" charset="-122"/>
                </a:endParaRPr>
              </a:p>
            </p:txBody>
          </p:sp>
          <p:sp>
            <p:nvSpPr>
              <p:cNvPr id="72" name="椭圆 71">
                <a:extLst>
                  <a:ext uri="{FF2B5EF4-FFF2-40B4-BE49-F238E27FC236}">
                    <a16:creationId xmlns="" xmlns:a16="http://schemas.microsoft.com/office/drawing/2014/main" id="{BFBCAB49-6A8C-B2B3-35ED-D6BBBED5CF8B}"/>
                  </a:ext>
                </a:extLst>
              </p:cNvPr>
              <p:cNvSpPr/>
              <p:nvPr/>
            </p:nvSpPr>
            <p:spPr>
              <a:xfrm>
                <a:off x="1719371" y="1344751"/>
                <a:ext cx="1800198" cy="1800200"/>
              </a:xfrm>
              <a:prstGeom prst="ellipse">
                <a:avLst/>
              </a:prstGeom>
              <a:solidFill>
                <a:srgbClr val="004098"/>
              </a:solidFill>
              <a:ln>
                <a:noFill/>
              </a:ln>
              <a:effectLst>
                <a:innerShdw blurRad="101600" dist="50800" dir="18900000">
                  <a:prstClr val="black">
                    <a:alpha val="43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76">
                  <a:latin typeface="字体视界-NWE粗楷体" panose="02000500000000000000" pitchFamily="2" charset="-122"/>
                  <a:ea typeface="字体视界-NWE粗楷体" panose="02000500000000000000" pitchFamily="2" charset="-122"/>
                </a:endParaRPr>
              </a:p>
            </p:txBody>
          </p:sp>
        </p:grpSp>
        <p:sp>
          <p:nvSpPr>
            <p:cNvPr id="70" name="TextBox 80">
              <a:extLst>
                <a:ext uri="{FF2B5EF4-FFF2-40B4-BE49-F238E27FC236}">
                  <a16:creationId xmlns="" xmlns:a16="http://schemas.microsoft.com/office/drawing/2014/main" id="{7A547AF7-EE79-5DEF-44B1-CF755100FDCC}"/>
                </a:ext>
              </a:extLst>
            </p:cNvPr>
            <p:cNvSpPr txBox="1"/>
            <p:nvPr/>
          </p:nvSpPr>
          <p:spPr>
            <a:xfrm>
              <a:off x="4268207" y="2408917"/>
              <a:ext cx="2653566" cy="1923337"/>
            </a:xfrm>
            <a:prstGeom prst="rect">
              <a:avLst/>
            </a:prstGeom>
            <a:noFill/>
          </p:spPr>
          <p:txBody>
            <a:bodyPr wrap="square" rtlCol="0">
              <a:spAutoFit/>
            </a:bodyPr>
            <a:lstStyle/>
            <a:p>
              <a:r>
                <a:rPr lang="en-US" altLang="zh-CN" sz="776" dirty="0">
                  <a:solidFill>
                    <a:schemeClr val="bg1"/>
                  </a:solidFill>
                  <a:latin typeface="字体视界-NWE粗楷体" panose="02000500000000000000" pitchFamily="2" charset="-122"/>
                  <a:ea typeface="字体视界-NWE粗楷体" panose="02000500000000000000" pitchFamily="2" charset="-122"/>
                </a:rPr>
                <a:t>11</a:t>
              </a:r>
            </a:p>
          </p:txBody>
        </p:sp>
      </p:grpSp>
      <p:sp>
        <p:nvSpPr>
          <p:cNvPr id="73" name="原创设计师QQ598969553      _12">
            <a:extLst>
              <a:ext uri="{FF2B5EF4-FFF2-40B4-BE49-F238E27FC236}">
                <a16:creationId xmlns="" xmlns:a16="http://schemas.microsoft.com/office/drawing/2014/main" id="{760473EF-0D78-F124-1B4B-A4A3255E7476}"/>
              </a:ext>
            </a:extLst>
          </p:cNvPr>
          <p:cNvSpPr>
            <a:spLocks noChangeShapeType="1"/>
          </p:cNvSpPr>
          <p:nvPr/>
        </p:nvSpPr>
        <p:spPr bwMode="auto">
          <a:xfrm flipH="1" flipV="1">
            <a:off x="543649" y="130604"/>
            <a:ext cx="0" cy="307269"/>
          </a:xfrm>
          <a:prstGeom prst="line">
            <a:avLst/>
          </a:prstGeom>
          <a:noFill/>
          <a:ln w="19050">
            <a:solidFill>
              <a:srgbClr val="004098"/>
            </a:solidFill>
            <a:prstDash val="dash"/>
            <a:round/>
          </a:ln>
          <a:extLst>
            <a:ext uri="{909E8E84-426E-40DD-AFC4-6F175D3DCCD1}">
              <a14:hiddenFill xmlns:a14="http://schemas.microsoft.com/office/drawing/2010/main">
                <a:noFill/>
              </a14:hiddenFill>
            </a:ext>
          </a:extLst>
        </p:spPr>
        <p:txBody>
          <a:bodyPr/>
          <a:lstStyle/>
          <a:p>
            <a:endParaRPr lang="zh-CN" altLang="en-US" sz="776" dirty="0"/>
          </a:p>
        </p:txBody>
      </p:sp>
      <p:sp>
        <p:nvSpPr>
          <p:cNvPr id="74" name="矩形: 圆角 18">
            <a:extLst>
              <a:ext uri="{FF2B5EF4-FFF2-40B4-BE49-F238E27FC236}">
                <a16:creationId xmlns="" xmlns:a16="http://schemas.microsoft.com/office/drawing/2014/main" id="{7C923056-96D1-FDBC-A663-A1F8635BC91E}"/>
              </a:ext>
            </a:extLst>
          </p:cNvPr>
          <p:cNvSpPr/>
          <p:nvPr/>
        </p:nvSpPr>
        <p:spPr>
          <a:xfrm flipV="1">
            <a:off x="140988" y="434975"/>
            <a:ext cx="2164062" cy="31919"/>
          </a:xfrm>
          <a:prstGeom prst="roundRect">
            <a:avLst>
              <a:gd name="adj" fmla="val 50000"/>
            </a:avLst>
          </a:prstGeom>
          <a:solidFill>
            <a:srgbClr val="0040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90">
              <a:solidFill>
                <a:srgbClr val="004098"/>
              </a:solidFill>
              <a:latin typeface="字体视界-NWE粗楷体" panose="02000500000000000000" pitchFamily="2" charset="-122"/>
              <a:ea typeface="字体视界-NWE粗楷体" panose="02000500000000000000" pitchFamily="2" charset="-122"/>
            </a:endParaRPr>
          </a:p>
        </p:txBody>
      </p:sp>
      <p:sp>
        <p:nvSpPr>
          <p:cNvPr id="3" name="object 12">
            <a:extLst>
              <a:ext uri="{FF2B5EF4-FFF2-40B4-BE49-F238E27FC236}">
                <a16:creationId xmlns="" xmlns:a16="http://schemas.microsoft.com/office/drawing/2014/main" id="{502C4FF6-487D-E2BB-38A3-C34080BFD002}"/>
              </a:ext>
            </a:extLst>
          </p:cNvPr>
          <p:cNvSpPr txBox="1"/>
          <p:nvPr/>
        </p:nvSpPr>
        <p:spPr>
          <a:xfrm>
            <a:off x="543649" y="733732"/>
            <a:ext cx="3657600" cy="2289729"/>
          </a:xfrm>
          <a:prstGeom prst="rect">
            <a:avLst/>
          </a:prstGeom>
        </p:spPr>
        <p:txBody>
          <a:bodyPr vert="horz" wrap="square" lIns="0" tIns="12065" rIns="0" bIns="0" rtlCol="0">
            <a:spAutoFit/>
          </a:bodyPr>
          <a:lstStyle/>
          <a:p>
            <a:pPr marL="12700" marR="5080" algn="just">
              <a:lnSpc>
                <a:spcPct val="100000"/>
              </a:lnSpc>
              <a:spcBef>
                <a:spcPts val="600"/>
              </a:spcBef>
            </a:pPr>
            <a:r>
              <a:rPr lang="zh-CN" altLang="en-US" sz="1200" dirty="0"/>
              <a:t>第</a:t>
            </a:r>
            <a:r>
              <a:rPr lang="en-US" altLang="zh-CN" sz="1200" dirty="0"/>
              <a:t>2</a:t>
            </a:r>
            <a:r>
              <a:rPr lang="zh-CN" altLang="en-US" sz="1200" dirty="0"/>
              <a:t>章：统计学习</a:t>
            </a:r>
            <a:endParaRPr lang="en-US" altLang="zh-CN" sz="1200" dirty="0"/>
          </a:p>
          <a:p>
            <a:pPr marL="12700" marR="5080" algn="just">
              <a:lnSpc>
                <a:spcPct val="100000"/>
              </a:lnSpc>
              <a:spcBef>
                <a:spcPts val="600"/>
              </a:spcBef>
            </a:pPr>
            <a:r>
              <a:rPr lang="zh-CN" altLang="en-US" sz="1200" dirty="0"/>
              <a:t>第</a:t>
            </a:r>
            <a:r>
              <a:rPr lang="en-US" altLang="zh-CN" sz="1200" dirty="0"/>
              <a:t>3</a:t>
            </a:r>
            <a:r>
              <a:rPr lang="zh-CN" altLang="en-US" sz="1200" dirty="0"/>
              <a:t>章：线性回归</a:t>
            </a:r>
            <a:endParaRPr lang="en-US" altLang="zh-CN" sz="1200" dirty="0"/>
          </a:p>
          <a:p>
            <a:pPr marL="12700" marR="5080" algn="just">
              <a:lnSpc>
                <a:spcPct val="100000"/>
              </a:lnSpc>
              <a:spcBef>
                <a:spcPts val="600"/>
              </a:spcBef>
            </a:pPr>
            <a:r>
              <a:rPr lang="zh-CN" altLang="en-US" sz="1200" dirty="0"/>
              <a:t>第</a:t>
            </a:r>
            <a:r>
              <a:rPr lang="en-US" altLang="zh-CN" sz="1200" dirty="0"/>
              <a:t>4</a:t>
            </a:r>
            <a:r>
              <a:rPr lang="zh-CN" altLang="en-US" sz="1200" dirty="0"/>
              <a:t>章：分类</a:t>
            </a:r>
            <a:endParaRPr lang="en-US" altLang="zh-CN" sz="1200" dirty="0"/>
          </a:p>
          <a:p>
            <a:pPr marL="12700" marR="5080" algn="just">
              <a:lnSpc>
                <a:spcPct val="100000"/>
              </a:lnSpc>
              <a:spcBef>
                <a:spcPts val="600"/>
              </a:spcBef>
            </a:pPr>
            <a:r>
              <a:rPr lang="zh-CN" altLang="en-US" sz="1200" dirty="0"/>
              <a:t>第</a:t>
            </a:r>
            <a:r>
              <a:rPr lang="en-US" altLang="zh-CN" sz="1200" dirty="0"/>
              <a:t>5</a:t>
            </a:r>
            <a:r>
              <a:rPr lang="zh-CN" altLang="en-US" sz="1200" dirty="0"/>
              <a:t>章：重抽样方法</a:t>
            </a:r>
            <a:endParaRPr lang="en-US" altLang="zh-CN" sz="1200" dirty="0"/>
          </a:p>
          <a:p>
            <a:pPr marL="12700" marR="5080" algn="just">
              <a:lnSpc>
                <a:spcPct val="100000"/>
              </a:lnSpc>
              <a:spcBef>
                <a:spcPts val="600"/>
              </a:spcBef>
            </a:pPr>
            <a:r>
              <a:rPr lang="zh-CN" altLang="en-US" sz="1200" dirty="0"/>
              <a:t>第</a:t>
            </a:r>
            <a:r>
              <a:rPr lang="en-US" altLang="zh-CN" sz="1200" dirty="0"/>
              <a:t>6</a:t>
            </a:r>
            <a:r>
              <a:rPr lang="zh-CN" altLang="en-US" sz="1200" dirty="0"/>
              <a:t>章：线性模型选择与正则化</a:t>
            </a:r>
            <a:endParaRPr lang="en-US" altLang="zh-CN" sz="1200" dirty="0"/>
          </a:p>
          <a:p>
            <a:pPr marL="12700" marR="5080" algn="just">
              <a:lnSpc>
                <a:spcPct val="100000"/>
              </a:lnSpc>
              <a:spcBef>
                <a:spcPts val="600"/>
              </a:spcBef>
            </a:pPr>
            <a:r>
              <a:rPr lang="zh-CN" altLang="en-US" sz="1200" dirty="0"/>
              <a:t>第</a:t>
            </a:r>
            <a:r>
              <a:rPr lang="en-US" altLang="zh-CN" sz="1200" dirty="0"/>
              <a:t>7</a:t>
            </a:r>
            <a:r>
              <a:rPr lang="zh-CN" altLang="en-US" sz="1200" dirty="0"/>
              <a:t>章：非线性模型</a:t>
            </a:r>
            <a:endParaRPr lang="en-US" altLang="zh-CN" sz="1200" dirty="0"/>
          </a:p>
          <a:p>
            <a:pPr marL="12700" marR="5080" algn="just">
              <a:lnSpc>
                <a:spcPct val="100000"/>
              </a:lnSpc>
              <a:spcBef>
                <a:spcPts val="600"/>
              </a:spcBef>
            </a:pPr>
            <a:r>
              <a:rPr lang="zh-CN" altLang="en-US" sz="1200" dirty="0"/>
              <a:t>第</a:t>
            </a:r>
            <a:r>
              <a:rPr lang="en-US" altLang="zh-CN" sz="1200" dirty="0"/>
              <a:t>8</a:t>
            </a:r>
            <a:r>
              <a:rPr lang="zh-CN" altLang="en-US" sz="1200" dirty="0"/>
              <a:t>章：基于树的方法</a:t>
            </a:r>
            <a:endParaRPr lang="en-US" altLang="zh-CN" sz="1200" dirty="0"/>
          </a:p>
          <a:p>
            <a:pPr marL="12700" marR="5080" algn="just">
              <a:lnSpc>
                <a:spcPct val="100000"/>
              </a:lnSpc>
              <a:spcBef>
                <a:spcPts val="600"/>
              </a:spcBef>
            </a:pPr>
            <a:r>
              <a:rPr lang="zh-CN" altLang="en-US" sz="1200" dirty="0"/>
              <a:t>第</a:t>
            </a:r>
            <a:r>
              <a:rPr lang="en-US" altLang="zh-CN" sz="1200" dirty="0"/>
              <a:t>9</a:t>
            </a:r>
            <a:r>
              <a:rPr lang="zh-CN" altLang="en-US" sz="1200" dirty="0"/>
              <a:t>章：支持向量机</a:t>
            </a:r>
            <a:endParaRPr lang="en-US" altLang="zh-CN" sz="1200" dirty="0"/>
          </a:p>
          <a:p>
            <a:pPr marL="12700" marR="5080" algn="just">
              <a:lnSpc>
                <a:spcPct val="100000"/>
              </a:lnSpc>
              <a:spcBef>
                <a:spcPts val="600"/>
              </a:spcBef>
            </a:pPr>
            <a:r>
              <a:rPr lang="zh-CN" altLang="en-US" sz="1200" dirty="0"/>
              <a:t>第</a:t>
            </a:r>
            <a:r>
              <a:rPr lang="en-US" altLang="zh-CN" sz="1200" dirty="0"/>
              <a:t>10</a:t>
            </a:r>
            <a:r>
              <a:rPr lang="zh-CN" altLang="en-US" sz="1200" dirty="0"/>
              <a:t>章：指导学习</a:t>
            </a:r>
            <a:endParaRPr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4635197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原创设计师QQ598969553      _2">
            <a:extLst>
              <a:ext uri="{FF2B5EF4-FFF2-40B4-BE49-F238E27FC236}">
                <a16:creationId xmlns="" xmlns:a16="http://schemas.microsoft.com/office/drawing/2014/main" id="{7C4725B1-D255-CC63-745B-0C08A542F8E6}"/>
              </a:ext>
            </a:extLst>
          </p:cNvPr>
          <p:cNvSpPr txBox="1"/>
          <p:nvPr/>
        </p:nvSpPr>
        <p:spPr>
          <a:xfrm>
            <a:off x="618435" y="185570"/>
            <a:ext cx="2267573" cy="204379"/>
          </a:xfrm>
          <a:prstGeom prst="rect">
            <a:avLst/>
          </a:prstGeom>
          <a:noFill/>
        </p:spPr>
        <p:txBody>
          <a:bodyPr wrap="square" lIns="34762" tIns="17381" rIns="34762" bIns="17381" rtlCol="0">
            <a:spAutoFit/>
          </a:bodyPr>
          <a:lstStyle/>
          <a:p>
            <a:r>
              <a:rPr lang="zh-CN" altLang="en-US" sz="1100" b="1" dirty="0" smtClean="0">
                <a:latin typeface="微软雅黑" panose="020B0503020204020204" pitchFamily="34" charset="-122"/>
                <a:ea typeface="微软雅黑" panose="020B0503020204020204" pitchFamily="34" charset="-122"/>
              </a:rPr>
              <a:t>成绩评定</a:t>
            </a:r>
            <a:endParaRPr lang="zh-CN" altLang="en-US" sz="1100" b="1" dirty="0">
              <a:latin typeface="微软雅黑" panose="020B0503020204020204" pitchFamily="34" charset="-122"/>
              <a:ea typeface="微软雅黑" panose="020B0503020204020204" pitchFamily="34" charset="-122"/>
            </a:endParaRPr>
          </a:p>
        </p:txBody>
      </p:sp>
      <p:grpSp>
        <p:nvGrpSpPr>
          <p:cNvPr id="68" name="原创设计师QQ598969553      _9">
            <a:extLst>
              <a:ext uri="{FF2B5EF4-FFF2-40B4-BE49-F238E27FC236}">
                <a16:creationId xmlns="" xmlns:a16="http://schemas.microsoft.com/office/drawing/2014/main" id="{EC33079E-1247-70DE-8763-3ACDD65E706D}"/>
              </a:ext>
            </a:extLst>
          </p:cNvPr>
          <p:cNvGrpSpPr/>
          <p:nvPr/>
        </p:nvGrpSpPr>
        <p:grpSpPr>
          <a:xfrm>
            <a:off x="188162" y="153558"/>
            <a:ext cx="304678" cy="243737"/>
            <a:chOff x="4268207" y="2118116"/>
            <a:chExt cx="2653566" cy="2214138"/>
          </a:xfrm>
        </p:grpSpPr>
        <p:grpSp>
          <p:nvGrpSpPr>
            <p:cNvPr id="69" name="组合 68">
              <a:extLst>
                <a:ext uri="{FF2B5EF4-FFF2-40B4-BE49-F238E27FC236}">
                  <a16:creationId xmlns="" xmlns:a16="http://schemas.microsoft.com/office/drawing/2014/main" id="{3866FBD5-A960-6794-8BA4-9DBBA9FC3AA3}"/>
                </a:ext>
              </a:extLst>
            </p:cNvPr>
            <p:cNvGrpSpPr/>
            <p:nvPr/>
          </p:nvGrpSpPr>
          <p:grpSpPr>
            <a:xfrm>
              <a:off x="4508674" y="2118116"/>
              <a:ext cx="2204282" cy="2204282"/>
              <a:chOff x="1517331" y="1125257"/>
              <a:chExt cx="2204282" cy="2204282"/>
            </a:xfrm>
          </p:grpSpPr>
          <p:sp>
            <p:nvSpPr>
              <p:cNvPr id="71" name="椭圆 70">
                <a:extLst>
                  <a:ext uri="{FF2B5EF4-FFF2-40B4-BE49-F238E27FC236}">
                    <a16:creationId xmlns="" xmlns:a16="http://schemas.microsoft.com/office/drawing/2014/main" id="{68A1054A-58A0-C11B-68D9-FA23D2B35325}"/>
                  </a:ext>
                </a:extLst>
              </p:cNvPr>
              <p:cNvSpPr/>
              <p:nvPr/>
            </p:nvSpPr>
            <p:spPr>
              <a:xfrm>
                <a:off x="1517331" y="1125257"/>
                <a:ext cx="2204282" cy="2204282"/>
              </a:xfrm>
              <a:prstGeom prst="ellipse">
                <a:avLst/>
              </a:prstGeom>
              <a:gradFill>
                <a:gsLst>
                  <a:gs pos="0">
                    <a:srgbClr val="EBEBEB"/>
                  </a:gs>
                  <a:gs pos="100000">
                    <a:srgbClr val="FEFEFE"/>
                  </a:gs>
                </a:gsLst>
                <a:lin ang="7530000" scaled="0"/>
              </a:gradFill>
              <a:ln w="12700">
                <a:solidFill>
                  <a:schemeClr val="bg1"/>
                </a:solidFill>
              </a:ln>
              <a:effectLst>
                <a:outerShdw blurRad="457200" dist="444500" dir="7800000" sx="89000" sy="89000" algn="tr" rotWithShape="0">
                  <a:prstClr val="black">
                    <a:alpha val="3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76">
                  <a:latin typeface="字体视界-NWE粗楷体" panose="02000500000000000000" pitchFamily="2" charset="-122"/>
                  <a:ea typeface="字体视界-NWE粗楷体" panose="02000500000000000000" pitchFamily="2" charset="-122"/>
                </a:endParaRPr>
              </a:p>
            </p:txBody>
          </p:sp>
          <p:sp>
            <p:nvSpPr>
              <p:cNvPr id="72" name="椭圆 71">
                <a:extLst>
                  <a:ext uri="{FF2B5EF4-FFF2-40B4-BE49-F238E27FC236}">
                    <a16:creationId xmlns="" xmlns:a16="http://schemas.microsoft.com/office/drawing/2014/main" id="{BFBCAB49-6A8C-B2B3-35ED-D6BBBED5CF8B}"/>
                  </a:ext>
                </a:extLst>
              </p:cNvPr>
              <p:cNvSpPr/>
              <p:nvPr/>
            </p:nvSpPr>
            <p:spPr>
              <a:xfrm>
                <a:off x="1719371" y="1344751"/>
                <a:ext cx="1800198" cy="1800200"/>
              </a:xfrm>
              <a:prstGeom prst="ellipse">
                <a:avLst/>
              </a:prstGeom>
              <a:solidFill>
                <a:srgbClr val="004098"/>
              </a:solidFill>
              <a:ln>
                <a:noFill/>
              </a:ln>
              <a:effectLst>
                <a:innerShdw blurRad="101600" dist="50800" dir="18900000">
                  <a:prstClr val="black">
                    <a:alpha val="43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776">
                  <a:latin typeface="字体视界-NWE粗楷体" panose="02000500000000000000" pitchFamily="2" charset="-122"/>
                  <a:ea typeface="字体视界-NWE粗楷体" panose="02000500000000000000" pitchFamily="2" charset="-122"/>
                </a:endParaRPr>
              </a:p>
            </p:txBody>
          </p:sp>
        </p:grpSp>
        <p:sp>
          <p:nvSpPr>
            <p:cNvPr id="70" name="TextBox 80">
              <a:extLst>
                <a:ext uri="{FF2B5EF4-FFF2-40B4-BE49-F238E27FC236}">
                  <a16:creationId xmlns="" xmlns:a16="http://schemas.microsoft.com/office/drawing/2014/main" id="{7A547AF7-EE79-5DEF-44B1-CF755100FDCC}"/>
                </a:ext>
              </a:extLst>
            </p:cNvPr>
            <p:cNvSpPr txBox="1"/>
            <p:nvPr/>
          </p:nvSpPr>
          <p:spPr>
            <a:xfrm>
              <a:off x="4268207" y="2408917"/>
              <a:ext cx="2653566" cy="1923337"/>
            </a:xfrm>
            <a:prstGeom prst="rect">
              <a:avLst/>
            </a:prstGeom>
            <a:noFill/>
          </p:spPr>
          <p:txBody>
            <a:bodyPr wrap="square" rtlCol="0">
              <a:spAutoFit/>
            </a:bodyPr>
            <a:lstStyle/>
            <a:p>
              <a:r>
                <a:rPr lang="en-US" altLang="zh-CN" sz="776" dirty="0">
                  <a:solidFill>
                    <a:schemeClr val="bg1"/>
                  </a:solidFill>
                  <a:latin typeface="字体视界-NWE粗楷体" panose="02000500000000000000" pitchFamily="2" charset="-122"/>
                  <a:ea typeface="字体视界-NWE粗楷体" panose="02000500000000000000" pitchFamily="2" charset="-122"/>
                </a:rPr>
                <a:t>11</a:t>
              </a:r>
            </a:p>
          </p:txBody>
        </p:sp>
      </p:grpSp>
      <p:sp>
        <p:nvSpPr>
          <p:cNvPr id="73" name="原创设计师QQ598969553      _12">
            <a:extLst>
              <a:ext uri="{FF2B5EF4-FFF2-40B4-BE49-F238E27FC236}">
                <a16:creationId xmlns="" xmlns:a16="http://schemas.microsoft.com/office/drawing/2014/main" id="{760473EF-0D78-F124-1B4B-A4A3255E7476}"/>
              </a:ext>
            </a:extLst>
          </p:cNvPr>
          <p:cNvSpPr>
            <a:spLocks noChangeShapeType="1"/>
          </p:cNvSpPr>
          <p:nvPr/>
        </p:nvSpPr>
        <p:spPr bwMode="auto">
          <a:xfrm flipH="1" flipV="1">
            <a:off x="543649" y="130604"/>
            <a:ext cx="0" cy="307269"/>
          </a:xfrm>
          <a:prstGeom prst="line">
            <a:avLst/>
          </a:prstGeom>
          <a:noFill/>
          <a:ln w="19050">
            <a:solidFill>
              <a:srgbClr val="004098"/>
            </a:solidFill>
            <a:prstDash val="dash"/>
            <a:round/>
          </a:ln>
          <a:extLst>
            <a:ext uri="{909E8E84-426E-40DD-AFC4-6F175D3DCCD1}">
              <a14:hiddenFill xmlns:a14="http://schemas.microsoft.com/office/drawing/2010/main">
                <a:noFill/>
              </a14:hiddenFill>
            </a:ext>
          </a:extLst>
        </p:spPr>
        <p:txBody>
          <a:bodyPr/>
          <a:lstStyle/>
          <a:p>
            <a:endParaRPr lang="zh-CN" altLang="en-US" sz="776" dirty="0"/>
          </a:p>
        </p:txBody>
      </p:sp>
      <p:sp>
        <p:nvSpPr>
          <p:cNvPr id="74" name="矩形: 圆角 18">
            <a:extLst>
              <a:ext uri="{FF2B5EF4-FFF2-40B4-BE49-F238E27FC236}">
                <a16:creationId xmlns="" xmlns:a16="http://schemas.microsoft.com/office/drawing/2014/main" id="{7C923056-96D1-FDBC-A663-A1F8635BC91E}"/>
              </a:ext>
            </a:extLst>
          </p:cNvPr>
          <p:cNvSpPr/>
          <p:nvPr/>
        </p:nvSpPr>
        <p:spPr>
          <a:xfrm flipV="1">
            <a:off x="140988" y="434975"/>
            <a:ext cx="2164062" cy="31919"/>
          </a:xfrm>
          <a:prstGeom prst="roundRect">
            <a:avLst>
              <a:gd name="adj" fmla="val 50000"/>
            </a:avLst>
          </a:prstGeom>
          <a:solidFill>
            <a:srgbClr val="0040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90">
              <a:solidFill>
                <a:srgbClr val="004098"/>
              </a:solidFill>
              <a:latin typeface="字体视界-NWE粗楷体" panose="02000500000000000000" pitchFamily="2" charset="-122"/>
              <a:ea typeface="字体视界-NWE粗楷体" panose="02000500000000000000" pitchFamily="2" charset="-122"/>
            </a:endParaRPr>
          </a:p>
        </p:txBody>
      </p:sp>
      <p:sp>
        <p:nvSpPr>
          <p:cNvPr id="3" name="object 12">
            <a:extLst>
              <a:ext uri="{FF2B5EF4-FFF2-40B4-BE49-F238E27FC236}">
                <a16:creationId xmlns="" xmlns:a16="http://schemas.microsoft.com/office/drawing/2014/main" id="{502C4FF6-487D-E2BB-38A3-C34080BFD002}"/>
              </a:ext>
            </a:extLst>
          </p:cNvPr>
          <p:cNvSpPr txBox="1"/>
          <p:nvPr/>
        </p:nvSpPr>
        <p:spPr>
          <a:xfrm>
            <a:off x="543649" y="733732"/>
            <a:ext cx="3657600" cy="1951175"/>
          </a:xfrm>
          <a:prstGeom prst="rect">
            <a:avLst/>
          </a:prstGeom>
        </p:spPr>
        <p:txBody>
          <a:bodyPr vert="horz" wrap="square" lIns="0" tIns="12065" rIns="0" bIns="0" rtlCol="0">
            <a:spAutoFit/>
          </a:bodyPr>
          <a:lstStyle/>
          <a:p>
            <a:pPr marL="184150" marR="5080" indent="-171450" algn="just">
              <a:lnSpc>
                <a:spcPct val="100000"/>
              </a:lnSpc>
              <a:spcBef>
                <a:spcPts val="600"/>
              </a:spcBef>
              <a:buFont typeface="Wingdings" panose="05000000000000000000" pitchFamily="2" charset="2"/>
              <a:buChar char="l"/>
            </a:pPr>
            <a:r>
              <a:rPr lang="zh-CN" altLang="en-US" sz="1200" dirty="0" smtClean="0"/>
              <a:t>平时成绩：</a:t>
            </a:r>
            <a:r>
              <a:rPr lang="en-US" altLang="zh-CN" sz="1200" dirty="0" smtClean="0"/>
              <a:t>40%</a:t>
            </a:r>
          </a:p>
          <a:p>
            <a:pPr marL="241300" marR="5080" indent="-228600" algn="just">
              <a:lnSpc>
                <a:spcPct val="100000"/>
              </a:lnSpc>
              <a:spcBef>
                <a:spcPts val="600"/>
              </a:spcBef>
              <a:buFont typeface="+mj-ea"/>
              <a:buAutoNum type="circleNumDbPlain"/>
            </a:pPr>
            <a:r>
              <a:rPr lang="en-US" altLang="zh-CN" sz="1200" dirty="0" smtClean="0"/>
              <a:t>8 </a:t>
            </a:r>
            <a:r>
              <a:rPr lang="zh-CN" altLang="en-US" sz="1200" dirty="0" smtClean="0"/>
              <a:t>次作业，每次 </a:t>
            </a:r>
            <a:r>
              <a:rPr lang="en-US" altLang="zh-CN" sz="1200" dirty="0" smtClean="0"/>
              <a:t>5 </a:t>
            </a:r>
            <a:r>
              <a:rPr lang="zh-CN" altLang="en-US" sz="1200" dirty="0" smtClean="0"/>
              <a:t>分。</a:t>
            </a:r>
            <a:endParaRPr lang="en-US" altLang="zh-CN" sz="1200" dirty="0" smtClean="0"/>
          </a:p>
          <a:p>
            <a:pPr marL="241300" marR="5080" indent="-228600" algn="just">
              <a:lnSpc>
                <a:spcPct val="100000"/>
              </a:lnSpc>
              <a:spcBef>
                <a:spcPts val="600"/>
              </a:spcBef>
              <a:buFont typeface="+mj-ea"/>
              <a:buAutoNum type="circleNumDbPlain"/>
            </a:pPr>
            <a:r>
              <a:rPr lang="zh-CN" altLang="en-US" sz="1200" dirty="0" smtClean="0"/>
              <a:t>从第</a:t>
            </a:r>
            <a:r>
              <a:rPr lang="en-US" altLang="zh-CN" sz="1200" dirty="0" smtClean="0"/>
              <a:t>2</a:t>
            </a:r>
            <a:r>
              <a:rPr lang="zh-CN" altLang="en-US" sz="1200" dirty="0" smtClean="0"/>
              <a:t>周</a:t>
            </a:r>
            <a:r>
              <a:rPr lang="en-US" altLang="zh-CN" sz="1200" dirty="0" smtClean="0"/>
              <a:t>-7</a:t>
            </a:r>
            <a:r>
              <a:rPr lang="zh-CN" altLang="en-US" sz="1200" dirty="0" smtClean="0"/>
              <a:t>周，作业内容不仅包括理论题目，还包括上机的实验报告。</a:t>
            </a:r>
            <a:endParaRPr lang="en-US" altLang="zh-CN" sz="1200" dirty="0" smtClean="0"/>
          </a:p>
          <a:p>
            <a:pPr marL="241300" marR="5080" indent="-228600" algn="just">
              <a:lnSpc>
                <a:spcPct val="100000"/>
              </a:lnSpc>
              <a:spcBef>
                <a:spcPts val="600"/>
              </a:spcBef>
              <a:buFont typeface="+mj-ea"/>
              <a:buAutoNum type="circleNumDbPlain"/>
            </a:pPr>
            <a:r>
              <a:rPr lang="zh-CN" altLang="en-US" sz="1200" dirty="0"/>
              <a:t>每周二的课前交</a:t>
            </a:r>
            <a:r>
              <a:rPr lang="zh-CN" altLang="en-US" sz="1200" dirty="0" smtClean="0"/>
              <a:t>作业，过期酌情扣分。</a:t>
            </a:r>
            <a:endParaRPr lang="en-US" altLang="zh-CN" sz="1200" dirty="0" smtClean="0"/>
          </a:p>
          <a:p>
            <a:pPr marL="184150" marR="5080" indent="-171450" algn="just">
              <a:lnSpc>
                <a:spcPct val="100000"/>
              </a:lnSpc>
              <a:spcBef>
                <a:spcPts val="600"/>
              </a:spcBef>
              <a:buFont typeface="Wingdings" panose="05000000000000000000" pitchFamily="2" charset="2"/>
              <a:buChar char="l"/>
            </a:pPr>
            <a:r>
              <a:rPr lang="zh-CN" altLang="en-US" sz="1200" dirty="0" smtClean="0"/>
              <a:t>考试成绩：</a:t>
            </a:r>
            <a:r>
              <a:rPr lang="en-US" altLang="zh-CN" sz="1200" dirty="0" smtClean="0"/>
              <a:t>60%</a:t>
            </a:r>
          </a:p>
          <a:p>
            <a:pPr marL="12700" marR="5080" algn="just">
              <a:lnSpc>
                <a:spcPct val="100000"/>
              </a:lnSpc>
              <a:spcBef>
                <a:spcPts val="600"/>
              </a:spcBef>
            </a:pPr>
            <a:r>
              <a:rPr lang="zh-CN" altLang="en-US" sz="1200" dirty="0" smtClean="0"/>
              <a:t>闭卷考试</a:t>
            </a:r>
            <a:endParaRPr lang="en-US" altLang="zh-CN" sz="1200" dirty="0" smtClean="0"/>
          </a:p>
          <a:p>
            <a:pPr marL="12700" marR="5080" algn="just">
              <a:lnSpc>
                <a:spcPct val="100000"/>
              </a:lnSpc>
              <a:spcBef>
                <a:spcPts val="600"/>
              </a:spcBef>
            </a:pPr>
            <a:endParaRPr lang="en-US" altLang="zh-CN" sz="1200" dirty="0" smtClean="0"/>
          </a:p>
        </p:txBody>
      </p:sp>
    </p:spTree>
    <p:extLst>
      <p:ext uri="{BB962C8B-B14F-4D97-AF65-F5344CB8AC3E}">
        <p14:creationId xmlns:p14="http://schemas.microsoft.com/office/powerpoint/2010/main" val="5492384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398352" y="932781"/>
            <a:ext cx="3890866" cy="371640"/>
          </a:xfrm>
          <a:prstGeom prst="rect">
            <a:avLst/>
          </a:prstGeom>
          <a:noFill/>
        </p:spPr>
        <p:txBody>
          <a:bodyPr wrap="square" rtlCol="0">
            <a:spAutoFit/>
          </a:bodyPr>
          <a:lstStyle/>
          <a:p>
            <a:pPr algn="ctr" defTabSz="345744"/>
            <a:r>
              <a:rPr lang="zh-CN" altLang="en-US" sz="1815" dirty="0" smtClean="0">
                <a:solidFill>
                  <a:srgbClr val="004098"/>
                </a:solidFill>
                <a:latin typeface="华文新魏" panose="02010800040101010101" pitchFamily="2" charset="-122"/>
                <a:ea typeface="华文新魏" panose="02010800040101010101" pitchFamily="2" charset="-122"/>
              </a:rPr>
              <a:t>请解释什么是</a:t>
            </a:r>
            <a:r>
              <a:rPr lang="en-US" altLang="zh-CN" sz="1815" dirty="0" smtClean="0">
                <a:solidFill>
                  <a:srgbClr val="004098"/>
                </a:solidFill>
                <a:latin typeface="华文新魏" panose="02010800040101010101" pitchFamily="2" charset="-122"/>
                <a:ea typeface="华文新魏" panose="02010800040101010101" pitchFamily="2" charset="-122"/>
              </a:rPr>
              <a:t>p</a:t>
            </a:r>
            <a:r>
              <a:rPr lang="zh-CN" altLang="en-US" sz="1815" dirty="0" smtClean="0">
                <a:solidFill>
                  <a:srgbClr val="004098"/>
                </a:solidFill>
                <a:latin typeface="华文新魏" panose="02010800040101010101" pitchFamily="2" charset="-122"/>
                <a:ea typeface="华文新魏" panose="02010800040101010101" pitchFamily="2" charset="-122"/>
              </a:rPr>
              <a:t>值，怎么计算？</a:t>
            </a:r>
            <a:endParaRPr lang="zh-CN" altLang="en-US" sz="1815" dirty="0">
              <a:solidFill>
                <a:srgbClr val="004098"/>
              </a:solidFill>
              <a:latin typeface="华文新魏" panose="02010800040101010101" pitchFamily="2" charset="-122"/>
              <a:ea typeface="华文新魏" panose="02010800040101010101" pitchFamily="2" charset="-122"/>
            </a:endParaRPr>
          </a:p>
        </p:txBody>
      </p:sp>
      <p:cxnSp>
        <p:nvCxnSpPr>
          <p:cNvPr id="8" name="直接连接符 7"/>
          <p:cNvCxnSpPr/>
          <p:nvPr/>
        </p:nvCxnSpPr>
        <p:spPr>
          <a:xfrm>
            <a:off x="398352" y="897978"/>
            <a:ext cx="3890866" cy="0"/>
          </a:xfrm>
          <a:prstGeom prst="line">
            <a:avLst/>
          </a:prstGeom>
          <a:ln>
            <a:solidFill>
              <a:srgbClr val="004098"/>
            </a:solidFill>
          </a:ln>
        </p:spPr>
        <p:style>
          <a:lnRef idx="3">
            <a:schemeClr val="accent1"/>
          </a:lnRef>
          <a:fillRef idx="0">
            <a:schemeClr val="accent1"/>
          </a:fillRef>
          <a:effectRef idx="2">
            <a:schemeClr val="accent1"/>
          </a:effectRef>
          <a:fontRef idx="minor">
            <a:schemeClr val="tx1"/>
          </a:fontRef>
        </p:style>
      </p:cxnSp>
      <p:cxnSp>
        <p:nvCxnSpPr>
          <p:cNvPr id="9" name="直接连接符 8"/>
          <p:cNvCxnSpPr/>
          <p:nvPr/>
        </p:nvCxnSpPr>
        <p:spPr>
          <a:xfrm>
            <a:off x="423681" y="1307023"/>
            <a:ext cx="3890866" cy="0"/>
          </a:xfrm>
          <a:prstGeom prst="line">
            <a:avLst/>
          </a:prstGeom>
          <a:ln>
            <a:solidFill>
              <a:srgbClr val="004098"/>
            </a:solidFill>
          </a:ln>
        </p:spPr>
        <p:style>
          <a:lnRef idx="3">
            <a:schemeClr val="accent1"/>
          </a:lnRef>
          <a:fillRef idx="0">
            <a:schemeClr val="accent1"/>
          </a:fillRef>
          <a:effectRef idx="2">
            <a:schemeClr val="accent1"/>
          </a:effectRef>
          <a:fontRef idx="minor">
            <a:schemeClr val="tx1"/>
          </a:fontRef>
        </p:style>
      </p:cxnSp>
      <p:pic>
        <p:nvPicPr>
          <p:cNvPr id="11" name="图片 28"/>
          <p:cNvPicPr>
            <a:picLocks noChangeAspect="1"/>
          </p:cNvPicPr>
          <p:nvPr/>
        </p:nvPicPr>
        <p:blipFill>
          <a:blip r:embed="rId3" cstate="print">
            <a:extLst>
              <a:ext uri="{28A0092B-C50C-407E-A947-70E740481C1C}">
                <a14:useLocalDpi xmlns:a14="http://schemas.microsoft.com/office/drawing/2010/main" val="0"/>
              </a:ext>
            </a:extLst>
          </a:blip>
          <a:srcRect r="28519"/>
          <a:stretch>
            <a:fillRect/>
          </a:stretch>
        </p:blipFill>
        <p:spPr bwMode="auto">
          <a:xfrm>
            <a:off x="4251309" y="1222667"/>
            <a:ext cx="351475" cy="9727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图片 28"/>
          <p:cNvPicPr>
            <a:picLocks noChangeAspect="1"/>
          </p:cNvPicPr>
          <p:nvPr/>
        </p:nvPicPr>
        <p:blipFill>
          <a:blip r:embed="rId3" cstate="print">
            <a:extLst>
              <a:ext uri="{28A0092B-C50C-407E-A947-70E740481C1C}">
                <a14:useLocalDpi xmlns:a14="http://schemas.microsoft.com/office/drawing/2010/main" val="0"/>
              </a:ext>
            </a:extLst>
          </a:blip>
          <a:srcRect r="28519"/>
          <a:stretch>
            <a:fillRect/>
          </a:stretch>
        </p:blipFill>
        <p:spPr bwMode="auto">
          <a:xfrm flipH="1">
            <a:off x="-3105" y="1225004"/>
            <a:ext cx="351475" cy="9727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4" name="Picture 2" descr="https://img2.baidu.com/it/u=1487639774,2989130838&amp;fm=253&amp;fmt=auto&amp;app=120&amp;f=JPEG?w=200&amp;h=20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56235" y="1952925"/>
            <a:ext cx="944523" cy="944523"/>
          </a:xfrm>
          <a:prstGeom prst="rect">
            <a:avLst/>
          </a:prstGeom>
          <a:noFill/>
          <a:extLst>
            <a:ext uri="{909E8E84-426E-40DD-AFC4-6F175D3DCCD1}">
              <a14:hiddenFill xmlns:a14="http://schemas.microsoft.com/office/drawing/2010/main">
                <a:solidFill>
                  <a:srgbClr val="FFFFFF"/>
                </a:solidFill>
              </a14:hiddenFill>
            </a:ext>
          </a:extLst>
        </p:spPr>
      </p:pic>
      <p:sp>
        <p:nvSpPr>
          <p:cNvPr id="15" name="原创设计师QQ598969553      _2">
            <a:extLst>
              <a:ext uri="{FF2B5EF4-FFF2-40B4-BE49-F238E27FC236}">
                <a16:creationId xmlns="" xmlns:a16="http://schemas.microsoft.com/office/drawing/2014/main" id="{7C4725B1-D255-CC63-745B-0C08A542F8E6}"/>
              </a:ext>
            </a:extLst>
          </p:cNvPr>
          <p:cNvSpPr txBox="1"/>
          <p:nvPr/>
        </p:nvSpPr>
        <p:spPr>
          <a:xfrm>
            <a:off x="1684633" y="184405"/>
            <a:ext cx="1240834" cy="312100"/>
          </a:xfrm>
          <a:prstGeom prst="rect">
            <a:avLst/>
          </a:prstGeom>
          <a:noFill/>
        </p:spPr>
        <p:txBody>
          <a:bodyPr wrap="square" lIns="34762" tIns="17381" rIns="34762" bIns="17381" rtlCol="0">
            <a:spAutoFit/>
          </a:bodyPr>
          <a:lstStyle/>
          <a:p>
            <a:pPr algn="ctr"/>
            <a:r>
              <a:rPr lang="zh-CN" altLang="en-US" b="1" dirty="0" smtClean="0">
                <a:latin typeface="微软雅黑" panose="020B0503020204020204" pitchFamily="34" charset="-122"/>
                <a:ea typeface="微软雅黑" panose="020B0503020204020204" pitchFamily="34" charset="-122"/>
              </a:rPr>
              <a:t>本周作业</a:t>
            </a:r>
            <a:endParaRPr lang="zh-CN" altLang="en-US"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816358831"/>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COMMONDATA" val="eyJoZGlkIjoiNWFkMmQ1NDM4MjA0MWViNDMyMDkzM2YwNjg4YTY4NjkifQ=="/>
</p:tagLst>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
        <a:ea typeface=""/>
        <a:cs typeface=""/>
      </a:majorFont>
      <a:minorFont>
        <a:latin typeface=""/>
        <a:ea typeface=""/>
        <a:cs typeface=""/>
      </a:minorFont>
    </a:fontScheme>
    <a:fmtScheme name="Office">
      <a:fillStyleLst>
        <a:solidFill>
          <a:schemeClr val="phClr"/>
        </a:solidFill>
        <a:gradFill rotWithShape="1">
          <a:gsLst>
            <a:gs pos="0">
              <a:schemeClr val="phClr">
                <a:satMod val="110000"/>
                <a:lumMod val="105000"/>
                <a:tint val="67000"/>
              </a:schemeClr>
            </a:gs>
            <a:gs pos="50000">
              <a:schemeClr val="phClr">
                <a:lumMod val="105000"/>
                <a:satMod val="103000"/>
                <a:tint val="73000"/>
              </a:schemeClr>
            </a:gs>
            <a:gs pos="100000">
              <a:schemeClr val="phClr">
                <a:satMod val="105000"/>
                <a:lumMod val="109000"/>
                <a:tint val="81000"/>
              </a:schemeClr>
            </a:gs>
          </a:gsLst>
          <a:lin ang="5400000" scaled="0"/>
        </a:gradFill>
        <a:gradFill rotWithShape="1">
          <a:gsLst>
            <a:gs pos="0">
              <a:schemeClr val="phClr">
                <a:satMod val="103000"/>
                <a:lumMod val="102000"/>
                <a:shade val="94000"/>
              </a:schemeClr>
            </a:gs>
            <a:gs pos="50000">
              <a:schemeClr val="phClr">
                <a:lumMod val="110000"/>
                <a:satMod val="100000"/>
                <a:tint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lgn="l">
          <a:defRPr sz="2400" dirty="0" smtClean="0">
            <a:solidFill>
              <a:schemeClr val="bg1"/>
            </a:solidFill>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1384</TotalTime>
  <Words>3647</Words>
  <Application>Microsoft Office PowerPoint</Application>
  <PresentationFormat>自定义</PresentationFormat>
  <Paragraphs>253</Paragraphs>
  <Slides>28</Slides>
  <Notes>16</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28</vt:i4>
      </vt:variant>
    </vt:vector>
  </HeadingPairs>
  <TitlesOfParts>
    <vt:vector size="44" baseType="lpstr">
      <vt:lpstr>-apple-system</vt:lpstr>
      <vt:lpstr>等线</vt:lpstr>
      <vt:lpstr>黑体</vt:lpstr>
      <vt:lpstr>华文新魏</vt:lpstr>
      <vt:lpstr>宋体</vt:lpstr>
      <vt:lpstr>Microsoft YaHei</vt:lpstr>
      <vt:lpstr>Microsoft YaHei</vt:lpstr>
      <vt:lpstr>字体视界-NWE粗楷体</vt:lpstr>
      <vt:lpstr>Arial</vt:lpstr>
      <vt:lpstr>Calibri</vt:lpstr>
      <vt:lpstr>Constantia</vt:lpstr>
      <vt:lpstr>Times New Roman</vt:lpstr>
      <vt:lpstr>Trebuchet MS</vt:lpstr>
      <vt:lpstr>Verdana</vt:lpstr>
      <vt:lpstr>Wingdings</vt:lpstr>
      <vt:lpstr>1_Office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Statistical Learning</dc:title>
  <dc:creator/>
  <cp:lastModifiedBy>Microsoft 帐户</cp:lastModifiedBy>
  <cp:revision>104</cp:revision>
  <dcterms:created xsi:type="dcterms:W3CDTF">2022-08-22T14:11:00Z</dcterms:created>
  <dcterms:modified xsi:type="dcterms:W3CDTF">2025-11-18T05:12:38Z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2016-03-23T08:00:00Z</vt:filetime>
  </property>
  <property fmtid="{D5CDD505-2E9C-101B-9397-08002B2CF9AE}" pid="3" name="Creator">
    <vt:lpwstr>LaTeX with Beamer class version 3.26</vt:lpwstr>
  </property>
  <property fmtid="{D5CDD505-2E9C-101B-9397-08002B2CF9AE}" pid="4" name="LastSaved">
    <vt:filetime>2022-08-22T08:00:00Z</vt:filetime>
  </property>
  <property fmtid="{D5CDD505-2E9C-101B-9397-08002B2CF9AE}" pid="5" name="ICV">
    <vt:lpwstr>52898BD6CE7C435C89EFB6239A89D1C5</vt:lpwstr>
  </property>
  <property fmtid="{D5CDD505-2E9C-101B-9397-08002B2CF9AE}" pid="6" name="KSOProductBuildVer">
    <vt:lpwstr>2052-11.1.0.12313</vt:lpwstr>
  </property>
</Properties>
</file>